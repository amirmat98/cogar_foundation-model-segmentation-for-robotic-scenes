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Int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regular.fntdata"/><Relationship Id="rId21" Type="http://schemas.openxmlformats.org/officeDocument/2006/relationships/slide" Target="slides/slide16.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e83eaac8a_1_0: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e83eaac8a_1_0: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Start from robotic motivation: a robot needs object masks before it can grasp, avoid, track, inspect, or reason about objects. The project tests segmentation not as a standalone computer vision demo, but as a candidate perception module in robotic cognition.</a:t>
            </a:r>
            <a:endParaRPr/>
          </a:p>
        </p:txBody>
      </p:sp>
      <p:sp>
        <p:nvSpPr>
          <p:cNvPr id="55" name="Google Shape;55;g3ee83eaac8a_1_0: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e83eaac8a_1_61: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ee83eaac8a_1_61: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Use this slide to position the project. Foundation models can generate impressive masks, but the supervisor should see why robotic scenes require a different evaluation: material effects, embodied viewpoints, clutter, motion, and real-time constraints.</a:t>
            </a:r>
            <a:endParaRPr/>
          </a:p>
        </p:txBody>
      </p:sp>
      <p:sp>
        <p:nvSpPr>
          <p:cNvPr id="113" name="Google Shape;113;g3ee83eaac8a_1_61: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e83eaac8a_1_124: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ee83eaac8a_1_124: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Explain segmentation as more than visualization. In a cognitive architecture, masks can feed object representations, attention, grasp planning, tracking, and action choice. That is why quality and speed matter together.</a:t>
            </a:r>
            <a:endParaRPr/>
          </a:p>
        </p:txBody>
      </p:sp>
      <p:sp>
        <p:nvSpPr>
          <p:cNvPr id="178" name="Google Shape;178;g3ee83eaac8a_1_124: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e83eaac8a_1_198: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ee83eaac8a_1_198: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Introduce the failure categories before showing numbers. This prevents the presentation from becoming a model leaderboard and connects the project to embodied robotics.</a:t>
            </a:r>
            <a:endParaRPr/>
          </a:p>
        </p:txBody>
      </p:sp>
      <p:sp>
        <p:nvSpPr>
          <p:cNvPr id="257" name="Google Shape;257;g3ee83eaac8a_1_198: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ee83eaac8a_1_277: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ee83eaac8a_1_277: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Use this slide only to situate the models. Avoid deep architecture details. The point is that models have different assumptions: training data, prompt availability, inference speed, and deployment profile.</a:t>
            </a:r>
            <a:endParaRPr/>
          </a:p>
        </p:txBody>
      </p:sp>
      <p:sp>
        <p:nvSpPr>
          <p:cNvPr id="338" name="Google Shape;338;g3ee83eaac8a_1_277: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ee83eaac8a_1_344: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3ee83eaac8a_1_344: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transition from literature to your contribution. The gap is not that segmentation models are missing. The gap is knowing when these models can be trusted inside a robot perception-action loop.</a:t>
            </a:r>
            <a:endParaRPr/>
          </a:p>
        </p:txBody>
      </p:sp>
      <p:sp>
        <p:nvSpPr>
          <p:cNvPr id="404" name="Google Shape;404;g3ee83eaac8a_1_344: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ee83eaac8a_1_406: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g3ee83eaac8a_1_406: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Frame the project as a scientific evaluation rather than a demo. The benchmark tests specific hypotheses about prompting, quality, speed, lightweight variants, supervised baselines, and challenge categories.</a:t>
            </a:r>
            <a:endParaRPr/>
          </a:p>
        </p:txBody>
      </p:sp>
      <p:sp>
        <p:nvSpPr>
          <p:cNvPr id="473" name="Google Shape;473;g3ee83eaac8a_1_406: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ee83eaac8a_1_475: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g3ee83eaac8a_1_475: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Emphasize why simulation is useful: controlled generation of difficult conditions and dense annotations. OCID is not the main benchmark but an external real-world clutter reference.</a:t>
            </a:r>
            <a:endParaRPr/>
          </a:p>
        </p:txBody>
      </p:sp>
      <p:sp>
        <p:nvSpPr>
          <p:cNvPr id="540" name="Google Shape;540;g3ee83eaac8a_1_475: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ee83eaac8a_1_542: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g3ee83eaac8a_1_542: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Be careful with overclaiming. Point and box prompt results do not prove full autonomy. They measure mask quality when an upstream cue exists. Automatic mask generation is more autonomous but harder in cluttered robotic scenes.</a:t>
            </a:r>
            <a:endParaRPr/>
          </a:p>
        </p:txBody>
      </p:sp>
      <p:sp>
        <p:nvSpPr>
          <p:cNvPr id="643" name="Google Shape;643;g3ee83eaac8a_1_542: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ee83eaac8a_1_616: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g3ee83eaac8a_1_616: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Show one accuracy figure and only the key numbers. Explain that SAM ViT-H box is strongest in the controlled BlenderProc setting, but Isaac G1 is harder. MobileSAM shows a practical trade-off, especially when speed matters.</a:t>
            </a:r>
            <a:endParaRPr/>
          </a:p>
        </p:txBody>
      </p:sp>
      <p:sp>
        <p:nvSpPr>
          <p:cNvPr id="720" name="Google Shape;720;g3ee83eaac8a_1_616: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ee83eaac8a_1_685: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3ee83eaac8a_1_685: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Make the deployment point explicit. Heavy SAM-style models can provide strong masks but may be too slow for real-time loops. Supervised models can be fast, but only when training data matches the task.</a:t>
            </a:r>
            <a:endParaRPr/>
          </a:p>
        </p:txBody>
      </p:sp>
      <p:sp>
        <p:nvSpPr>
          <p:cNvPr id="798" name="Google Shape;798;g3ee83eaac8a_1_685: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ef06ccc973_4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3ef06ccc973_4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ee83eaac8a_1_823: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4" name="Google Shape;954;g3ee83eaac8a_1_823: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is especially important for the supervisor. Use it to connect visual failure modes to robotic consequences: grasping, collision avoidance, object tracking, and task reasoning.</a:t>
            </a:r>
            <a:endParaRPr/>
          </a:p>
        </p:txBody>
      </p:sp>
      <p:sp>
        <p:nvSpPr>
          <p:cNvPr id="955" name="Google Shape;955;g3ee83eaac8a_1_823: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ee83eaac8a_1_894: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9" name="Google Shape;1039;g3ee83eaac8a_1_894: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makes the COGAR link explicit. Explain segmentation as a perception module inside an embodied cognitive architecture, not as an isolated computer vision task.</a:t>
            </a:r>
            <a:endParaRPr/>
          </a:p>
        </p:txBody>
      </p:sp>
      <p:sp>
        <p:nvSpPr>
          <p:cNvPr id="1040" name="Google Shape;1040;g3ee83eaac8a_1_894: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ee83eaac8a_1_968: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g3ee83eaac8a_1_968: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End with a balanced conclusion. Do not say SAM solves robotic perception. Say that foundation segmentation is a useful perception module when prompts, validation, deployment constraints, and failure checks are handled carefully.</a:t>
            </a:r>
            <a:endParaRPr/>
          </a:p>
        </p:txBody>
      </p:sp>
      <p:sp>
        <p:nvSpPr>
          <p:cNvPr id="1123" name="Google Shape;1123;g3ee83eaac8a_1_968: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ef0a1bac5a_0_2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9" name="Google Shape;1159;g3ef0a1bac5a_0_2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f06ccc973_42_0)">
  <p:cSld name="Generated (g3ef06ccc973_42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30.png"/><Relationship Id="rId5"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6.jp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8.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9.jpg"/><Relationship Id="rId7" Type="http://schemas.openxmlformats.org/officeDocument/2006/relationships/image" Target="../media/image14.jpg"/><Relationship Id="rId8"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30.png"/><Relationship Id="rId6"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18.jpg"/><Relationship Id="rId6" Type="http://schemas.openxmlformats.org/officeDocument/2006/relationships/image" Target="../media/image10.png"/><Relationship Id="rId7"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4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36.png"/><Relationship Id="rId6" Type="http://schemas.openxmlformats.org/officeDocument/2006/relationships/image" Target="../media/image40.png"/><Relationship Id="rId7"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58.png"/><Relationship Id="rId7" Type="http://schemas.openxmlformats.org/officeDocument/2006/relationships/image" Target="../media/image88.png"/><Relationship Id="rId8" Type="http://schemas.openxmlformats.org/officeDocument/2006/relationships/image" Target="../media/image8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6.png"/><Relationship Id="rId9"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1.png"/><Relationship Id="rId7" Type="http://schemas.openxmlformats.org/officeDocument/2006/relationships/image" Target="../media/image93.png"/><Relationship Id="rId8" Type="http://schemas.openxmlformats.org/officeDocument/2006/relationships/image" Target="../media/image9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92.jpg"/><Relationship Id="rId5" Type="http://schemas.openxmlformats.org/officeDocument/2006/relationships/image" Target="../media/image99.jpg"/><Relationship Id="rId6" Type="http://schemas.openxmlformats.org/officeDocument/2006/relationships/image" Target="../media/image95.jpg"/><Relationship Id="rId7" Type="http://schemas.openxmlformats.org/officeDocument/2006/relationships/image" Target="../media/image9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86.png"/><Relationship Id="rId5"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56" name="Shape 56"/>
        <p:cNvGrpSpPr/>
        <p:nvPr/>
      </p:nvGrpSpPr>
      <p:grpSpPr>
        <a:xfrm>
          <a:off x="0" y="0"/>
          <a:ext cx="0" cy="0"/>
          <a:chOff x="0" y="0"/>
          <a:chExt cx="0" cy="0"/>
        </a:xfrm>
      </p:grpSpPr>
      <p:cxnSp>
        <p:nvCxnSpPr>
          <p:cNvPr id="57" name="Google Shape;57;p15"/>
          <p:cNvCxnSpPr/>
          <p:nvPr/>
        </p:nvCxnSpPr>
        <p:spPr>
          <a:xfrm>
            <a:off x="0"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58" name="Google Shape;58;p15"/>
          <p:cNvCxnSpPr/>
          <p:nvPr/>
        </p:nvCxnSpPr>
        <p:spPr>
          <a:xfrm>
            <a:off x="342909"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59" name="Google Shape;59;p15"/>
          <p:cNvCxnSpPr/>
          <p:nvPr/>
        </p:nvCxnSpPr>
        <p:spPr>
          <a:xfrm>
            <a:off x="685818"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0" name="Google Shape;60;p15"/>
          <p:cNvCxnSpPr/>
          <p:nvPr/>
        </p:nvCxnSpPr>
        <p:spPr>
          <a:xfrm>
            <a:off x="1028727"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1" name="Google Shape;61;p15"/>
          <p:cNvCxnSpPr/>
          <p:nvPr/>
        </p:nvCxnSpPr>
        <p:spPr>
          <a:xfrm>
            <a:off x="1371637"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2" name="Google Shape;62;p15"/>
          <p:cNvCxnSpPr/>
          <p:nvPr/>
        </p:nvCxnSpPr>
        <p:spPr>
          <a:xfrm>
            <a:off x="1714546"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3" name="Google Shape;63;p15"/>
          <p:cNvCxnSpPr/>
          <p:nvPr/>
        </p:nvCxnSpPr>
        <p:spPr>
          <a:xfrm>
            <a:off x="2057455"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4" name="Google Shape;64;p15"/>
          <p:cNvCxnSpPr/>
          <p:nvPr/>
        </p:nvCxnSpPr>
        <p:spPr>
          <a:xfrm>
            <a:off x="2400364"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5" name="Google Shape;65;p15"/>
          <p:cNvCxnSpPr/>
          <p:nvPr/>
        </p:nvCxnSpPr>
        <p:spPr>
          <a:xfrm>
            <a:off x="2743273"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6" name="Google Shape;66;p15"/>
          <p:cNvCxnSpPr/>
          <p:nvPr/>
        </p:nvCxnSpPr>
        <p:spPr>
          <a:xfrm>
            <a:off x="3086182"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7" name="Google Shape;67;p15"/>
          <p:cNvCxnSpPr/>
          <p:nvPr/>
        </p:nvCxnSpPr>
        <p:spPr>
          <a:xfrm>
            <a:off x="3429091"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8" name="Google Shape;68;p15"/>
          <p:cNvCxnSpPr/>
          <p:nvPr/>
        </p:nvCxnSpPr>
        <p:spPr>
          <a:xfrm>
            <a:off x="3772001"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69" name="Google Shape;69;p15"/>
          <p:cNvCxnSpPr/>
          <p:nvPr/>
        </p:nvCxnSpPr>
        <p:spPr>
          <a:xfrm>
            <a:off x="4114910"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0" name="Google Shape;70;p15"/>
          <p:cNvCxnSpPr/>
          <p:nvPr/>
        </p:nvCxnSpPr>
        <p:spPr>
          <a:xfrm>
            <a:off x="4457819"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1" name="Google Shape;71;p15"/>
          <p:cNvCxnSpPr/>
          <p:nvPr/>
        </p:nvCxnSpPr>
        <p:spPr>
          <a:xfrm>
            <a:off x="4800728"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2" name="Google Shape;72;p15"/>
          <p:cNvCxnSpPr/>
          <p:nvPr/>
        </p:nvCxnSpPr>
        <p:spPr>
          <a:xfrm>
            <a:off x="5143637"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3" name="Google Shape;73;p15"/>
          <p:cNvCxnSpPr/>
          <p:nvPr/>
        </p:nvCxnSpPr>
        <p:spPr>
          <a:xfrm>
            <a:off x="5486546"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4" name="Google Shape;74;p15"/>
          <p:cNvCxnSpPr/>
          <p:nvPr/>
        </p:nvCxnSpPr>
        <p:spPr>
          <a:xfrm>
            <a:off x="5829455"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5" name="Google Shape;75;p15"/>
          <p:cNvCxnSpPr/>
          <p:nvPr/>
        </p:nvCxnSpPr>
        <p:spPr>
          <a:xfrm>
            <a:off x="6172365"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6" name="Google Shape;76;p15"/>
          <p:cNvCxnSpPr/>
          <p:nvPr/>
        </p:nvCxnSpPr>
        <p:spPr>
          <a:xfrm>
            <a:off x="6515274"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7" name="Google Shape;77;p15"/>
          <p:cNvCxnSpPr/>
          <p:nvPr/>
        </p:nvCxnSpPr>
        <p:spPr>
          <a:xfrm>
            <a:off x="6858183"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8" name="Google Shape;78;p15"/>
          <p:cNvCxnSpPr/>
          <p:nvPr/>
        </p:nvCxnSpPr>
        <p:spPr>
          <a:xfrm>
            <a:off x="7201092"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79" name="Google Shape;79;p15"/>
          <p:cNvCxnSpPr/>
          <p:nvPr/>
        </p:nvCxnSpPr>
        <p:spPr>
          <a:xfrm>
            <a:off x="7544001"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0" name="Google Shape;80;p15"/>
          <p:cNvCxnSpPr/>
          <p:nvPr/>
        </p:nvCxnSpPr>
        <p:spPr>
          <a:xfrm>
            <a:off x="7886910"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1" name="Google Shape;81;p15"/>
          <p:cNvCxnSpPr/>
          <p:nvPr/>
        </p:nvCxnSpPr>
        <p:spPr>
          <a:xfrm>
            <a:off x="8229819"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2" name="Google Shape;82;p15"/>
          <p:cNvCxnSpPr/>
          <p:nvPr/>
        </p:nvCxnSpPr>
        <p:spPr>
          <a:xfrm>
            <a:off x="8572729"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3" name="Google Shape;83;p15"/>
          <p:cNvCxnSpPr/>
          <p:nvPr/>
        </p:nvCxnSpPr>
        <p:spPr>
          <a:xfrm>
            <a:off x="8915638" y="0"/>
            <a:ext cx="0" cy="514350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4" name="Google Shape;84;p15"/>
          <p:cNvCxnSpPr/>
          <p:nvPr/>
        </p:nvCxnSpPr>
        <p:spPr>
          <a:xfrm>
            <a:off x="0" y="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5" name="Google Shape;85;p15"/>
          <p:cNvCxnSpPr/>
          <p:nvPr/>
        </p:nvCxnSpPr>
        <p:spPr>
          <a:xfrm>
            <a:off x="0" y="3429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6" name="Google Shape;86;p15"/>
          <p:cNvCxnSpPr/>
          <p:nvPr/>
        </p:nvCxnSpPr>
        <p:spPr>
          <a:xfrm>
            <a:off x="0" y="6858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7" name="Google Shape;87;p15"/>
          <p:cNvCxnSpPr/>
          <p:nvPr/>
        </p:nvCxnSpPr>
        <p:spPr>
          <a:xfrm>
            <a:off x="0" y="10287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8" name="Google Shape;88;p15"/>
          <p:cNvCxnSpPr/>
          <p:nvPr/>
        </p:nvCxnSpPr>
        <p:spPr>
          <a:xfrm>
            <a:off x="0" y="13716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89" name="Google Shape;89;p15"/>
          <p:cNvCxnSpPr/>
          <p:nvPr/>
        </p:nvCxnSpPr>
        <p:spPr>
          <a:xfrm>
            <a:off x="0" y="17145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0" name="Google Shape;90;p15"/>
          <p:cNvCxnSpPr/>
          <p:nvPr/>
        </p:nvCxnSpPr>
        <p:spPr>
          <a:xfrm>
            <a:off x="0" y="20574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1" name="Google Shape;91;p15"/>
          <p:cNvCxnSpPr/>
          <p:nvPr/>
        </p:nvCxnSpPr>
        <p:spPr>
          <a:xfrm>
            <a:off x="0" y="24003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2" name="Google Shape;92;p15"/>
          <p:cNvCxnSpPr/>
          <p:nvPr/>
        </p:nvCxnSpPr>
        <p:spPr>
          <a:xfrm>
            <a:off x="0" y="27432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3" name="Google Shape;93;p15"/>
          <p:cNvCxnSpPr/>
          <p:nvPr/>
        </p:nvCxnSpPr>
        <p:spPr>
          <a:xfrm>
            <a:off x="0" y="30861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4" name="Google Shape;94;p15"/>
          <p:cNvCxnSpPr/>
          <p:nvPr/>
        </p:nvCxnSpPr>
        <p:spPr>
          <a:xfrm>
            <a:off x="0" y="34290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5" name="Google Shape;95;p15"/>
          <p:cNvCxnSpPr/>
          <p:nvPr/>
        </p:nvCxnSpPr>
        <p:spPr>
          <a:xfrm>
            <a:off x="0" y="37719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6" name="Google Shape;96;p15"/>
          <p:cNvCxnSpPr/>
          <p:nvPr/>
        </p:nvCxnSpPr>
        <p:spPr>
          <a:xfrm>
            <a:off x="0" y="41148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7" name="Google Shape;97;p15"/>
          <p:cNvCxnSpPr/>
          <p:nvPr/>
        </p:nvCxnSpPr>
        <p:spPr>
          <a:xfrm>
            <a:off x="0" y="44577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8" name="Google Shape;98;p15"/>
          <p:cNvCxnSpPr/>
          <p:nvPr/>
        </p:nvCxnSpPr>
        <p:spPr>
          <a:xfrm>
            <a:off x="0" y="4800600"/>
            <a:ext cx="9144000" cy="0"/>
          </a:xfrm>
          <a:prstGeom prst="straightConnector1">
            <a:avLst/>
          </a:prstGeom>
          <a:noFill/>
          <a:ln cap="flat" cmpd="sng" w="9525">
            <a:solidFill>
              <a:srgbClr val="334155">
                <a:alpha val="14900"/>
              </a:srgbClr>
            </a:solidFill>
            <a:prstDash val="solid"/>
            <a:round/>
            <a:headEnd len="sm" w="sm" type="none"/>
            <a:tailEnd len="sm" w="sm" type="none"/>
          </a:ln>
        </p:spPr>
      </p:cxnSp>
      <p:cxnSp>
        <p:nvCxnSpPr>
          <p:cNvPr id="99" name="Google Shape;99;p15"/>
          <p:cNvCxnSpPr/>
          <p:nvPr/>
        </p:nvCxnSpPr>
        <p:spPr>
          <a:xfrm>
            <a:off x="0" y="5143500"/>
            <a:ext cx="9144000" cy="0"/>
          </a:xfrm>
          <a:prstGeom prst="straightConnector1">
            <a:avLst/>
          </a:prstGeom>
          <a:noFill/>
          <a:ln cap="flat" cmpd="sng" w="9525">
            <a:solidFill>
              <a:srgbClr val="334155">
                <a:alpha val="14900"/>
              </a:srgbClr>
            </a:solidFill>
            <a:prstDash val="solid"/>
            <a:round/>
            <a:headEnd len="sm" w="sm" type="none"/>
            <a:tailEnd len="sm" w="sm" type="none"/>
          </a:ln>
        </p:spPr>
      </p:cxnSp>
      <p:sp>
        <p:nvSpPr>
          <p:cNvPr id="100" name="Google Shape;100;p15"/>
          <p:cNvSpPr/>
          <p:nvPr/>
        </p:nvSpPr>
        <p:spPr>
          <a:xfrm>
            <a:off x="150880" y="150876"/>
            <a:ext cx="8842200" cy="4841700"/>
          </a:xfrm>
          <a:prstGeom prst="rect">
            <a:avLst/>
          </a:prstGeom>
          <a:solidFill>
            <a:srgbClr val="0B1220">
              <a:alpha val="0"/>
            </a:srgbClr>
          </a:solidFill>
          <a:ln cap="flat" cmpd="sng" w="9525">
            <a:solidFill>
              <a:srgbClr val="334155">
                <a:alpha val="4510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mnt/data/web_isaac_official_dark.jpg" id="101" name="Google Shape;101;p15"/>
          <p:cNvPicPr preferRelativeResize="0"/>
          <p:nvPr/>
        </p:nvPicPr>
        <p:blipFill rotWithShape="1">
          <a:blip r:embed="rId3">
            <a:alphaModFix/>
          </a:blip>
          <a:srcRect b="0" l="20117" r="20117" t="0"/>
          <a:stretch/>
        </p:blipFill>
        <p:spPr>
          <a:xfrm>
            <a:off x="260611" y="260604"/>
            <a:ext cx="4937891" cy="4389120"/>
          </a:xfrm>
          <a:prstGeom prst="rect">
            <a:avLst/>
          </a:prstGeom>
          <a:noFill/>
          <a:ln>
            <a:noFill/>
          </a:ln>
        </p:spPr>
      </p:pic>
      <p:pic>
        <p:nvPicPr>
          <p:cNvPr descr="/mnt/data/unitree_g1_robot.png" id="102" name="Google Shape;102;p15"/>
          <p:cNvPicPr preferRelativeResize="0"/>
          <p:nvPr/>
        </p:nvPicPr>
        <p:blipFill rotWithShape="1">
          <a:blip r:embed="rId4">
            <a:alphaModFix/>
          </a:blip>
          <a:srcRect b="0" l="0" r="0" t="0"/>
          <a:stretch/>
        </p:blipFill>
        <p:spPr>
          <a:xfrm>
            <a:off x="6100822" y="480060"/>
            <a:ext cx="1583263" cy="3840481"/>
          </a:xfrm>
          <a:prstGeom prst="rect">
            <a:avLst/>
          </a:prstGeom>
          <a:noFill/>
          <a:ln>
            <a:noFill/>
          </a:ln>
        </p:spPr>
      </p:pic>
      <p:sp>
        <p:nvSpPr>
          <p:cNvPr id="103" name="Google Shape;103;p15"/>
          <p:cNvSpPr/>
          <p:nvPr/>
        </p:nvSpPr>
        <p:spPr>
          <a:xfrm>
            <a:off x="534938" y="534924"/>
            <a:ext cx="3977700" cy="16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Inter"/>
              <a:buNone/>
            </a:pPr>
            <a:r>
              <a:rPr b="1" i="0" lang="en" sz="2900" u="none" cap="none" strike="noStrike">
                <a:solidFill>
                  <a:srgbClr val="FFFFFF"/>
                </a:solidFill>
                <a:latin typeface="Inter"/>
                <a:ea typeface="Inter"/>
                <a:cs typeface="Inter"/>
                <a:sym typeface="Inter"/>
              </a:rPr>
              <a:t>ZERO-SHOT</a:t>
            </a:r>
            <a:endParaRPr b="0" i="0" sz="29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FFFFFF"/>
              </a:buClr>
              <a:buSzPts val="2900"/>
              <a:buFont typeface="Inter"/>
              <a:buNone/>
            </a:pPr>
            <a:r>
              <a:rPr b="1" i="0" lang="en" sz="2900" u="none" cap="none" strike="noStrike">
                <a:solidFill>
                  <a:srgbClr val="FFFFFF"/>
                </a:solidFill>
                <a:latin typeface="Inter"/>
                <a:ea typeface="Inter"/>
                <a:cs typeface="Inter"/>
                <a:sym typeface="Inter"/>
              </a:rPr>
              <a:t>SEGMENTATION</a:t>
            </a:r>
            <a:endParaRPr b="0" i="0" sz="29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FFFFFF"/>
              </a:buClr>
              <a:buSzPts val="2900"/>
              <a:buFont typeface="Inter"/>
              <a:buNone/>
            </a:pPr>
            <a:r>
              <a:rPr b="1" i="0" lang="en" sz="2900" u="none" cap="none" strike="noStrike">
                <a:solidFill>
                  <a:srgbClr val="FFFFFF"/>
                </a:solidFill>
                <a:latin typeface="Inter"/>
                <a:ea typeface="Inter"/>
                <a:cs typeface="Inter"/>
                <a:sym typeface="Inter"/>
              </a:rPr>
              <a:t>FOR ROBOTIC</a:t>
            </a:r>
            <a:endParaRPr b="0" i="0" sz="29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FFFFFF"/>
              </a:buClr>
              <a:buSzPts val="2900"/>
              <a:buFont typeface="Inter"/>
              <a:buNone/>
            </a:pPr>
            <a:r>
              <a:rPr b="1" i="0" lang="en" sz="2900" u="none" cap="none" strike="noStrike">
                <a:solidFill>
                  <a:srgbClr val="FFFFFF"/>
                </a:solidFill>
                <a:latin typeface="Inter"/>
                <a:ea typeface="Inter"/>
                <a:cs typeface="Inter"/>
                <a:sym typeface="Inter"/>
              </a:rPr>
              <a:t>PERCEPTION</a:t>
            </a:r>
            <a:endParaRPr b="0" i="0" sz="2900" u="none" cap="none" strike="noStrike">
              <a:solidFill>
                <a:schemeClr val="dk1"/>
              </a:solidFill>
              <a:latin typeface="Inter"/>
              <a:ea typeface="Inter"/>
              <a:cs typeface="Inter"/>
              <a:sym typeface="Inter"/>
            </a:endParaRPr>
          </a:p>
        </p:txBody>
      </p:sp>
      <p:sp>
        <p:nvSpPr>
          <p:cNvPr id="104" name="Google Shape;104;p15"/>
          <p:cNvSpPr/>
          <p:nvPr/>
        </p:nvSpPr>
        <p:spPr>
          <a:xfrm>
            <a:off x="562371" y="2318004"/>
            <a:ext cx="39777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Inter"/>
              <a:buNone/>
            </a:pPr>
            <a:r>
              <a:rPr b="1" i="0" lang="en" sz="1100" u="none" cap="none" strike="noStrike">
                <a:solidFill>
                  <a:srgbClr val="FFFFFF"/>
                </a:solidFill>
                <a:latin typeface="Inter"/>
                <a:ea typeface="Inter"/>
                <a:cs typeface="Inter"/>
                <a:sym typeface="Inter"/>
              </a:rPr>
              <a:t>Foundation Model Segmentation for Robotic Scenes</a:t>
            </a:r>
            <a:endParaRPr b="0" i="0" sz="1100" u="none" cap="none" strike="noStrike">
              <a:solidFill>
                <a:schemeClr val="dk1"/>
              </a:solidFill>
              <a:latin typeface="Inter"/>
              <a:ea typeface="Inter"/>
              <a:cs typeface="Inter"/>
              <a:sym typeface="Inter"/>
            </a:endParaRPr>
          </a:p>
        </p:txBody>
      </p:sp>
      <p:sp>
        <p:nvSpPr>
          <p:cNvPr id="105" name="Google Shape;105;p15"/>
          <p:cNvSpPr/>
          <p:nvPr/>
        </p:nvSpPr>
        <p:spPr>
          <a:xfrm>
            <a:off x="562371" y="2619756"/>
            <a:ext cx="3977700" cy="28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EF5"/>
              </a:buClr>
              <a:buSzPts val="700"/>
              <a:buFont typeface="Inter"/>
              <a:buNone/>
            </a:pPr>
            <a:r>
              <a:rPr lang="en" sz="700">
                <a:solidFill>
                  <a:srgbClr val="E6EEF5"/>
                </a:solidFill>
                <a:latin typeface="Inter"/>
                <a:ea typeface="Inter"/>
                <a:cs typeface="Inter"/>
                <a:sym typeface="Inter"/>
              </a:rPr>
              <a:t>Subgroup I2</a:t>
            </a:r>
            <a:r>
              <a:rPr b="0" i="0" lang="en" sz="700" u="none" cap="none" strike="noStrike">
                <a:solidFill>
                  <a:srgbClr val="E6EEF5"/>
                </a:solidFill>
                <a:latin typeface="Inter"/>
                <a:ea typeface="Inter"/>
                <a:cs typeface="Inter"/>
                <a:sym typeface="Inter"/>
              </a:rPr>
              <a:t>: Zero-Shot Segmentation Benchmark for Robotic Perception (Simulation</a:t>
            </a:r>
            <a:r>
              <a:rPr b="0" i="0" lang="en" sz="700" u="none" cap="none" strike="noStrike">
                <a:solidFill>
                  <a:srgbClr val="E6EEF5"/>
                </a:solidFill>
                <a:latin typeface="Inter"/>
                <a:ea typeface="Inter"/>
                <a:cs typeface="Inter"/>
                <a:sym typeface="Inter"/>
              </a:rPr>
              <a:t>)</a:t>
            </a:r>
            <a:endParaRPr sz="700">
              <a:solidFill>
                <a:srgbClr val="E6EEF5"/>
              </a:solidFill>
              <a:latin typeface="Inter"/>
              <a:ea typeface="Inter"/>
              <a:cs typeface="Inter"/>
              <a:sym typeface="Inter"/>
            </a:endParaRPr>
          </a:p>
          <a:p>
            <a:pPr indent="0" lvl="0" marL="0" marR="0" rtl="0" algn="l">
              <a:spcBef>
                <a:spcPts val="0"/>
              </a:spcBef>
              <a:spcAft>
                <a:spcPts val="0"/>
              </a:spcAft>
              <a:buClr>
                <a:srgbClr val="E6EEF5"/>
              </a:buClr>
              <a:buSzPts val="700"/>
              <a:buFont typeface="Inter"/>
              <a:buNone/>
            </a:pPr>
            <a:r>
              <a:rPr b="0" i="0" lang="en" sz="700" u="none" cap="none" strike="noStrike">
                <a:solidFill>
                  <a:srgbClr val="E6EEF5"/>
                </a:solidFill>
                <a:latin typeface="Inter"/>
                <a:ea typeface="Inter"/>
                <a:cs typeface="Inter"/>
                <a:sym typeface="Inter"/>
              </a:rPr>
              <a:t>Student</a:t>
            </a:r>
            <a:r>
              <a:rPr lang="en" sz="700">
                <a:solidFill>
                  <a:srgbClr val="E6EEF5"/>
                </a:solidFill>
                <a:latin typeface="Inter"/>
                <a:ea typeface="Inter"/>
                <a:cs typeface="Inter"/>
                <a:sym typeface="Inter"/>
              </a:rPr>
              <a:t>: AmirMahdi Matin - </a:t>
            </a:r>
            <a:r>
              <a:rPr b="0" i="0" lang="en" sz="700" u="none" cap="none" strike="noStrike">
                <a:solidFill>
                  <a:srgbClr val="E6EEF5"/>
                </a:solidFill>
                <a:latin typeface="Inter"/>
                <a:ea typeface="Inter"/>
                <a:cs typeface="Inter"/>
                <a:sym typeface="Inter"/>
              </a:rPr>
              <a:t>5884715</a:t>
            </a:r>
            <a:endParaRPr b="0" i="0" sz="700" u="none" cap="none" strike="noStrike">
              <a:solidFill>
                <a:schemeClr val="dk1"/>
              </a:solidFill>
              <a:latin typeface="Inter"/>
              <a:ea typeface="Inter"/>
              <a:cs typeface="Inter"/>
              <a:sym typeface="Inter"/>
            </a:endParaRPr>
          </a:p>
        </p:txBody>
      </p:sp>
      <p:sp>
        <p:nvSpPr>
          <p:cNvPr id="106" name="Google Shape;106;p15"/>
          <p:cNvSpPr/>
          <p:nvPr/>
        </p:nvSpPr>
        <p:spPr>
          <a:xfrm>
            <a:off x="582946" y="3566160"/>
            <a:ext cx="4046400" cy="630900"/>
          </a:xfrm>
          <a:prstGeom prst="roundRect">
            <a:avLst>
              <a:gd fmla="val 6522" name="adj"/>
            </a:avLst>
          </a:prstGeom>
          <a:solidFill>
            <a:srgbClr val="111827"/>
          </a:solidFill>
          <a:ln cap="flat" cmpd="sng" w="10150">
            <a:solidFill>
              <a:srgbClr val="55B6FF">
                <a:alpha val="87840"/>
              </a:srgbClr>
            </a:solidFill>
            <a:prstDash val="solid"/>
            <a:round/>
            <a:headEnd len="sm" w="sm" type="none"/>
            <a:tailEnd len="sm" w="sm" type="none"/>
          </a:ln>
          <a:effectLst>
            <a:outerShdw blurRad="25400" rotWithShape="0" algn="bl" dir="2700000" dist="12700">
              <a:srgbClr val="000000">
                <a:alpha val="129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5"/>
          <p:cNvSpPr/>
          <p:nvPr/>
        </p:nvSpPr>
        <p:spPr>
          <a:xfrm>
            <a:off x="754400" y="3717036"/>
            <a:ext cx="3703500" cy="288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6FB"/>
              </a:buClr>
              <a:buSzPts val="800"/>
              <a:buFont typeface="Inter"/>
              <a:buNone/>
            </a:pPr>
            <a:r>
              <a:rPr b="1" i="0" lang="en" sz="800" u="none" cap="none" strike="noStrike">
                <a:solidFill>
                  <a:srgbClr val="F3F6FB"/>
                </a:solidFill>
                <a:latin typeface="Inter"/>
                <a:ea typeface="Inter"/>
                <a:cs typeface="Inter"/>
                <a:sym typeface="Inter"/>
              </a:rPr>
              <a:t>Can promptable foundation models provide reliable zero-shot object masks for robotic perception in challenging simulated scenes?</a:t>
            </a:r>
            <a:endParaRPr b="0" i="0" sz="800" u="none" cap="none" strike="noStrike">
              <a:solidFill>
                <a:schemeClr val="dk1"/>
              </a:solidFill>
              <a:latin typeface="Inter"/>
              <a:ea typeface="Inter"/>
              <a:cs typeface="Inter"/>
              <a:sym typeface="Inter"/>
            </a:endParaRPr>
          </a:p>
        </p:txBody>
      </p:sp>
      <p:cxnSp>
        <p:nvCxnSpPr>
          <p:cNvPr id="108" name="Google Shape;108;p15"/>
          <p:cNvCxnSpPr/>
          <p:nvPr/>
        </p:nvCxnSpPr>
        <p:spPr>
          <a:xfrm>
            <a:off x="5452255" y="425196"/>
            <a:ext cx="0" cy="4183500"/>
          </a:xfrm>
          <a:prstGeom prst="straightConnector1">
            <a:avLst/>
          </a:prstGeom>
          <a:noFill/>
          <a:ln cap="flat" cmpd="sng" w="27925">
            <a:solidFill>
              <a:srgbClr val="FF9B5E"/>
            </a:solidFill>
            <a:prstDash val="solid"/>
            <a:round/>
            <a:headEnd len="sm" w="sm" type="none"/>
            <a:tailEnd len="sm" w="sm" type="none"/>
          </a:ln>
        </p:spPr>
      </p:cxnSp>
      <p:sp>
        <p:nvSpPr>
          <p:cNvPr id="109" name="Google Shape;109;p15"/>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Visual sources: NVIDIA Isaac Sim; Unitree G1</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cxnSp>
        <p:nvCxnSpPr>
          <p:cNvPr id="115" name="Google Shape;115;p16"/>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16" name="Google Shape;116;p16"/>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17" name="Google Shape;117;p16"/>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18" name="Google Shape;118;p16"/>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19" name="Google Shape;119;p16"/>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0" name="Google Shape;120;p16"/>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1" name="Google Shape;121;p16"/>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2" name="Google Shape;122;p16"/>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3" name="Google Shape;123;p16"/>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4" name="Google Shape;124;p16"/>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5" name="Google Shape;125;p16"/>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6" name="Google Shape;126;p16"/>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7" name="Google Shape;127;p16"/>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8" name="Google Shape;128;p16"/>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29" name="Google Shape;129;p16"/>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0" name="Google Shape;130;p16"/>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1" name="Google Shape;131;p16"/>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2" name="Google Shape;132;p16"/>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3" name="Google Shape;133;p16"/>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4" name="Google Shape;134;p16"/>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5" name="Google Shape;135;p16"/>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6" name="Google Shape;136;p16"/>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7" name="Google Shape;137;p16"/>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8" name="Google Shape;138;p16"/>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39" name="Google Shape;139;p16"/>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0" name="Google Shape;140;p16"/>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1" name="Google Shape;141;p16"/>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2" name="Google Shape;142;p16"/>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3" name="Google Shape;143;p16"/>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4" name="Google Shape;144;p16"/>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5" name="Google Shape;145;p16"/>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6" name="Google Shape;146;p16"/>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7" name="Google Shape;147;p16"/>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8" name="Google Shape;148;p16"/>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49" name="Google Shape;149;p16"/>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0" name="Google Shape;150;p16"/>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1" name="Google Shape;151;p16"/>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2" name="Google Shape;152;p16"/>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3" name="Google Shape;153;p16"/>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4" name="Google Shape;154;p16"/>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5" name="Google Shape;155;p16"/>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6" name="Google Shape;156;p16"/>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57" name="Google Shape;157;p16"/>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158" name="Google Shape;158;p16"/>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 name="Google Shape;159;p16"/>
          <p:cNvSpPr/>
          <p:nvPr/>
        </p:nvSpPr>
        <p:spPr>
          <a:xfrm>
            <a:off x="381000" y="285750"/>
            <a:ext cx="8382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220">
                <a:solidFill>
                  <a:srgbClr val="F3F6FB"/>
                </a:solidFill>
                <a:latin typeface="Inter"/>
                <a:ea typeface="Inter"/>
                <a:cs typeface="Inter"/>
                <a:sym typeface="Inter"/>
              </a:rPr>
              <a:t>The Foundation Model Promise vs. the Robotic Reality Gap</a:t>
            </a:r>
            <a:endParaRPr b="1" sz="2220">
              <a:solidFill>
                <a:srgbClr val="F3F6FB"/>
              </a:solidFill>
              <a:latin typeface="Inter"/>
              <a:ea typeface="Inter"/>
              <a:cs typeface="Inter"/>
              <a:sym typeface="Inter"/>
            </a:endParaRPr>
          </a:p>
        </p:txBody>
      </p:sp>
      <p:sp>
        <p:nvSpPr>
          <p:cNvPr id="160" name="Google Shape;160;p16"/>
          <p:cNvSpPr txBox="1"/>
          <p:nvPr/>
        </p:nvSpPr>
        <p:spPr>
          <a:xfrm>
            <a:off x="381000" y="714375"/>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94A3B8"/>
                </a:solidFill>
                <a:latin typeface="Inter"/>
                <a:ea typeface="Inter"/>
                <a:cs typeface="Inter"/>
                <a:sym typeface="Inter"/>
              </a:rPr>
              <a:t>Promptable segmentation works impressively in general images, but robotic scenes add embodiment, clutter, materials, and latency constraints.</a:t>
            </a:r>
            <a:endParaRPr b="0" sz="1200">
              <a:solidFill>
                <a:srgbClr val="94A3B8"/>
              </a:solidFill>
              <a:latin typeface="Inter"/>
              <a:ea typeface="Inter"/>
              <a:cs typeface="Inter"/>
              <a:sym typeface="Inter"/>
            </a:endParaRPr>
          </a:p>
        </p:txBody>
      </p:sp>
      <p:sp>
        <p:nvSpPr>
          <p:cNvPr id="161" name="Google Shape;161;p16"/>
          <p:cNvSpPr/>
          <p:nvPr/>
        </p:nvSpPr>
        <p:spPr>
          <a:xfrm>
            <a:off x="381000" y="1238250"/>
            <a:ext cx="4095900" cy="2762400"/>
          </a:xfrm>
          <a:prstGeom prst="roundRect">
            <a:avLst>
              <a:gd fmla="val 2758" name="adj"/>
            </a:avLst>
          </a:prstGeom>
          <a:solidFill>
            <a:srgbClr val="111827"/>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2" name="Google Shape;162;p16"/>
          <p:cNvPicPr preferRelativeResize="0"/>
          <p:nvPr/>
        </p:nvPicPr>
        <p:blipFill rotWithShape="1">
          <a:blip r:embed="rId4">
            <a:alphaModFix/>
          </a:blip>
          <a:srcRect b="0" l="0" r="0" t="1681"/>
          <a:stretch/>
        </p:blipFill>
        <p:spPr>
          <a:xfrm>
            <a:off x="913500" y="1547825"/>
            <a:ext cx="3030900" cy="1613700"/>
          </a:xfrm>
          <a:prstGeom prst="roundRect">
            <a:avLst>
              <a:gd fmla="val 3333" name="adj"/>
            </a:avLst>
          </a:prstGeom>
          <a:noFill/>
          <a:ln>
            <a:noFill/>
          </a:ln>
        </p:spPr>
      </p:pic>
      <p:sp>
        <p:nvSpPr>
          <p:cNvPr id="163" name="Google Shape;163;p16"/>
          <p:cNvSpPr txBox="1"/>
          <p:nvPr/>
        </p:nvSpPr>
        <p:spPr>
          <a:xfrm>
            <a:off x="571500" y="3274938"/>
            <a:ext cx="3714900" cy="630600"/>
          </a:xfrm>
          <a:prstGeom prst="rect">
            <a:avLst/>
          </a:prstGeom>
          <a:noFill/>
          <a:ln>
            <a:noFill/>
          </a:ln>
        </p:spPr>
        <p:txBody>
          <a:bodyPr anchorCtr="0" anchor="t" bIns="0" lIns="0" spcFirstLastPara="1" rIns="0" wrap="square" tIns="0">
            <a:noAutofit/>
          </a:bodyPr>
          <a:lstStyle/>
          <a:p>
            <a:pPr indent="-298450" lvl="0" marL="457200" rtl="0" algn="l">
              <a:spcBef>
                <a:spcPts val="0"/>
              </a:spcBef>
              <a:spcAft>
                <a:spcPts val="0"/>
              </a:spcAft>
              <a:buClr>
                <a:srgbClr val="F3F6FB"/>
              </a:buClr>
              <a:buSzPts val="1100"/>
              <a:buFont typeface="Inter"/>
              <a:buChar char="●"/>
            </a:pPr>
            <a:r>
              <a:rPr lang="en" sz="1100">
                <a:solidFill>
                  <a:srgbClr val="F3F6FB"/>
                </a:solidFill>
                <a:latin typeface="Inter"/>
                <a:ea typeface="Inter"/>
                <a:cs typeface="Inter"/>
                <a:sym typeface="Inter"/>
              </a:rPr>
              <a:t>Point / box / mask prompts</a:t>
            </a:r>
            <a:endParaRPr sz="1100">
              <a:solidFill>
                <a:srgbClr val="F3F6FB"/>
              </a:solidFill>
              <a:latin typeface="Inter"/>
              <a:ea typeface="Inter"/>
              <a:cs typeface="Inter"/>
              <a:sym typeface="Inter"/>
            </a:endParaRPr>
          </a:p>
          <a:p>
            <a:pPr indent="-298450" lvl="0" marL="457200" rtl="0" algn="l">
              <a:spcBef>
                <a:spcPts val="450"/>
              </a:spcBef>
              <a:spcAft>
                <a:spcPts val="0"/>
              </a:spcAft>
              <a:buClr>
                <a:srgbClr val="F3F6FB"/>
              </a:buClr>
              <a:buSzPts val="1100"/>
              <a:buFont typeface="Inter"/>
              <a:buChar char="●"/>
            </a:pPr>
            <a:r>
              <a:rPr lang="en" sz="1100">
                <a:solidFill>
                  <a:srgbClr val="F3F6FB"/>
                </a:solidFill>
                <a:latin typeface="Inter"/>
                <a:ea typeface="Inter"/>
                <a:cs typeface="Inter"/>
                <a:sym typeface="Inter"/>
              </a:rPr>
              <a:t>Broad zero-shot transfer</a:t>
            </a:r>
            <a:endParaRPr sz="1100">
              <a:solidFill>
                <a:srgbClr val="F3F6FB"/>
              </a:solidFill>
              <a:latin typeface="Inter"/>
              <a:ea typeface="Inter"/>
              <a:cs typeface="Inter"/>
              <a:sym typeface="Inter"/>
            </a:endParaRPr>
          </a:p>
          <a:p>
            <a:pPr indent="-298450" lvl="0" marL="457200" rtl="0" algn="l">
              <a:spcBef>
                <a:spcPts val="450"/>
              </a:spcBef>
              <a:spcAft>
                <a:spcPts val="0"/>
              </a:spcAft>
              <a:buClr>
                <a:srgbClr val="F3F6FB"/>
              </a:buClr>
              <a:buSzPts val="1100"/>
              <a:buFont typeface="Inter"/>
              <a:buChar char="●"/>
            </a:pPr>
            <a:r>
              <a:rPr lang="en" sz="1100">
                <a:solidFill>
                  <a:srgbClr val="F3F6FB"/>
                </a:solidFill>
                <a:latin typeface="Inter"/>
                <a:ea typeface="Inter"/>
                <a:cs typeface="Inter"/>
                <a:sym typeface="Inter"/>
              </a:rPr>
              <a:t>High-quality object masks</a:t>
            </a:r>
            <a:endParaRPr sz="1100">
              <a:solidFill>
                <a:srgbClr val="F3F6FB"/>
              </a:solidFill>
              <a:latin typeface="Inter"/>
              <a:ea typeface="Inter"/>
              <a:cs typeface="Inter"/>
              <a:sym typeface="Inter"/>
            </a:endParaRPr>
          </a:p>
        </p:txBody>
      </p:sp>
      <p:grpSp>
        <p:nvGrpSpPr>
          <p:cNvPr id="164" name="Google Shape;164;p16"/>
          <p:cNvGrpSpPr/>
          <p:nvPr/>
        </p:nvGrpSpPr>
        <p:grpSpPr>
          <a:xfrm>
            <a:off x="4667250" y="1238250"/>
            <a:ext cx="4095900" cy="2762400"/>
            <a:chOff x="0" y="0"/>
            <a:chExt cx="4095900" cy="2762400"/>
          </a:xfrm>
        </p:grpSpPr>
        <p:sp>
          <p:nvSpPr>
            <p:cNvPr id="165" name="Google Shape;165;p16"/>
            <p:cNvSpPr/>
            <p:nvPr/>
          </p:nvSpPr>
          <p:spPr>
            <a:xfrm>
              <a:off x="0" y="0"/>
              <a:ext cx="4095900" cy="2762400"/>
            </a:xfrm>
            <a:prstGeom prst="roundRect">
              <a:avLst>
                <a:gd fmla="val 2758" name="adj"/>
              </a:avLst>
            </a:prstGeom>
            <a:solidFill>
              <a:srgbClr val="111827"/>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6"/>
            <p:cNvSpPr txBox="1"/>
            <p:nvPr/>
          </p:nvSpPr>
          <p:spPr>
            <a:xfrm>
              <a:off x="989800" y="38013"/>
              <a:ext cx="1956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FF9B5E"/>
                  </a:solidFill>
                  <a:latin typeface="Inter"/>
                  <a:ea typeface="Inter"/>
                  <a:cs typeface="Inter"/>
                  <a:sym typeface="Inter"/>
                </a:rPr>
                <a:t>Robotic Reality Gap</a:t>
              </a:r>
              <a:endParaRPr b="1" sz="1600">
                <a:solidFill>
                  <a:srgbClr val="FF9B5E"/>
                </a:solidFill>
                <a:latin typeface="Inter"/>
                <a:ea typeface="Inter"/>
                <a:cs typeface="Inter"/>
                <a:sym typeface="Inter"/>
              </a:endParaRPr>
            </a:p>
          </p:txBody>
        </p:sp>
        <p:pic>
          <p:nvPicPr>
            <p:cNvPr id="167" name="Google Shape;167;p16"/>
            <p:cNvPicPr preferRelativeResize="0"/>
            <p:nvPr/>
          </p:nvPicPr>
          <p:blipFill rotWithShape="1">
            <a:blip r:embed="rId5">
              <a:alphaModFix/>
            </a:blip>
            <a:srcRect b="0" l="0" r="0" t="50944"/>
            <a:stretch/>
          </p:blipFill>
          <p:spPr>
            <a:xfrm>
              <a:off x="171575" y="572438"/>
              <a:ext cx="3714900" cy="988800"/>
            </a:xfrm>
            <a:prstGeom prst="roundRect">
              <a:avLst>
                <a:gd fmla="val 3333" name="adj"/>
              </a:avLst>
            </a:prstGeom>
            <a:noFill/>
            <a:ln>
              <a:noFill/>
            </a:ln>
          </p:spPr>
        </p:pic>
        <p:sp>
          <p:nvSpPr>
            <p:cNvPr id="168" name="Google Shape;168;p16"/>
            <p:cNvSpPr txBox="1"/>
            <p:nvPr/>
          </p:nvSpPr>
          <p:spPr>
            <a:xfrm>
              <a:off x="190500" y="1809750"/>
              <a:ext cx="3714900" cy="857400"/>
            </a:xfrm>
            <a:prstGeom prst="rect">
              <a:avLst/>
            </a:prstGeom>
            <a:noFill/>
            <a:ln>
              <a:noFill/>
            </a:ln>
          </p:spPr>
          <p:txBody>
            <a:bodyPr anchorCtr="0" anchor="t" bIns="0" lIns="0" spcFirstLastPara="1" rIns="0" wrap="square" tIns="0">
              <a:noAutofit/>
            </a:bodyPr>
            <a:lstStyle/>
            <a:p>
              <a:pPr indent="-292100" lvl="0" marL="457200" rtl="0" algn="l">
                <a:spcBef>
                  <a:spcPts val="0"/>
                </a:spcBef>
                <a:spcAft>
                  <a:spcPts val="0"/>
                </a:spcAft>
                <a:buClr>
                  <a:srgbClr val="F3F6FB"/>
                </a:buClr>
                <a:buSzPts val="1000"/>
                <a:buFont typeface="Inter"/>
                <a:buChar char="●"/>
              </a:pPr>
              <a:r>
                <a:rPr lang="en" sz="1000">
                  <a:solidFill>
                    <a:srgbClr val="F3F6FB"/>
                  </a:solidFill>
                  <a:latin typeface="Inter"/>
                  <a:ea typeface="Inter"/>
                  <a:cs typeface="Inter"/>
                  <a:sym typeface="Inter"/>
                </a:rPr>
                <a:t>Clutter and occlusion</a:t>
              </a:r>
              <a:endParaRPr sz="1000">
                <a:solidFill>
                  <a:srgbClr val="F3F6FB"/>
                </a:solidFill>
                <a:latin typeface="Inter"/>
                <a:ea typeface="Inter"/>
                <a:cs typeface="Inter"/>
                <a:sym typeface="Inter"/>
              </a:endParaRPr>
            </a:p>
            <a:p>
              <a:pPr indent="-292100" lvl="0" marL="457200" rtl="0" algn="l">
                <a:spcBef>
                  <a:spcPts val="150"/>
                </a:spcBef>
                <a:spcAft>
                  <a:spcPts val="0"/>
                </a:spcAft>
                <a:buClr>
                  <a:srgbClr val="F3F6FB"/>
                </a:buClr>
                <a:buSzPts val="1000"/>
                <a:buFont typeface="Inter"/>
                <a:buChar char="●"/>
              </a:pPr>
              <a:r>
                <a:rPr lang="en" sz="1000">
                  <a:solidFill>
                    <a:srgbClr val="F3F6FB"/>
                  </a:solidFill>
                  <a:latin typeface="Inter"/>
                  <a:ea typeface="Inter"/>
                  <a:cs typeface="Inter"/>
                  <a:sym typeface="Inter"/>
                </a:rPr>
                <a:t>Transparent and reflective materials</a:t>
              </a:r>
              <a:endParaRPr sz="1000">
                <a:solidFill>
                  <a:srgbClr val="F3F6FB"/>
                </a:solidFill>
                <a:latin typeface="Inter"/>
                <a:ea typeface="Inter"/>
                <a:cs typeface="Inter"/>
                <a:sym typeface="Inter"/>
              </a:endParaRPr>
            </a:p>
            <a:p>
              <a:pPr indent="-292100" lvl="0" marL="457200" rtl="0" algn="l">
                <a:spcBef>
                  <a:spcPts val="150"/>
                </a:spcBef>
                <a:spcAft>
                  <a:spcPts val="0"/>
                </a:spcAft>
                <a:buClr>
                  <a:srgbClr val="F3F6FB"/>
                </a:buClr>
                <a:buSzPts val="1000"/>
                <a:buFont typeface="Inter"/>
                <a:buChar char="●"/>
              </a:pPr>
              <a:r>
                <a:rPr lang="en" sz="1000">
                  <a:solidFill>
                    <a:srgbClr val="F3F6FB"/>
                  </a:solidFill>
                  <a:latin typeface="Inter"/>
                  <a:ea typeface="Inter"/>
                  <a:cs typeface="Inter"/>
                  <a:sym typeface="Inter"/>
                </a:rPr>
                <a:t>Small parts</a:t>
              </a:r>
              <a:endParaRPr sz="1000">
                <a:solidFill>
                  <a:srgbClr val="F3F6FB"/>
                </a:solidFill>
                <a:latin typeface="Inter"/>
                <a:ea typeface="Inter"/>
                <a:cs typeface="Inter"/>
                <a:sym typeface="Inter"/>
              </a:endParaRPr>
            </a:p>
            <a:p>
              <a:pPr indent="-292100" lvl="0" marL="457200" rtl="0" algn="l">
                <a:spcBef>
                  <a:spcPts val="150"/>
                </a:spcBef>
                <a:spcAft>
                  <a:spcPts val="0"/>
                </a:spcAft>
                <a:buClr>
                  <a:srgbClr val="F3F6FB"/>
                </a:buClr>
                <a:buSzPts val="1000"/>
                <a:buFont typeface="Inter"/>
                <a:buChar char="●"/>
              </a:pPr>
              <a:r>
                <a:rPr lang="en" sz="1000">
                  <a:solidFill>
                    <a:srgbClr val="F3F6FB"/>
                  </a:solidFill>
                  <a:latin typeface="Inter"/>
                  <a:ea typeface="Inter"/>
                  <a:cs typeface="Inter"/>
                  <a:sym typeface="Inter"/>
                </a:rPr>
                <a:t>Robot-body visibility</a:t>
              </a:r>
              <a:endParaRPr sz="1000">
                <a:solidFill>
                  <a:srgbClr val="F3F6FB"/>
                </a:solidFill>
                <a:latin typeface="Inter"/>
                <a:ea typeface="Inter"/>
                <a:cs typeface="Inter"/>
                <a:sym typeface="Inter"/>
              </a:endParaRPr>
            </a:p>
            <a:p>
              <a:pPr indent="-292100" lvl="0" marL="457200" rtl="0" algn="l">
                <a:spcBef>
                  <a:spcPts val="150"/>
                </a:spcBef>
                <a:spcAft>
                  <a:spcPts val="0"/>
                </a:spcAft>
                <a:buClr>
                  <a:srgbClr val="F3F6FB"/>
                </a:buClr>
                <a:buSzPts val="1000"/>
                <a:buFont typeface="Inter"/>
                <a:buChar char="●"/>
              </a:pPr>
              <a:r>
                <a:rPr lang="en" sz="1000">
                  <a:solidFill>
                    <a:srgbClr val="F3F6FB"/>
                  </a:solidFill>
                  <a:latin typeface="Inter"/>
                  <a:ea typeface="Inter"/>
                  <a:cs typeface="Inter"/>
                  <a:sym typeface="Inter"/>
                </a:rPr>
                <a:t>Real-time constraints</a:t>
              </a:r>
              <a:endParaRPr sz="1000">
                <a:solidFill>
                  <a:srgbClr val="F3F6FB"/>
                </a:solidFill>
                <a:latin typeface="Inter"/>
                <a:ea typeface="Inter"/>
                <a:cs typeface="Inter"/>
                <a:sym typeface="Inter"/>
              </a:endParaRPr>
            </a:p>
          </p:txBody>
        </p:sp>
      </p:grpSp>
      <p:grpSp>
        <p:nvGrpSpPr>
          <p:cNvPr id="169" name="Google Shape;169;p16"/>
          <p:cNvGrpSpPr/>
          <p:nvPr/>
        </p:nvGrpSpPr>
        <p:grpSpPr>
          <a:xfrm>
            <a:off x="381000" y="4191000"/>
            <a:ext cx="8382000" cy="571500"/>
            <a:chOff x="0" y="0"/>
            <a:chExt cx="8382000" cy="571500"/>
          </a:xfrm>
        </p:grpSpPr>
        <p:sp>
          <p:nvSpPr>
            <p:cNvPr id="170" name="Google Shape;170;p16"/>
            <p:cNvSpPr/>
            <p:nvPr/>
          </p:nvSpPr>
          <p:spPr>
            <a:xfrm>
              <a:off x="0" y="0"/>
              <a:ext cx="8382000" cy="571500"/>
            </a:xfrm>
            <a:prstGeom prst="roundRect">
              <a:avLst>
                <a:gd fmla="val 13333" name="adj"/>
              </a:avLst>
            </a:prstGeom>
            <a:solidFill>
              <a:srgbClr val="111827"/>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6"/>
            <p:cNvSpPr txBox="1"/>
            <p:nvPr/>
          </p:nvSpPr>
          <p:spPr>
            <a:xfrm>
              <a:off x="0" y="0"/>
              <a:ext cx="8382000" cy="571500"/>
            </a:xfrm>
            <a:prstGeom prst="rect">
              <a:avLst/>
            </a:prstGeom>
            <a:noFill/>
            <a:ln>
              <a:noFill/>
            </a:ln>
          </p:spPr>
          <p:txBody>
            <a:bodyPr anchorCtr="0" anchor="ctr" bIns="0" lIns="381000" spcFirstLastPara="1" rIns="381000" wrap="square" tIns="0">
              <a:noAutofit/>
            </a:bodyPr>
            <a:lstStyle/>
            <a:p>
              <a:pPr indent="0" lvl="0" marL="0" rtl="0" algn="ctr">
                <a:spcBef>
                  <a:spcPts val="0"/>
                </a:spcBef>
                <a:spcAft>
                  <a:spcPts val="0"/>
                </a:spcAft>
                <a:buNone/>
              </a:pPr>
              <a:r>
                <a:rPr b="1" lang="en" sz="1200">
                  <a:solidFill>
                    <a:srgbClr val="F3F6FB"/>
                  </a:solidFill>
                  <a:latin typeface="Inter"/>
                  <a:ea typeface="Inter"/>
                  <a:cs typeface="Inter"/>
                  <a:sym typeface="Inter"/>
                </a:rPr>
                <a:t>Research need: evaluate segmentation as embodied, action-relevant perception, not only as a generic image task.</a:t>
              </a:r>
              <a:endParaRPr b="1" sz="1200">
                <a:solidFill>
                  <a:srgbClr val="F3F6FB"/>
                </a:solidFill>
                <a:latin typeface="Inter"/>
                <a:ea typeface="Inter"/>
                <a:cs typeface="Inter"/>
                <a:sym typeface="Inter"/>
              </a:endParaRPr>
            </a:p>
          </p:txBody>
        </p:sp>
      </p:grpSp>
      <p:sp>
        <p:nvSpPr>
          <p:cNvPr id="172" name="Google Shape;172;p16"/>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Model promise vs. robotic reality</a:t>
            </a:r>
            <a:endParaRPr b="0" i="0" sz="500" u="none" cap="none" strike="noStrike">
              <a:solidFill>
                <a:schemeClr val="dk1"/>
              </a:solidFill>
              <a:latin typeface="Inter"/>
              <a:ea typeface="Inter"/>
              <a:cs typeface="Inter"/>
              <a:sym typeface="Inter"/>
            </a:endParaRPr>
          </a:p>
        </p:txBody>
      </p:sp>
      <p:sp>
        <p:nvSpPr>
          <p:cNvPr id="173" name="Google Shape;173;p16"/>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Sources: SAM prompt examples; OCID clutter dataset</a:t>
            </a:r>
            <a:endParaRPr b="0" i="0" sz="500" u="none" cap="none" strike="noStrike">
              <a:solidFill>
                <a:schemeClr val="dk1"/>
              </a:solidFill>
              <a:latin typeface="Inter"/>
              <a:ea typeface="Inter"/>
              <a:cs typeface="Inter"/>
              <a:sym typeface="Inter"/>
            </a:endParaRPr>
          </a:p>
        </p:txBody>
      </p:sp>
      <p:sp>
        <p:nvSpPr>
          <p:cNvPr id="174" name="Google Shape;174;p16"/>
          <p:cNvSpPr txBox="1"/>
          <p:nvPr/>
        </p:nvSpPr>
        <p:spPr>
          <a:xfrm>
            <a:off x="1073175" y="1205306"/>
            <a:ext cx="2698800" cy="452400"/>
          </a:xfrm>
          <a:prstGeom prst="rect">
            <a:avLst/>
          </a:prstGeom>
          <a:noFill/>
          <a:ln>
            <a:noFill/>
          </a:ln>
          <a:effectLst>
            <a:outerShdw blurRad="57150" rotWithShape="0" algn="bl" dir="5400000" dist="19050">
              <a:srgbClr val="000000">
                <a:alpha val="50000"/>
              </a:srgbClr>
            </a:outerShdw>
            <a:reflection blurRad="0" dir="5400000" dist="38100" endA="0" fadeDir="5400012" kx="0" rotWithShape="0" algn="bl" stA="0" stPos="0" sy="-100000" ky="0"/>
          </a:effectLst>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55B6FF"/>
                </a:solidFill>
                <a:latin typeface="Inter"/>
                <a:ea typeface="Inter"/>
                <a:cs typeface="Inter"/>
                <a:sym typeface="Inter"/>
              </a:rPr>
              <a:t>Foundation Model Promise</a:t>
            </a:r>
            <a:endParaRPr b="1" sz="1600">
              <a:solidFill>
                <a:srgbClr val="55B6FF"/>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79" name="Shape 179"/>
        <p:cNvGrpSpPr/>
        <p:nvPr/>
      </p:nvGrpSpPr>
      <p:grpSpPr>
        <a:xfrm>
          <a:off x="0" y="0"/>
          <a:ext cx="0" cy="0"/>
          <a:chOff x="0" y="0"/>
          <a:chExt cx="0" cy="0"/>
        </a:xfrm>
      </p:grpSpPr>
      <p:cxnSp>
        <p:nvCxnSpPr>
          <p:cNvPr id="180" name="Google Shape;180;p17"/>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1" name="Google Shape;181;p17"/>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2" name="Google Shape;182;p17"/>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3" name="Google Shape;183;p17"/>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4" name="Google Shape;184;p17"/>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5" name="Google Shape;185;p17"/>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6" name="Google Shape;186;p17"/>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7" name="Google Shape;187;p17"/>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8" name="Google Shape;188;p17"/>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89" name="Google Shape;189;p17"/>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0" name="Google Shape;190;p17"/>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1" name="Google Shape;191;p17"/>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2" name="Google Shape;192;p17"/>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3" name="Google Shape;193;p17"/>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4" name="Google Shape;194;p17"/>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5" name="Google Shape;195;p17"/>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6" name="Google Shape;196;p17"/>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7" name="Google Shape;197;p17"/>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8" name="Google Shape;198;p17"/>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99" name="Google Shape;199;p17"/>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0" name="Google Shape;200;p17"/>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1" name="Google Shape;201;p17"/>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2" name="Google Shape;202;p17"/>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3" name="Google Shape;203;p17"/>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4" name="Google Shape;204;p17"/>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5" name="Google Shape;205;p17"/>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6" name="Google Shape;206;p17"/>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7" name="Google Shape;207;p17"/>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8" name="Google Shape;208;p17"/>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09" name="Google Shape;209;p17"/>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0" name="Google Shape;210;p17"/>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1" name="Google Shape;211;p17"/>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2" name="Google Shape;212;p17"/>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3" name="Google Shape;213;p17"/>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4" name="Google Shape;214;p17"/>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5" name="Google Shape;215;p17"/>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6" name="Google Shape;216;p17"/>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7" name="Google Shape;217;p17"/>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8" name="Google Shape;218;p17"/>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19" name="Google Shape;219;p17"/>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20" name="Google Shape;220;p17"/>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21" name="Google Shape;221;p17"/>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22" name="Google Shape;222;p17"/>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223" name="Google Shape;223;p17"/>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4" name="Google Shape;224;p17"/>
          <p:cNvSpPr/>
          <p:nvPr/>
        </p:nvSpPr>
        <p:spPr>
          <a:xfrm>
            <a:off x="377200" y="246888"/>
            <a:ext cx="82983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6FB"/>
              </a:buClr>
              <a:buSzPts val="2100"/>
              <a:buFont typeface="Inter"/>
              <a:buNone/>
            </a:pPr>
            <a:r>
              <a:rPr b="1" i="0" lang="en" sz="2100" u="none" cap="none" strike="noStrike">
                <a:solidFill>
                  <a:srgbClr val="F3F6FB"/>
                </a:solidFill>
                <a:latin typeface="Inter"/>
                <a:ea typeface="Inter"/>
                <a:cs typeface="Inter"/>
                <a:sym typeface="Inter"/>
              </a:rPr>
              <a:t>Why Segmentation Matters for Robotic Cognition</a:t>
            </a:r>
            <a:endParaRPr b="0" i="0" sz="2100" u="none" cap="none" strike="noStrike">
              <a:solidFill>
                <a:schemeClr val="dk1"/>
              </a:solidFill>
              <a:latin typeface="Inter"/>
              <a:ea typeface="Inter"/>
              <a:cs typeface="Inter"/>
              <a:sym typeface="Inter"/>
            </a:endParaRPr>
          </a:p>
        </p:txBody>
      </p:sp>
      <p:sp>
        <p:nvSpPr>
          <p:cNvPr id="225" name="Google Shape;225;p17"/>
          <p:cNvSpPr/>
          <p:nvPr/>
        </p:nvSpPr>
        <p:spPr>
          <a:xfrm>
            <a:off x="397775" y="644652"/>
            <a:ext cx="8161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B6FF"/>
              </a:buClr>
              <a:buSzPts val="600"/>
              <a:buFont typeface="Inter"/>
              <a:buNone/>
            </a:pPr>
            <a:r>
              <a:rPr b="0" i="1" lang="en" sz="600" u="none" cap="none" strike="noStrike">
                <a:solidFill>
                  <a:srgbClr val="55B6FF"/>
                </a:solidFill>
                <a:latin typeface="Inter"/>
                <a:ea typeface="Inter"/>
                <a:cs typeface="Inter"/>
                <a:sym typeface="Inter"/>
              </a:rPr>
              <a:t>Masks become object-level interfaces between perception and action.</a:t>
            </a:r>
            <a:endParaRPr b="0" i="0" sz="600" u="none" cap="none" strike="noStrike">
              <a:solidFill>
                <a:schemeClr val="dk1"/>
              </a:solidFill>
              <a:latin typeface="Inter"/>
              <a:ea typeface="Inter"/>
              <a:cs typeface="Inter"/>
              <a:sym typeface="Inter"/>
            </a:endParaRPr>
          </a:p>
        </p:txBody>
      </p:sp>
      <p:cxnSp>
        <p:nvCxnSpPr>
          <p:cNvPr id="226" name="Google Shape;226;p17"/>
          <p:cNvCxnSpPr/>
          <p:nvPr/>
        </p:nvCxnSpPr>
        <p:spPr>
          <a:xfrm>
            <a:off x="377200" y="843534"/>
            <a:ext cx="8367000" cy="0"/>
          </a:xfrm>
          <a:prstGeom prst="straightConnector1">
            <a:avLst/>
          </a:prstGeom>
          <a:noFill/>
          <a:ln cap="flat" cmpd="sng" w="10150">
            <a:solidFill>
              <a:srgbClr val="334155">
                <a:alpha val="85098"/>
              </a:srgbClr>
            </a:solidFill>
            <a:prstDash val="solid"/>
            <a:round/>
            <a:headEnd len="sm" w="sm" type="none"/>
            <a:tailEnd len="sm" w="sm" type="none"/>
          </a:ln>
        </p:spPr>
      </p:cxnSp>
      <p:grpSp>
        <p:nvGrpSpPr>
          <p:cNvPr id="227" name="Google Shape;227;p17"/>
          <p:cNvGrpSpPr/>
          <p:nvPr/>
        </p:nvGrpSpPr>
        <p:grpSpPr>
          <a:xfrm>
            <a:off x="381000" y="1143000"/>
            <a:ext cx="8382075" cy="2857500"/>
            <a:chOff x="381000" y="1143000"/>
            <a:chExt cx="8382075" cy="2857500"/>
          </a:xfrm>
        </p:grpSpPr>
        <p:grpSp>
          <p:nvGrpSpPr>
            <p:cNvPr id="228" name="Google Shape;228;p17"/>
            <p:cNvGrpSpPr/>
            <p:nvPr/>
          </p:nvGrpSpPr>
          <p:grpSpPr>
            <a:xfrm>
              <a:off x="381000" y="1143000"/>
              <a:ext cx="2000100" cy="2857500"/>
              <a:chOff x="0" y="0"/>
              <a:chExt cx="2000100" cy="2857500"/>
            </a:xfrm>
          </p:grpSpPr>
          <p:sp>
            <p:nvSpPr>
              <p:cNvPr id="229" name="Google Shape;229;p17"/>
              <p:cNvSpPr/>
              <p:nvPr/>
            </p:nvSpPr>
            <p:spPr>
              <a:xfrm>
                <a:off x="0" y="0"/>
                <a:ext cx="2000100" cy="2857500"/>
              </a:xfrm>
              <a:prstGeom prst="roundRect">
                <a:avLst>
                  <a:gd fmla="val 3809" name="adj"/>
                </a:avLst>
              </a:prstGeom>
              <a:solidFill>
                <a:srgbClr val="111827"/>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0" name="Google Shape;230;p17"/>
              <p:cNvPicPr preferRelativeResize="0"/>
              <p:nvPr/>
            </p:nvPicPr>
            <p:blipFill rotWithShape="1">
              <a:blip r:embed="rId3">
                <a:alphaModFix/>
              </a:blip>
              <a:srcRect b="0" l="7813" r="7813" t="0"/>
              <a:stretch/>
            </p:blipFill>
            <p:spPr>
              <a:xfrm>
                <a:off x="142875" y="142875"/>
                <a:ext cx="1714500" cy="1143000"/>
              </a:xfrm>
              <a:prstGeom prst="roundRect">
                <a:avLst>
                  <a:gd fmla="val 3333" name="adj"/>
                </a:avLst>
              </a:prstGeom>
              <a:noFill/>
              <a:ln>
                <a:noFill/>
              </a:ln>
            </p:spPr>
          </p:pic>
          <p:sp>
            <p:nvSpPr>
              <p:cNvPr id="231" name="Google Shape;231;p17"/>
              <p:cNvSpPr txBox="1"/>
              <p:nvPr/>
            </p:nvSpPr>
            <p:spPr>
              <a:xfrm>
                <a:off x="142875" y="1381125"/>
                <a:ext cx="17145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55B6FF"/>
                    </a:solidFill>
                    <a:latin typeface="Inter"/>
                    <a:ea typeface="Inter"/>
                    <a:cs typeface="Inter"/>
                    <a:sym typeface="Inter"/>
                  </a:rPr>
                  <a:t>Sensor input</a:t>
                </a:r>
                <a:endParaRPr b="1" sz="1400">
                  <a:solidFill>
                    <a:srgbClr val="55B6FF"/>
                  </a:solidFill>
                  <a:latin typeface="Inter"/>
                  <a:ea typeface="Inter"/>
                  <a:cs typeface="Inter"/>
                  <a:sym typeface="Inter"/>
                </a:endParaRPr>
              </a:p>
              <a:p>
                <a:pPr indent="0" lvl="0" marL="0" rtl="0" algn="l">
                  <a:spcBef>
                    <a:spcPts val="600"/>
                  </a:spcBef>
                  <a:spcAft>
                    <a:spcPts val="0"/>
                  </a:spcAft>
                  <a:buNone/>
                </a:pPr>
                <a:r>
                  <a:rPr b="0" lang="en" sz="1100">
                    <a:solidFill>
                      <a:srgbClr val="F3F6FB"/>
                    </a:solidFill>
                    <a:latin typeface="Inter"/>
                    <a:ea typeface="Inter"/>
                    <a:cs typeface="Inter"/>
                    <a:sym typeface="Inter"/>
                  </a:rPr>
                  <a:t>RGB/RGB-D observations from robot-centered scenes</a:t>
                </a:r>
                <a:endParaRPr b="0" sz="1100">
                  <a:solidFill>
                    <a:srgbClr val="F3F6FB"/>
                  </a:solidFill>
                  <a:latin typeface="Inter"/>
                  <a:ea typeface="Inter"/>
                  <a:cs typeface="Inter"/>
                  <a:sym typeface="Inter"/>
                </a:endParaRPr>
              </a:p>
            </p:txBody>
          </p:sp>
        </p:grpSp>
        <p:sp>
          <p:nvSpPr>
            <p:cNvPr id="232" name="Google Shape;232;p17"/>
            <p:cNvSpPr/>
            <p:nvPr/>
          </p:nvSpPr>
          <p:spPr>
            <a:xfrm>
              <a:off x="2428875" y="2571750"/>
              <a:ext cx="95400" cy="0"/>
            </a:xfrm>
            <a:custGeom>
              <a:rect b="b" l="l" r="r" t="t"/>
              <a:pathLst>
                <a:path extrusionOk="0" h="120000" w="120000">
                  <a:moveTo>
                    <a:pt x="0" y="0"/>
                  </a:moveTo>
                  <a:lnTo>
                    <a:pt x="120000" y="0"/>
                  </a:lnTo>
                </a:path>
              </a:pathLst>
            </a:custGeom>
            <a:solidFill>
              <a:srgbClr val="000000">
                <a:alpha val="0"/>
              </a:srgbClr>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7"/>
            <p:cNvSpPr/>
            <p:nvPr/>
          </p:nvSpPr>
          <p:spPr>
            <a:xfrm>
              <a:off x="2524125" y="2533650"/>
              <a:ext cx="76200" cy="76200"/>
            </a:xfrm>
            <a:custGeom>
              <a:rect b="b" l="l" r="r" t="t"/>
              <a:pathLst>
                <a:path extrusionOk="0" h="120000" w="120000">
                  <a:moveTo>
                    <a:pt x="0" y="0"/>
                  </a:moveTo>
                  <a:lnTo>
                    <a:pt x="120000" y="60000"/>
                  </a:lnTo>
                  <a:lnTo>
                    <a:pt x="0" y="120000"/>
                  </a:lnTo>
                  <a:close/>
                </a:path>
              </a:pathLst>
            </a:cu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4" name="Google Shape;234;p17"/>
            <p:cNvGrpSpPr/>
            <p:nvPr/>
          </p:nvGrpSpPr>
          <p:grpSpPr>
            <a:xfrm>
              <a:off x="2543175" y="1143000"/>
              <a:ext cx="2000100" cy="2857500"/>
              <a:chOff x="0" y="0"/>
              <a:chExt cx="2000100" cy="2857500"/>
            </a:xfrm>
          </p:grpSpPr>
          <p:sp>
            <p:nvSpPr>
              <p:cNvPr id="235" name="Google Shape;235;p17"/>
              <p:cNvSpPr/>
              <p:nvPr/>
            </p:nvSpPr>
            <p:spPr>
              <a:xfrm>
                <a:off x="0" y="0"/>
                <a:ext cx="2000100" cy="2857500"/>
              </a:xfrm>
              <a:prstGeom prst="roundRect">
                <a:avLst>
                  <a:gd fmla="val 3809" name="adj"/>
                </a:avLst>
              </a:prstGeom>
              <a:solidFill>
                <a:srgbClr val="111827"/>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6" name="Google Shape;236;p17"/>
              <p:cNvPicPr preferRelativeResize="0"/>
              <p:nvPr/>
            </p:nvPicPr>
            <p:blipFill rotWithShape="1">
              <a:blip r:embed="rId4">
                <a:alphaModFix/>
              </a:blip>
              <a:srcRect b="10063" l="0" r="0" t="10071"/>
              <a:stretch/>
            </p:blipFill>
            <p:spPr>
              <a:xfrm>
                <a:off x="142875" y="142875"/>
                <a:ext cx="1714500" cy="1143000"/>
              </a:xfrm>
              <a:prstGeom prst="roundRect">
                <a:avLst>
                  <a:gd fmla="val 3333" name="adj"/>
                </a:avLst>
              </a:prstGeom>
              <a:noFill/>
              <a:ln>
                <a:noFill/>
              </a:ln>
            </p:spPr>
          </p:pic>
          <p:sp>
            <p:nvSpPr>
              <p:cNvPr id="237" name="Google Shape;237;p17"/>
              <p:cNvSpPr txBox="1"/>
              <p:nvPr/>
            </p:nvSpPr>
            <p:spPr>
              <a:xfrm>
                <a:off x="142875" y="1381125"/>
                <a:ext cx="17145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4FD1C5"/>
                    </a:solidFill>
                    <a:latin typeface="Inter"/>
                    <a:ea typeface="Inter"/>
                    <a:cs typeface="Inter"/>
                    <a:sym typeface="Inter"/>
                  </a:rPr>
                  <a:t>Object mask</a:t>
                </a:r>
                <a:endParaRPr b="1" sz="1400">
                  <a:solidFill>
                    <a:srgbClr val="4FD1C5"/>
                  </a:solidFill>
                  <a:latin typeface="Inter"/>
                  <a:ea typeface="Inter"/>
                  <a:cs typeface="Inter"/>
                  <a:sym typeface="Inter"/>
                </a:endParaRPr>
              </a:p>
              <a:p>
                <a:pPr indent="0" lvl="0" marL="0" rtl="0" algn="l">
                  <a:spcBef>
                    <a:spcPts val="600"/>
                  </a:spcBef>
                  <a:spcAft>
                    <a:spcPts val="0"/>
                  </a:spcAft>
                  <a:buNone/>
                </a:pPr>
                <a:r>
                  <a:rPr b="0" lang="en" sz="1100">
                    <a:solidFill>
                      <a:srgbClr val="F3F6FB"/>
                    </a:solidFill>
                    <a:latin typeface="Inter"/>
                    <a:ea typeface="Inter"/>
                    <a:cs typeface="Inter"/>
                    <a:sym typeface="Inter"/>
                  </a:rPr>
                  <a:t>Pixel-level foreground regions for target objects</a:t>
                </a:r>
                <a:endParaRPr b="0" sz="1100">
                  <a:solidFill>
                    <a:srgbClr val="F3F6FB"/>
                  </a:solidFill>
                  <a:latin typeface="Inter"/>
                  <a:ea typeface="Inter"/>
                  <a:cs typeface="Inter"/>
                  <a:sym typeface="Inter"/>
                </a:endParaRPr>
              </a:p>
            </p:txBody>
          </p:sp>
        </p:grpSp>
        <p:sp>
          <p:nvSpPr>
            <p:cNvPr id="238" name="Google Shape;238;p17"/>
            <p:cNvSpPr/>
            <p:nvPr/>
          </p:nvSpPr>
          <p:spPr>
            <a:xfrm>
              <a:off x="4591050" y="2571750"/>
              <a:ext cx="95400" cy="0"/>
            </a:xfrm>
            <a:custGeom>
              <a:rect b="b" l="l" r="r" t="t"/>
              <a:pathLst>
                <a:path extrusionOk="0" h="120000" w="120000">
                  <a:moveTo>
                    <a:pt x="0" y="0"/>
                  </a:moveTo>
                  <a:lnTo>
                    <a:pt x="120000" y="0"/>
                  </a:lnTo>
                </a:path>
              </a:pathLst>
            </a:custGeom>
            <a:solidFill>
              <a:srgbClr val="000000">
                <a:alpha val="0"/>
              </a:srgbClr>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7"/>
            <p:cNvSpPr/>
            <p:nvPr/>
          </p:nvSpPr>
          <p:spPr>
            <a:xfrm>
              <a:off x="4686300" y="2533650"/>
              <a:ext cx="76200" cy="76200"/>
            </a:xfrm>
            <a:custGeom>
              <a:rect b="b" l="l" r="r" t="t"/>
              <a:pathLst>
                <a:path extrusionOk="0" h="120000" w="120000">
                  <a:moveTo>
                    <a:pt x="0" y="0"/>
                  </a:moveTo>
                  <a:lnTo>
                    <a:pt x="120000" y="60000"/>
                  </a:lnTo>
                  <a:lnTo>
                    <a:pt x="0" y="120000"/>
                  </a:lnTo>
                  <a:close/>
                </a:path>
              </a:pathLst>
            </a:cu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0" name="Google Shape;240;p17"/>
            <p:cNvGrpSpPr/>
            <p:nvPr/>
          </p:nvGrpSpPr>
          <p:grpSpPr>
            <a:xfrm>
              <a:off x="4695825" y="1143000"/>
              <a:ext cx="2000100" cy="2857500"/>
              <a:chOff x="0" y="0"/>
              <a:chExt cx="2000100" cy="2857500"/>
            </a:xfrm>
          </p:grpSpPr>
          <p:sp>
            <p:nvSpPr>
              <p:cNvPr id="241" name="Google Shape;241;p17"/>
              <p:cNvSpPr/>
              <p:nvPr/>
            </p:nvSpPr>
            <p:spPr>
              <a:xfrm>
                <a:off x="0" y="0"/>
                <a:ext cx="2000100" cy="2857500"/>
              </a:xfrm>
              <a:prstGeom prst="roundRect">
                <a:avLst>
                  <a:gd fmla="val 3809" name="adj"/>
                </a:avLst>
              </a:prstGeom>
              <a:solidFill>
                <a:srgbClr val="111827"/>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2" name="Google Shape;242;p17"/>
              <p:cNvPicPr preferRelativeResize="0"/>
              <p:nvPr/>
            </p:nvPicPr>
            <p:blipFill rotWithShape="1">
              <a:blip r:embed="rId5">
                <a:alphaModFix/>
              </a:blip>
              <a:srcRect b="0" l="27286" r="27290" t="0"/>
              <a:stretch/>
            </p:blipFill>
            <p:spPr>
              <a:xfrm>
                <a:off x="142875" y="142875"/>
                <a:ext cx="1714500" cy="1143000"/>
              </a:xfrm>
              <a:prstGeom prst="roundRect">
                <a:avLst>
                  <a:gd fmla="val 3333" name="adj"/>
                </a:avLst>
              </a:prstGeom>
              <a:noFill/>
              <a:ln>
                <a:noFill/>
              </a:ln>
            </p:spPr>
          </p:pic>
          <p:sp>
            <p:nvSpPr>
              <p:cNvPr id="243" name="Google Shape;243;p17"/>
              <p:cNvSpPr txBox="1"/>
              <p:nvPr/>
            </p:nvSpPr>
            <p:spPr>
              <a:xfrm>
                <a:off x="142875" y="1381125"/>
                <a:ext cx="17145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F9B5E"/>
                    </a:solidFill>
                    <a:latin typeface="Inter"/>
                    <a:ea typeface="Inter"/>
                    <a:cs typeface="Inter"/>
                    <a:sym typeface="Inter"/>
                  </a:rPr>
                  <a:t>Object region</a:t>
                </a:r>
                <a:endParaRPr b="1" sz="1400">
                  <a:solidFill>
                    <a:srgbClr val="FF9B5E"/>
                  </a:solidFill>
                  <a:latin typeface="Inter"/>
                  <a:ea typeface="Inter"/>
                  <a:cs typeface="Inter"/>
                  <a:sym typeface="Inter"/>
                </a:endParaRPr>
              </a:p>
              <a:p>
                <a:pPr indent="0" lvl="0" marL="0" rtl="0" algn="l">
                  <a:spcBef>
                    <a:spcPts val="600"/>
                  </a:spcBef>
                  <a:spcAft>
                    <a:spcPts val="0"/>
                  </a:spcAft>
                  <a:buNone/>
                </a:pPr>
                <a:r>
                  <a:rPr b="0" lang="en" sz="1100">
                    <a:solidFill>
                      <a:srgbClr val="F3F6FB"/>
                    </a:solidFill>
                    <a:latin typeface="Inter"/>
                    <a:ea typeface="Inter"/>
                    <a:cs typeface="Inter"/>
                    <a:sym typeface="Inter"/>
                  </a:rPr>
                  <a:t>Object candidates for tracking, grasping, or inspection</a:t>
                </a:r>
                <a:endParaRPr b="0" sz="1100">
                  <a:solidFill>
                    <a:srgbClr val="F3F6FB"/>
                  </a:solidFill>
                  <a:latin typeface="Inter"/>
                  <a:ea typeface="Inter"/>
                  <a:cs typeface="Inter"/>
                  <a:sym typeface="Inter"/>
                </a:endParaRPr>
              </a:p>
            </p:txBody>
          </p:sp>
        </p:grpSp>
        <p:sp>
          <p:nvSpPr>
            <p:cNvPr id="244" name="Google Shape;244;p17"/>
            <p:cNvSpPr/>
            <p:nvPr/>
          </p:nvSpPr>
          <p:spPr>
            <a:xfrm>
              <a:off x="6743700" y="2571750"/>
              <a:ext cx="95400" cy="0"/>
            </a:xfrm>
            <a:custGeom>
              <a:rect b="b" l="l" r="r" t="t"/>
              <a:pathLst>
                <a:path extrusionOk="0" h="120000" w="120000">
                  <a:moveTo>
                    <a:pt x="0" y="0"/>
                  </a:moveTo>
                  <a:lnTo>
                    <a:pt x="120000" y="0"/>
                  </a:lnTo>
                </a:path>
              </a:pathLst>
            </a:custGeom>
            <a:solidFill>
              <a:srgbClr val="000000">
                <a:alpha val="0"/>
              </a:srgbClr>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7"/>
            <p:cNvSpPr/>
            <p:nvPr/>
          </p:nvSpPr>
          <p:spPr>
            <a:xfrm>
              <a:off x="6838950" y="2533650"/>
              <a:ext cx="76200" cy="76200"/>
            </a:xfrm>
            <a:custGeom>
              <a:rect b="b" l="l" r="r" t="t"/>
              <a:pathLst>
                <a:path extrusionOk="0" h="120000" w="120000">
                  <a:moveTo>
                    <a:pt x="0" y="0"/>
                  </a:moveTo>
                  <a:lnTo>
                    <a:pt x="120000" y="60000"/>
                  </a:lnTo>
                  <a:lnTo>
                    <a:pt x="0" y="120000"/>
                  </a:lnTo>
                  <a:close/>
                </a:path>
              </a:pathLst>
            </a:cu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6" name="Google Shape;246;p17"/>
            <p:cNvGrpSpPr/>
            <p:nvPr/>
          </p:nvGrpSpPr>
          <p:grpSpPr>
            <a:xfrm>
              <a:off x="6848475" y="1143000"/>
              <a:ext cx="1914600" cy="2857500"/>
              <a:chOff x="0" y="0"/>
              <a:chExt cx="1914600" cy="2857500"/>
            </a:xfrm>
          </p:grpSpPr>
          <p:sp>
            <p:nvSpPr>
              <p:cNvPr id="247" name="Google Shape;247;p17"/>
              <p:cNvSpPr/>
              <p:nvPr/>
            </p:nvSpPr>
            <p:spPr>
              <a:xfrm>
                <a:off x="0" y="0"/>
                <a:ext cx="1914600" cy="2857500"/>
              </a:xfrm>
              <a:prstGeom prst="roundRect">
                <a:avLst>
                  <a:gd fmla="val 3980" name="adj"/>
                </a:avLst>
              </a:prstGeom>
              <a:solidFill>
                <a:srgbClr val="111827"/>
              </a:solidFill>
              <a:ln cap="flat" cmpd="sng" w="1430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8" name="Google Shape;248;p17"/>
              <p:cNvPicPr preferRelativeResize="0"/>
              <p:nvPr/>
            </p:nvPicPr>
            <p:blipFill rotWithShape="1">
              <a:blip r:embed="rId6">
                <a:alphaModFix/>
              </a:blip>
              <a:srcRect b="4397" l="0" r="0" t="4387"/>
              <a:stretch/>
            </p:blipFill>
            <p:spPr>
              <a:xfrm>
                <a:off x="142875" y="142875"/>
                <a:ext cx="1628700" cy="1143000"/>
              </a:xfrm>
              <a:prstGeom prst="roundRect">
                <a:avLst>
                  <a:gd fmla="val 3333" name="adj"/>
                </a:avLst>
              </a:prstGeom>
              <a:noFill/>
              <a:ln>
                <a:noFill/>
              </a:ln>
            </p:spPr>
          </p:pic>
          <p:sp>
            <p:nvSpPr>
              <p:cNvPr id="249" name="Google Shape;249;p17"/>
              <p:cNvSpPr txBox="1"/>
              <p:nvPr/>
            </p:nvSpPr>
            <p:spPr>
              <a:xfrm>
                <a:off x="142875" y="1381125"/>
                <a:ext cx="16287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472B6"/>
                    </a:solidFill>
                    <a:latin typeface="Inter"/>
                    <a:ea typeface="Inter"/>
                    <a:cs typeface="Inter"/>
                    <a:sym typeface="Inter"/>
                  </a:rPr>
                  <a:t>Task reasoning</a:t>
                </a:r>
                <a:endParaRPr b="1" sz="1400">
                  <a:solidFill>
                    <a:srgbClr val="F472B6"/>
                  </a:solidFill>
                  <a:latin typeface="Inter"/>
                  <a:ea typeface="Inter"/>
                  <a:cs typeface="Inter"/>
                  <a:sym typeface="Inter"/>
                </a:endParaRPr>
              </a:p>
              <a:p>
                <a:pPr indent="0" lvl="0" marL="0" rtl="0" algn="l">
                  <a:spcBef>
                    <a:spcPts val="600"/>
                  </a:spcBef>
                  <a:spcAft>
                    <a:spcPts val="0"/>
                  </a:spcAft>
                  <a:buNone/>
                </a:pPr>
                <a:r>
                  <a:rPr b="0" lang="en" sz="1100">
                    <a:solidFill>
                      <a:srgbClr val="F3F6FB"/>
                    </a:solidFill>
                    <a:latin typeface="Inter"/>
                    <a:ea typeface="Inter"/>
                    <a:cs typeface="Inter"/>
                    <a:sym typeface="Inter"/>
                  </a:rPr>
                  <a:t>Action selection, manipulation, navigation, and monitoring</a:t>
                </a:r>
                <a:endParaRPr b="0" sz="1100">
                  <a:solidFill>
                    <a:srgbClr val="F3F6FB"/>
                  </a:solidFill>
                  <a:latin typeface="Inter"/>
                  <a:ea typeface="Inter"/>
                  <a:cs typeface="Inter"/>
                  <a:sym typeface="Inter"/>
                </a:endParaRPr>
              </a:p>
            </p:txBody>
          </p:sp>
        </p:grpSp>
      </p:grpSp>
      <p:grpSp>
        <p:nvGrpSpPr>
          <p:cNvPr id="250" name="Google Shape;250;p17"/>
          <p:cNvGrpSpPr/>
          <p:nvPr/>
        </p:nvGrpSpPr>
        <p:grpSpPr>
          <a:xfrm>
            <a:off x="381000" y="4191000"/>
            <a:ext cx="8382000" cy="571500"/>
            <a:chOff x="0" y="0"/>
            <a:chExt cx="8382000" cy="571500"/>
          </a:xfrm>
        </p:grpSpPr>
        <p:sp>
          <p:nvSpPr>
            <p:cNvPr id="251" name="Google Shape;251;p17"/>
            <p:cNvSpPr/>
            <p:nvPr/>
          </p:nvSpPr>
          <p:spPr>
            <a:xfrm>
              <a:off x="0" y="0"/>
              <a:ext cx="8382000" cy="571500"/>
            </a:xfrm>
            <a:prstGeom prst="roundRect">
              <a:avLst>
                <a:gd fmla="val 13333" name="adj"/>
              </a:avLst>
            </a:prstGeom>
            <a:solidFill>
              <a:srgbClr val="111827"/>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7"/>
            <p:cNvSpPr txBox="1"/>
            <p:nvPr/>
          </p:nvSpPr>
          <p:spPr>
            <a:xfrm>
              <a:off x="0" y="0"/>
              <a:ext cx="8382000" cy="571500"/>
            </a:xfrm>
            <a:prstGeom prst="rect">
              <a:avLst/>
            </a:prstGeom>
            <a:noFill/>
            <a:ln>
              <a:noFill/>
            </a:ln>
          </p:spPr>
          <p:txBody>
            <a:bodyPr anchorCtr="0" anchor="ctr" bIns="0" lIns="381000" spcFirstLastPara="1" rIns="381000" wrap="square" tIns="0">
              <a:noAutofit/>
            </a:bodyPr>
            <a:lstStyle/>
            <a:p>
              <a:pPr indent="0" lvl="0" marL="0" rtl="0" algn="ctr">
                <a:spcBef>
                  <a:spcPts val="0"/>
                </a:spcBef>
                <a:spcAft>
                  <a:spcPts val="0"/>
                </a:spcAft>
                <a:buNone/>
              </a:pPr>
              <a:r>
                <a:rPr b="1" lang="en" sz="1100">
                  <a:solidFill>
                    <a:srgbClr val="F3F6FB"/>
                  </a:solidFill>
                  <a:latin typeface="Inter"/>
                  <a:ea typeface="Inter"/>
                  <a:cs typeface="Inter"/>
                  <a:sym typeface="Inter"/>
                </a:rPr>
                <a:t>Segmentation is a cognitive interface: bad masks can become bad grasps, unsafe navigation, or broken object tracking.</a:t>
              </a:r>
              <a:endParaRPr b="1" sz="1100">
                <a:solidFill>
                  <a:srgbClr val="F3F6FB"/>
                </a:solidFill>
                <a:latin typeface="Inter"/>
                <a:ea typeface="Inter"/>
                <a:cs typeface="Inter"/>
                <a:sym typeface="Inter"/>
              </a:endParaRPr>
            </a:p>
          </p:txBody>
        </p:sp>
      </p:grpSp>
      <p:sp>
        <p:nvSpPr>
          <p:cNvPr id="253" name="Google Shape;253;p17"/>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Perception-to-action interpretation</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258" name="Shape 258"/>
        <p:cNvGrpSpPr/>
        <p:nvPr/>
      </p:nvGrpSpPr>
      <p:grpSpPr>
        <a:xfrm>
          <a:off x="0" y="0"/>
          <a:ext cx="0" cy="0"/>
          <a:chOff x="0" y="0"/>
          <a:chExt cx="0" cy="0"/>
        </a:xfrm>
      </p:grpSpPr>
      <p:cxnSp>
        <p:nvCxnSpPr>
          <p:cNvPr id="259" name="Google Shape;259;p18"/>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0" name="Google Shape;260;p18"/>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1" name="Google Shape;261;p18"/>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2" name="Google Shape;262;p18"/>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3" name="Google Shape;263;p18"/>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4" name="Google Shape;264;p18"/>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5" name="Google Shape;265;p18"/>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6" name="Google Shape;266;p18"/>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7" name="Google Shape;267;p18"/>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8" name="Google Shape;268;p18"/>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69" name="Google Shape;269;p18"/>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0" name="Google Shape;270;p18"/>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1" name="Google Shape;271;p18"/>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2" name="Google Shape;272;p18"/>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3" name="Google Shape;273;p18"/>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4" name="Google Shape;274;p18"/>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5" name="Google Shape;275;p18"/>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6" name="Google Shape;276;p18"/>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7" name="Google Shape;277;p18"/>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8" name="Google Shape;278;p18"/>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79" name="Google Shape;279;p18"/>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0" name="Google Shape;280;p18"/>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1" name="Google Shape;281;p18"/>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2" name="Google Shape;282;p18"/>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3" name="Google Shape;283;p18"/>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4" name="Google Shape;284;p18"/>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5" name="Google Shape;285;p18"/>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6" name="Google Shape;286;p18"/>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7" name="Google Shape;287;p18"/>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8" name="Google Shape;288;p18"/>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89" name="Google Shape;289;p18"/>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0" name="Google Shape;290;p18"/>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1" name="Google Shape;291;p18"/>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2" name="Google Shape;292;p18"/>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3" name="Google Shape;293;p18"/>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4" name="Google Shape;294;p18"/>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5" name="Google Shape;295;p18"/>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6" name="Google Shape;296;p18"/>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7" name="Google Shape;297;p18"/>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8" name="Google Shape;298;p18"/>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299" name="Google Shape;299;p18"/>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00" name="Google Shape;300;p18"/>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01" name="Google Shape;301;p18"/>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302" name="Google Shape;302;p18"/>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3" name="Google Shape;303;p18"/>
          <p:cNvSpPr/>
          <p:nvPr/>
        </p:nvSpPr>
        <p:spPr>
          <a:xfrm>
            <a:off x="381000" y="238125"/>
            <a:ext cx="8382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3F6FB"/>
                </a:solidFill>
                <a:latin typeface="Inter"/>
                <a:ea typeface="Inter"/>
                <a:cs typeface="Inter"/>
                <a:sym typeface="Inter"/>
              </a:rPr>
              <a:t>Research Problem: Robotic Scenes Are Visually Hostile</a:t>
            </a:r>
            <a:endParaRPr b="1" sz="2400">
              <a:solidFill>
                <a:srgbClr val="F3F6FB"/>
              </a:solidFill>
              <a:latin typeface="Inter"/>
              <a:ea typeface="Inter"/>
              <a:cs typeface="Inter"/>
              <a:sym typeface="Inter"/>
            </a:endParaRPr>
          </a:p>
        </p:txBody>
      </p:sp>
      <p:sp>
        <p:nvSpPr>
          <p:cNvPr id="304" name="Google Shape;304;p18"/>
          <p:cNvSpPr/>
          <p:nvPr/>
        </p:nvSpPr>
        <p:spPr>
          <a:xfrm>
            <a:off x="381000" y="619125"/>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1100">
                <a:solidFill>
                  <a:srgbClr val="55B6FF"/>
                </a:solidFill>
                <a:latin typeface="Inter"/>
                <a:ea typeface="Inter"/>
                <a:cs typeface="Inter"/>
                <a:sym typeface="Inter"/>
              </a:rPr>
              <a:t>Ordinary segmentation benchmarks understate embodied failure conditions.</a:t>
            </a:r>
            <a:endParaRPr b="0" i="1" sz="1100">
              <a:solidFill>
                <a:srgbClr val="55B6FF"/>
              </a:solidFill>
              <a:latin typeface="Inter"/>
              <a:ea typeface="Inter"/>
              <a:cs typeface="Inter"/>
              <a:sym typeface="Inter"/>
            </a:endParaRPr>
          </a:p>
        </p:txBody>
      </p:sp>
      <p:cxnSp>
        <p:nvCxnSpPr>
          <p:cNvPr id="305" name="Google Shape;305;p18"/>
          <p:cNvCxnSpPr/>
          <p:nvPr/>
        </p:nvCxnSpPr>
        <p:spPr>
          <a:xfrm>
            <a:off x="377200" y="843534"/>
            <a:ext cx="8367000" cy="0"/>
          </a:xfrm>
          <a:prstGeom prst="straightConnector1">
            <a:avLst/>
          </a:prstGeom>
          <a:noFill/>
          <a:ln cap="flat" cmpd="sng" w="10150">
            <a:solidFill>
              <a:srgbClr val="334155">
                <a:alpha val="85098"/>
              </a:srgbClr>
            </a:solidFill>
            <a:prstDash val="solid"/>
            <a:round/>
            <a:headEnd len="sm" w="sm" type="none"/>
            <a:tailEnd len="sm" w="sm" type="none"/>
          </a:ln>
        </p:spPr>
      </p:cxnSp>
      <p:grpSp>
        <p:nvGrpSpPr>
          <p:cNvPr id="306" name="Google Shape;306;p18"/>
          <p:cNvGrpSpPr/>
          <p:nvPr/>
        </p:nvGrpSpPr>
        <p:grpSpPr>
          <a:xfrm>
            <a:off x="381000" y="1047750"/>
            <a:ext cx="8372550" cy="3048150"/>
            <a:chOff x="381000" y="1047750"/>
            <a:chExt cx="8372550" cy="3048150"/>
          </a:xfrm>
        </p:grpSpPr>
        <p:grpSp>
          <p:nvGrpSpPr>
            <p:cNvPr id="307" name="Google Shape;307;p18"/>
            <p:cNvGrpSpPr/>
            <p:nvPr/>
          </p:nvGrpSpPr>
          <p:grpSpPr>
            <a:xfrm>
              <a:off x="381000" y="1047750"/>
              <a:ext cx="2600400" cy="1428900"/>
              <a:chOff x="0" y="0"/>
              <a:chExt cx="2600400" cy="1428900"/>
            </a:xfrm>
          </p:grpSpPr>
          <p:sp>
            <p:nvSpPr>
              <p:cNvPr id="308" name="Google Shape;308;p18"/>
              <p:cNvSpPr/>
              <p:nvPr/>
            </p:nvSpPr>
            <p:spPr>
              <a:xfrm>
                <a:off x="0" y="0"/>
                <a:ext cx="2600400" cy="1428900"/>
              </a:xfrm>
              <a:prstGeom prst="roundRect">
                <a:avLst>
                  <a:gd fmla="val 5333" name="adj"/>
                </a:avLst>
              </a:prstGeom>
              <a:solidFill>
                <a:srgbClr val="111827"/>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dataset image of several transparent drinking glasses and wine glasses on a tabletop in a cluttered kitchen setting, showcasing weak object boundaries." id="309" name="Google Shape;309;p18"/>
              <p:cNvPicPr preferRelativeResize="0"/>
              <p:nvPr/>
            </p:nvPicPr>
            <p:blipFill rotWithShape="1">
              <a:blip r:embed="rId3">
                <a:alphaModFix/>
              </a:blip>
              <a:srcRect b="3840" l="0" r="0" t="3849"/>
              <a:stretch/>
            </p:blipFill>
            <p:spPr>
              <a:xfrm>
                <a:off x="95250" y="142875"/>
                <a:ext cx="1238400" cy="1143000"/>
              </a:xfrm>
              <a:prstGeom prst="roundRect">
                <a:avLst>
                  <a:gd fmla="val 3333" name="adj"/>
                </a:avLst>
              </a:prstGeom>
              <a:noFill/>
              <a:ln>
                <a:noFill/>
              </a:ln>
            </p:spPr>
          </p:pic>
          <p:sp>
            <p:nvSpPr>
              <p:cNvPr id="310" name="Google Shape;310;p18"/>
              <p:cNvSpPr txBox="1"/>
              <p:nvPr/>
            </p:nvSpPr>
            <p:spPr>
              <a:xfrm>
                <a:off x="1428750" y="142875"/>
                <a:ext cx="107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9B5E"/>
                    </a:solidFill>
                    <a:latin typeface="Inter"/>
                    <a:ea typeface="Inter"/>
                    <a:cs typeface="Inter"/>
                    <a:sym typeface="Inter"/>
                  </a:rPr>
                  <a:t>Transparent glass</a:t>
                </a:r>
                <a:endParaRPr b="1" sz="1100">
                  <a:solidFill>
                    <a:srgbClr val="FF9B5E"/>
                  </a:solidFill>
                  <a:latin typeface="Inter"/>
                  <a:ea typeface="Inter"/>
                  <a:cs typeface="Inter"/>
                  <a:sym typeface="Inter"/>
                </a:endParaRPr>
              </a:p>
              <a:p>
                <a:pPr indent="0" lvl="0" marL="0" rtl="0" algn="l">
                  <a:spcBef>
                    <a:spcPts val="300"/>
                  </a:spcBef>
                  <a:spcAft>
                    <a:spcPts val="0"/>
                  </a:spcAft>
                  <a:buNone/>
                </a:pPr>
                <a:r>
                  <a:rPr b="0" lang="en" sz="900">
                    <a:solidFill>
                      <a:srgbClr val="F3F6FB"/>
                    </a:solidFill>
                    <a:latin typeface="Inter"/>
                    <a:ea typeface="Inter"/>
                    <a:cs typeface="Inter"/>
                    <a:sym typeface="Inter"/>
                  </a:rPr>
                  <a:t>Weak boundaries and background pass-through</a:t>
                </a:r>
                <a:endParaRPr b="0" sz="900">
                  <a:solidFill>
                    <a:srgbClr val="F3F6FB"/>
                  </a:solidFill>
                  <a:latin typeface="Inter"/>
                  <a:ea typeface="Inter"/>
                  <a:cs typeface="Inter"/>
                  <a:sym typeface="Inter"/>
                </a:endParaRPr>
              </a:p>
            </p:txBody>
          </p:sp>
        </p:grpSp>
        <p:grpSp>
          <p:nvGrpSpPr>
            <p:cNvPr id="311" name="Google Shape;311;p18"/>
            <p:cNvGrpSpPr/>
            <p:nvPr/>
          </p:nvGrpSpPr>
          <p:grpSpPr>
            <a:xfrm>
              <a:off x="3267075" y="1047750"/>
              <a:ext cx="2600400" cy="1428900"/>
              <a:chOff x="0" y="0"/>
              <a:chExt cx="2600400" cy="1428900"/>
            </a:xfrm>
          </p:grpSpPr>
          <p:sp>
            <p:nvSpPr>
              <p:cNvPr id="312" name="Google Shape;312;p18"/>
              <p:cNvSpPr/>
              <p:nvPr/>
            </p:nvSpPr>
            <p:spPr>
              <a:xfrm>
                <a:off x="0" y="0"/>
                <a:ext cx="2600400" cy="1428900"/>
              </a:xfrm>
              <a:prstGeom prst="roundRect">
                <a:avLst>
                  <a:gd fmla="val 5333" name="adj"/>
                </a:avLst>
              </a:prstGeom>
              <a:solidFill>
                <a:srgbClr val="111827"/>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lose-up photograph of a highly reflective metallic robot arm and polished steel objects with bright specular highlights and complex reflections." id="313" name="Google Shape;313;p18"/>
              <p:cNvPicPr preferRelativeResize="0"/>
              <p:nvPr/>
            </p:nvPicPr>
            <p:blipFill rotWithShape="1">
              <a:blip r:embed="rId4">
                <a:alphaModFix/>
              </a:blip>
              <a:srcRect b="3840" l="0" r="0" t="3849"/>
              <a:stretch/>
            </p:blipFill>
            <p:spPr>
              <a:xfrm>
                <a:off x="95250" y="142875"/>
                <a:ext cx="1238400" cy="1143000"/>
              </a:xfrm>
              <a:prstGeom prst="roundRect">
                <a:avLst>
                  <a:gd fmla="val 3333" name="adj"/>
                </a:avLst>
              </a:prstGeom>
              <a:noFill/>
              <a:ln>
                <a:noFill/>
              </a:ln>
            </p:spPr>
          </p:pic>
          <p:sp>
            <p:nvSpPr>
              <p:cNvPr id="314" name="Google Shape;314;p18"/>
              <p:cNvSpPr txBox="1"/>
              <p:nvPr/>
            </p:nvSpPr>
            <p:spPr>
              <a:xfrm>
                <a:off x="1428750" y="142875"/>
                <a:ext cx="107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55B6FF"/>
                    </a:solidFill>
                    <a:latin typeface="Inter"/>
                    <a:ea typeface="Inter"/>
                    <a:cs typeface="Inter"/>
                    <a:sym typeface="Inter"/>
                  </a:rPr>
                  <a:t>Reflective materials</a:t>
                </a:r>
                <a:endParaRPr b="1" sz="1100">
                  <a:solidFill>
                    <a:srgbClr val="55B6FF"/>
                  </a:solidFill>
                  <a:latin typeface="Inter"/>
                  <a:ea typeface="Inter"/>
                  <a:cs typeface="Inter"/>
                  <a:sym typeface="Inter"/>
                </a:endParaRPr>
              </a:p>
              <a:p>
                <a:pPr indent="0" lvl="0" marL="0" rtl="0" algn="l">
                  <a:spcBef>
                    <a:spcPts val="300"/>
                  </a:spcBef>
                  <a:spcAft>
                    <a:spcPts val="0"/>
                  </a:spcAft>
                  <a:buNone/>
                </a:pPr>
                <a:r>
                  <a:rPr b="0" lang="en" sz="900">
                    <a:solidFill>
                      <a:srgbClr val="F3F6FB"/>
                    </a:solidFill>
                    <a:latin typeface="Inter"/>
                    <a:ea typeface="Inter"/>
                    <a:cs typeface="Inter"/>
                    <a:sym typeface="Inter"/>
                  </a:rPr>
                  <a:t>Specular highlights confuse edge cues</a:t>
                </a:r>
                <a:endParaRPr b="0" sz="900">
                  <a:solidFill>
                    <a:srgbClr val="F3F6FB"/>
                  </a:solidFill>
                  <a:latin typeface="Inter"/>
                  <a:ea typeface="Inter"/>
                  <a:cs typeface="Inter"/>
                  <a:sym typeface="Inter"/>
                </a:endParaRPr>
              </a:p>
            </p:txBody>
          </p:sp>
        </p:grpSp>
        <p:grpSp>
          <p:nvGrpSpPr>
            <p:cNvPr id="315" name="Google Shape;315;p18"/>
            <p:cNvGrpSpPr/>
            <p:nvPr/>
          </p:nvGrpSpPr>
          <p:grpSpPr>
            <a:xfrm>
              <a:off x="6153150" y="1047750"/>
              <a:ext cx="2600400" cy="1428900"/>
              <a:chOff x="0" y="0"/>
              <a:chExt cx="2600400" cy="1428900"/>
            </a:xfrm>
          </p:grpSpPr>
          <p:sp>
            <p:nvSpPr>
              <p:cNvPr id="316" name="Google Shape;316;p18"/>
              <p:cNvSpPr/>
              <p:nvPr/>
            </p:nvSpPr>
            <p:spPr>
              <a:xfrm>
                <a:off x="0" y="0"/>
                <a:ext cx="2600400" cy="1428900"/>
              </a:xfrm>
              <a:prstGeom prst="roundRect">
                <a:avLst>
                  <a:gd fmla="val 5333" name="adj"/>
                </a:avLst>
              </a:prstGeom>
              <a:solidFill>
                <a:srgbClr val="111827"/>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n RGB-D dataset scene showing extreme object clutter on a floor with dozens of overlapping toys, boxes, and household items packed tightly together." id="317" name="Google Shape;317;p18"/>
              <p:cNvPicPr preferRelativeResize="0"/>
              <p:nvPr/>
            </p:nvPicPr>
            <p:blipFill rotWithShape="1">
              <a:blip r:embed="rId5">
                <a:alphaModFix/>
              </a:blip>
              <a:srcRect b="3840" l="0" r="0" t="3849"/>
              <a:stretch/>
            </p:blipFill>
            <p:spPr>
              <a:xfrm>
                <a:off x="95250" y="142875"/>
                <a:ext cx="1238400" cy="1143000"/>
              </a:xfrm>
              <a:prstGeom prst="roundRect">
                <a:avLst>
                  <a:gd fmla="val 3333" name="adj"/>
                </a:avLst>
              </a:prstGeom>
              <a:noFill/>
              <a:ln>
                <a:noFill/>
              </a:ln>
            </p:spPr>
          </p:pic>
          <p:sp>
            <p:nvSpPr>
              <p:cNvPr id="318" name="Google Shape;318;p18"/>
              <p:cNvSpPr txBox="1"/>
              <p:nvPr/>
            </p:nvSpPr>
            <p:spPr>
              <a:xfrm>
                <a:off x="1428750" y="142875"/>
                <a:ext cx="107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FD1C5"/>
                    </a:solidFill>
                    <a:latin typeface="Inter"/>
                    <a:ea typeface="Inter"/>
                    <a:cs typeface="Inter"/>
                    <a:sym typeface="Inter"/>
                  </a:rPr>
                  <a:t>Dense clutter</a:t>
                </a:r>
                <a:endParaRPr b="1" sz="1100">
                  <a:solidFill>
                    <a:srgbClr val="4FD1C5"/>
                  </a:solidFill>
                  <a:latin typeface="Inter"/>
                  <a:ea typeface="Inter"/>
                  <a:cs typeface="Inter"/>
                  <a:sym typeface="Inter"/>
                </a:endParaRPr>
              </a:p>
              <a:p>
                <a:pPr indent="0" lvl="0" marL="0" rtl="0" algn="l">
                  <a:spcBef>
                    <a:spcPts val="300"/>
                  </a:spcBef>
                  <a:spcAft>
                    <a:spcPts val="0"/>
                  </a:spcAft>
                  <a:buNone/>
                </a:pPr>
                <a:r>
                  <a:rPr b="0" lang="en" sz="900">
                    <a:solidFill>
                      <a:srgbClr val="F3F6FB"/>
                    </a:solidFill>
                    <a:latin typeface="Inter"/>
                    <a:ea typeface="Inter"/>
                    <a:cs typeface="Inter"/>
                    <a:sym typeface="Inter"/>
                  </a:rPr>
                  <a:t>Object merging and over-segmentation</a:t>
                </a:r>
                <a:endParaRPr b="0" sz="900">
                  <a:solidFill>
                    <a:srgbClr val="F3F6FB"/>
                  </a:solidFill>
                  <a:latin typeface="Inter"/>
                  <a:ea typeface="Inter"/>
                  <a:cs typeface="Inter"/>
                  <a:sym typeface="Inter"/>
                </a:endParaRPr>
              </a:p>
            </p:txBody>
          </p:sp>
        </p:grpSp>
        <p:grpSp>
          <p:nvGrpSpPr>
            <p:cNvPr id="319" name="Google Shape;319;p18"/>
            <p:cNvGrpSpPr/>
            <p:nvPr/>
          </p:nvGrpSpPr>
          <p:grpSpPr>
            <a:xfrm>
              <a:off x="381000" y="2667000"/>
              <a:ext cx="2600400" cy="1428900"/>
              <a:chOff x="0" y="0"/>
              <a:chExt cx="2600400" cy="1428900"/>
            </a:xfrm>
          </p:grpSpPr>
          <p:sp>
            <p:nvSpPr>
              <p:cNvPr id="320" name="Google Shape;320;p18"/>
              <p:cNvSpPr/>
              <p:nvPr/>
            </p:nvSpPr>
            <p:spPr>
              <a:xfrm>
                <a:off x="0" y="0"/>
                <a:ext cx="2600400" cy="1428900"/>
              </a:xfrm>
              <a:prstGeom prst="roundRect">
                <a:avLst>
                  <a:gd fmla="val 5333" name="adj"/>
                </a:avLst>
              </a:prstGeom>
              <a:solidFill>
                <a:srgbClr val="111827"/>
              </a:solidFill>
              <a:ln cap="flat" cmpd="sng" w="1430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top-down view of tiny electronic components, small screws, and thin wires on a workbench, showing extremely small perception targets." id="321" name="Google Shape;321;p18"/>
              <p:cNvPicPr preferRelativeResize="0"/>
              <p:nvPr/>
            </p:nvPicPr>
            <p:blipFill rotWithShape="1">
              <a:blip r:embed="rId6">
                <a:alphaModFix/>
              </a:blip>
              <a:srcRect b="3840" l="0" r="0" t="3849"/>
              <a:stretch/>
            </p:blipFill>
            <p:spPr>
              <a:xfrm>
                <a:off x="95250" y="142875"/>
                <a:ext cx="1238400" cy="1143000"/>
              </a:xfrm>
              <a:prstGeom prst="roundRect">
                <a:avLst>
                  <a:gd fmla="val 3333" name="adj"/>
                </a:avLst>
              </a:prstGeom>
              <a:noFill/>
              <a:ln>
                <a:noFill/>
              </a:ln>
            </p:spPr>
          </p:pic>
          <p:sp>
            <p:nvSpPr>
              <p:cNvPr id="322" name="Google Shape;322;p18"/>
              <p:cNvSpPr txBox="1"/>
              <p:nvPr/>
            </p:nvSpPr>
            <p:spPr>
              <a:xfrm>
                <a:off x="1428750" y="142875"/>
                <a:ext cx="107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472B6"/>
                    </a:solidFill>
                    <a:latin typeface="Inter"/>
                    <a:ea typeface="Inter"/>
                    <a:cs typeface="Inter"/>
                    <a:sym typeface="Inter"/>
                  </a:rPr>
                  <a:t>Small parts</a:t>
                </a:r>
                <a:endParaRPr b="1" sz="1100">
                  <a:solidFill>
                    <a:srgbClr val="F472B6"/>
                  </a:solidFill>
                  <a:latin typeface="Inter"/>
                  <a:ea typeface="Inter"/>
                  <a:cs typeface="Inter"/>
                  <a:sym typeface="Inter"/>
                </a:endParaRPr>
              </a:p>
              <a:p>
                <a:pPr indent="0" lvl="0" marL="0" rtl="0" algn="l">
                  <a:spcBef>
                    <a:spcPts val="300"/>
                  </a:spcBef>
                  <a:spcAft>
                    <a:spcPts val="0"/>
                  </a:spcAft>
                  <a:buNone/>
                </a:pPr>
                <a:r>
                  <a:rPr b="0" lang="en" sz="900">
                    <a:solidFill>
                      <a:srgbClr val="F3F6FB"/>
                    </a:solidFill>
                    <a:latin typeface="Inter"/>
                    <a:ea typeface="Inter"/>
                    <a:cs typeface="Inter"/>
                    <a:sym typeface="Inter"/>
                  </a:rPr>
                  <a:t>Tiny targets are easily missed</a:t>
                </a:r>
                <a:endParaRPr b="0" sz="900">
                  <a:solidFill>
                    <a:srgbClr val="F3F6FB"/>
                  </a:solidFill>
                  <a:latin typeface="Inter"/>
                  <a:ea typeface="Inter"/>
                  <a:cs typeface="Inter"/>
                  <a:sym typeface="Inter"/>
                </a:endParaRPr>
              </a:p>
            </p:txBody>
          </p:sp>
        </p:grpSp>
        <p:grpSp>
          <p:nvGrpSpPr>
            <p:cNvPr id="323" name="Google Shape;323;p18"/>
            <p:cNvGrpSpPr/>
            <p:nvPr/>
          </p:nvGrpSpPr>
          <p:grpSpPr>
            <a:xfrm>
              <a:off x="3267075" y="2667000"/>
              <a:ext cx="2600400" cy="1428900"/>
              <a:chOff x="0" y="0"/>
              <a:chExt cx="2600400" cy="1428900"/>
            </a:xfrm>
          </p:grpSpPr>
          <p:sp>
            <p:nvSpPr>
              <p:cNvPr id="324" name="Google Shape;324;p18"/>
              <p:cNvSpPr/>
              <p:nvPr/>
            </p:nvSpPr>
            <p:spPr>
              <a:xfrm>
                <a:off x="0" y="0"/>
                <a:ext cx="2600400" cy="1428900"/>
              </a:xfrm>
              <a:prstGeom prst="roundRect">
                <a:avLst>
                  <a:gd fmla="val 5333" name="adj"/>
                </a:avLst>
              </a:prstGeom>
              <a:solidFill>
                <a:srgbClr val="111827"/>
              </a:solidFill>
              <a:ln cap="flat" cmpd="sng" w="14300">
                <a:solidFill>
                  <a:srgbClr val="4ADE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first-person view from a robot camera where the robot's own mechanical arm and grippers are visible in the foreground, obstructing the scene." id="325" name="Google Shape;325;p18"/>
              <p:cNvPicPr preferRelativeResize="0"/>
              <p:nvPr/>
            </p:nvPicPr>
            <p:blipFill rotWithShape="1">
              <a:blip r:embed="rId7">
                <a:alphaModFix/>
              </a:blip>
              <a:srcRect b="3840" l="0" r="0" t="3849"/>
              <a:stretch/>
            </p:blipFill>
            <p:spPr>
              <a:xfrm>
                <a:off x="95250" y="142875"/>
                <a:ext cx="1238400" cy="1143000"/>
              </a:xfrm>
              <a:prstGeom prst="roundRect">
                <a:avLst>
                  <a:gd fmla="val 3333" name="adj"/>
                </a:avLst>
              </a:prstGeom>
              <a:noFill/>
              <a:ln>
                <a:noFill/>
              </a:ln>
            </p:spPr>
          </p:pic>
          <p:sp>
            <p:nvSpPr>
              <p:cNvPr id="326" name="Google Shape;326;p18"/>
              <p:cNvSpPr txBox="1"/>
              <p:nvPr/>
            </p:nvSpPr>
            <p:spPr>
              <a:xfrm>
                <a:off x="1428750" y="142875"/>
                <a:ext cx="107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ADE80"/>
                    </a:solidFill>
                    <a:latin typeface="Inter"/>
                    <a:ea typeface="Inter"/>
                    <a:cs typeface="Inter"/>
                    <a:sym typeface="Inter"/>
                  </a:rPr>
                  <a:t>Robot visibility</a:t>
                </a:r>
                <a:endParaRPr b="1" sz="1100">
                  <a:solidFill>
                    <a:srgbClr val="4ADE80"/>
                  </a:solidFill>
                  <a:latin typeface="Inter"/>
                  <a:ea typeface="Inter"/>
                  <a:cs typeface="Inter"/>
                  <a:sym typeface="Inter"/>
                </a:endParaRPr>
              </a:p>
              <a:p>
                <a:pPr indent="0" lvl="0" marL="0" rtl="0" algn="l">
                  <a:spcBef>
                    <a:spcPts val="300"/>
                  </a:spcBef>
                  <a:spcAft>
                    <a:spcPts val="0"/>
                  </a:spcAft>
                  <a:buNone/>
                </a:pPr>
                <a:r>
                  <a:rPr b="0" lang="en" sz="900">
                    <a:solidFill>
                      <a:srgbClr val="F3F6FB"/>
                    </a:solidFill>
                    <a:latin typeface="Inter"/>
                    <a:ea typeface="Inter"/>
                    <a:cs typeface="Inter"/>
                    <a:sym typeface="Inter"/>
                  </a:rPr>
                  <a:t>Self-robot pixels create false positives</a:t>
                </a:r>
                <a:endParaRPr b="0" sz="900">
                  <a:solidFill>
                    <a:srgbClr val="F3F6FB"/>
                  </a:solidFill>
                  <a:latin typeface="Inter"/>
                  <a:ea typeface="Inter"/>
                  <a:cs typeface="Inter"/>
                  <a:sym typeface="Inter"/>
                </a:endParaRPr>
              </a:p>
            </p:txBody>
          </p:sp>
        </p:grpSp>
        <p:grpSp>
          <p:nvGrpSpPr>
            <p:cNvPr id="327" name="Google Shape;327;p18"/>
            <p:cNvGrpSpPr/>
            <p:nvPr/>
          </p:nvGrpSpPr>
          <p:grpSpPr>
            <a:xfrm>
              <a:off x="6153150" y="2667000"/>
              <a:ext cx="2600400" cy="1428900"/>
              <a:chOff x="0" y="0"/>
              <a:chExt cx="2600400" cy="1428900"/>
            </a:xfrm>
          </p:grpSpPr>
          <p:sp>
            <p:nvSpPr>
              <p:cNvPr id="328" name="Google Shape;328;p18"/>
              <p:cNvSpPr/>
              <p:nvPr/>
            </p:nvSpPr>
            <p:spPr>
              <a:xfrm>
                <a:off x="0" y="0"/>
                <a:ext cx="2600400" cy="1428900"/>
              </a:xfrm>
              <a:prstGeom prst="roundRect">
                <a:avLst>
                  <a:gd fmla="val 5333" name="adj"/>
                </a:avLst>
              </a:prstGeom>
              <a:solidFill>
                <a:srgbClr val="111827"/>
              </a:solidFill>
              <a:ln cap="flat" cmpd="sng" w="14300">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scene where a target object like a mug is partially hidden behind a large box, showing only a fragment of the object and an incomplete mask." id="329" name="Google Shape;329;p18"/>
              <p:cNvPicPr preferRelativeResize="0"/>
              <p:nvPr/>
            </p:nvPicPr>
            <p:blipFill rotWithShape="1">
              <a:blip r:embed="rId8">
                <a:alphaModFix/>
              </a:blip>
              <a:srcRect b="3840" l="0" r="0" t="3849"/>
              <a:stretch/>
            </p:blipFill>
            <p:spPr>
              <a:xfrm>
                <a:off x="95250" y="142875"/>
                <a:ext cx="1238400" cy="1143000"/>
              </a:xfrm>
              <a:prstGeom prst="roundRect">
                <a:avLst>
                  <a:gd fmla="val 3333" name="adj"/>
                </a:avLst>
              </a:prstGeom>
              <a:noFill/>
              <a:ln>
                <a:noFill/>
              </a:ln>
            </p:spPr>
          </p:pic>
          <p:sp>
            <p:nvSpPr>
              <p:cNvPr id="330" name="Google Shape;330;p18"/>
              <p:cNvSpPr txBox="1"/>
              <p:nvPr/>
            </p:nvSpPr>
            <p:spPr>
              <a:xfrm>
                <a:off x="1428750" y="142875"/>
                <a:ext cx="1076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87171"/>
                    </a:solidFill>
                    <a:latin typeface="Inter"/>
                    <a:ea typeface="Inter"/>
                    <a:cs typeface="Inter"/>
                    <a:sym typeface="Inter"/>
                  </a:rPr>
                  <a:t>Occlusion gap</a:t>
                </a:r>
                <a:endParaRPr b="1" sz="1100">
                  <a:solidFill>
                    <a:srgbClr val="F87171"/>
                  </a:solidFill>
                  <a:latin typeface="Inter"/>
                  <a:ea typeface="Inter"/>
                  <a:cs typeface="Inter"/>
                  <a:sym typeface="Inter"/>
                </a:endParaRPr>
              </a:p>
              <a:p>
                <a:pPr indent="0" lvl="0" marL="0" rtl="0" algn="l">
                  <a:spcBef>
                    <a:spcPts val="300"/>
                  </a:spcBef>
                  <a:spcAft>
                    <a:spcPts val="0"/>
                  </a:spcAft>
                  <a:buNone/>
                </a:pPr>
                <a:r>
                  <a:rPr b="0" lang="en" sz="900">
                    <a:solidFill>
                      <a:srgbClr val="F3F6FB"/>
                    </a:solidFill>
                    <a:latin typeface="Inter"/>
                    <a:ea typeface="Inter"/>
                    <a:cs typeface="Inter"/>
                    <a:sym typeface="Inter"/>
                  </a:rPr>
                  <a:t>Incomplete masks under occlusion</a:t>
                </a:r>
                <a:endParaRPr b="0" sz="900">
                  <a:solidFill>
                    <a:srgbClr val="F3F6FB"/>
                  </a:solidFill>
                  <a:latin typeface="Inter"/>
                  <a:ea typeface="Inter"/>
                  <a:cs typeface="Inter"/>
                  <a:sym typeface="Inter"/>
                </a:endParaRPr>
              </a:p>
            </p:txBody>
          </p:sp>
        </p:grpSp>
      </p:grpSp>
      <p:sp>
        <p:nvSpPr>
          <p:cNvPr id="331" name="Google Shape;331;p18"/>
          <p:cNvSpPr/>
          <p:nvPr/>
        </p:nvSpPr>
        <p:spPr>
          <a:xfrm>
            <a:off x="480073" y="4389120"/>
            <a:ext cx="8195400" cy="493800"/>
          </a:xfrm>
          <a:prstGeom prst="roundRect">
            <a:avLst>
              <a:gd fmla="val 8333" name="adj"/>
            </a:avLst>
          </a:prstGeom>
          <a:solidFill>
            <a:srgbClr val="111827"/>
          </a:solidFill>
          <a:ln cap="flat" cmpd="sng" w="10150">
            <a:solidFill>
              <a:srgbClr val="FF9B5E">
                <a:alpha val="87843"/>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2" name="Google Shape;332;p18"/>
          <p:cNvSpPr/>
          <p:nvPr/>
        </p:nvSpPr>
        <p:spPr>
          <a:xfrm>
            <a:off x="651527" y="4505706"/>
            <a:ext cx="78525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F6FB"/>
              </a:buClr>
              <a:buSzPts val="800"/>
              <a:buFont typeface="Inter"/>
              <a:buNone/>
            </a:pPr>
            <a:r>
              <a:rPr b="1" i="0" lang="en" sz="800" u="none" cap="none" strike="noStrike">
                <a:solidFill>
                  <a:srgbClr val="F3F6FB"/>
                </a:solidFill>
                <a:latin typeface="Inter"/>
                <a:ea typeface="Inter"/>
                <a:cs typeface="Inter"/>
                <a:sym typeface="Inter"/>
              </a:rPr>
              <a:t>The benchmark stresses transparent, reflective, occluded, small, dynamic, robot-centered, and cluttered conditions.</a:t>
            </a:r>
            <a:endParaRPr b="0" i="0" sz="800" u="none" cap="none" strike="noStrike">
              <a:solidFill>
                <a:schemeClr val="dk1"/>
              </a:solidFill>
              <a:latin typeface="Inter"/>
              <a:ea typeface="Inter"/>
              <a:cs typeface="Inter"/>
              <a:sym typeface="Inter"/>
            </a:endParaRPr>
          </a:p>
        </p:txBody>
      </p:sp>
      <p:sp>
        <p:nvSpPr>
          <p:cNvPr id="333" name="Google Shape;333;p18"/>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Robotic challenge groups</a:t>
            </a:r>
            <a:endParaRPr b="0" i="0" sz="500" u="none" cap="none" strike="noStrike">
              <a:solidFill>
                <a:schemeClr val="dk1"/>
              </a:solidFill>
              <a:latin typeface="Inter"/>
              <a:ea typeface="Inter"/>
              <a:cs typeface="Inter"/>
              <a:sym typeface="Inter"/>
            </a:endParaRPr>
          </a:p>
        </p:txBody>
      </p:sp>
      <p:sp>
        <p:nvSpPr>
          <p:cNvPr id="334" name="Google Shape;334;p18"/>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Project failure assets + source visual examples</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339" name="Shape 339"/>
        <p:cNvGrpSpPr/>
        <p:nvPr/>
      </p:nvGrpSpPr>
      <p:grpSpPr>
        <a:xfrm>
          <a:off x="0" y="0"/>
          <a:ext cx="0" cy="0"/>
          <a:chOff x="0" y="0"/>
          <a:chExt cx="0" cy="0"/>
        </a:xfrm>
      </p:grpSpPr>
      <p:cxnSp>
        <p:nvCxnSpPr>
          <p:cNvPr id="340" name="Google Shape;340;p19"/>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1" name="Google Shape;341;p19"/>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2" name="Google Shape;342;p19"/>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3" name="Google Shape;343;p19"/>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4" name="Google Shape;344;p19"/>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5" name="Google Shape;345;p19"/>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6" name="Google Shape;346;p19"/>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7" name="Google Shape;347;p19"/>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8" name="Google Shape;348;p19"/>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49" name="Google Shape;349;p19"/>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0" name="Google Shape;350;p19"/>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1" name="Google Shape;351;p19"/>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2" name="Google Shape;352;p19"/>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3" name="Google Shape;353;p19"/>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4" name="Google Shape;354;p19"/>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5" name="Google Shape;355;p19"/>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6" name="Google Shape;356;p19"/>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7" name="Google Shape;357;p19"/>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8" name="Google Shape;358;p19"/>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59" name="Google Shape;359;p19"/>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0" name="Google Shape;360;p19"/>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1" name="Google Shape;361;p19"/>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2" name="Google Shape;362;p19"/>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3" name="Google Shape;363;p19"/>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4" name="Google Shape;364;p19"/>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5" name="Google Shape;365;p19"/>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6" name="Google Shape;366;p19"/>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7" name="Google Shape;367;p19"/>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8" name="Google Shape;368;p19"/>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69" name="Google Shape;369;p19"/>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0" name="Google Shape;370;p19"/>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1" name="Google Shape;371;p19"/>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2" name="Google Shape;372;p19"/>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3" name="Google Shape;373;p19"/>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4" name="Google Shape;374;p19"/>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5" name="Google Shape;375;p19"/>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6" name="Google Shape;376;p19"/>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7" name="Google Shape;377;p19"/>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8" name="Google Shape;378;p19"/>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79" name="Google Shape;379;p19"/>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80" name="Google Shape;380;p19"/>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81" name="Google Shape;381;p19"/>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382" name="Google Shape;382;p19"/>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383" name="Google Shape;383;p19"/>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384" name="Google Shape;384;p19"/>
          <p:cNvCxnSpPr/>
          <p:nvPr/>
        </p:nvCxnSpPr>
        <p:spPr>
          <a:xfrm>
            <a:off x="377200" y="843534"/>
            <a:ext cx="8367000" cy="0"/>
          </a:xfrm>
          <a:prstGeom prst="straightConnector1">
            <a:avLst/>
          </a:prstGeom>
          <a:noFill/>
          <a:ln cap="flat" cmpd="sng" w="10150">
            <a:solidFill>
              <a:srgbClr val="334155">
                <a:alpha val="85098"/>
              </a:srgbClr>
            </a:solidFill>
            <a:prstDash val="solid"/>
            <a:round/>
            <a:headEnd len="sm" w="sm" type="none"/>
            <a:tailEnd len="sm" w="sm" type="none"/>
          </a:ln>
        </p:spPr>
      </p:cxnSp>
      <p:grpSp>
        <p:nvGrpSpPr>
          <p:cNvPr id="385" name="Google Shape;385;p19"/>
          <p:cNvGrpSpPr/>
          <p:nvPr/>
        </p:nvGrpSpPr>
        <p:grpSpPr>
          <a:xfrm>
            <a:off x="381000" y="1238250"/>
            <a:ext cx="8382000" cy="2476500"/>
            <a:chOff x="381000" y="1238250"/>
            <a:chExt cx="8382000" cy="2476500"/>
          </a:xfrm>
        </p:grpSpPr>
        <p:sp>
          <p:nvSpPr>
            <p:cNvPr id="386" name="Google Shape;386;p19"/>
            <p:cNvSpPr/>
            <p:nvPr/>
          </p:nvSpPr>
          <p:spPr>
            <a:xfrm>
              <a:off x="381000" y="1238250"/>
              <a:ext cx="2476500" cy="2476500"/>
            </a:xfrm>
            <a:prstGeom prst="roundRect">
              <a:avLst>
                <a:gd fmla="val 4615" name="adj"/>
              </a:avLst>
            </a:prstGeom>
            <a:solidFill>
              <a:srgbClr val="111827"/>
            </a:solidFill>
            <a:ln cap="flat" cmpd="sng" w="1430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19"/>
            <p:cNvSpPr txBox="1"/>
            <p:nvPr/>
          </p:nvSpPr>
          <p:spPr>
            <a:xfrm>
              <a:off x="381000" y="1238250"/>
              <a:ext cx="2476500" cy="2476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400">
                  <a:solidFill>
                    <a:srgbClr val="F472B6"/>
                  </a:solidFill>
                  <a:latin typeface="Inter"/>
                  <a:ea typeface="Inter"/>
                  <a:cs typeface="Inter"/>
                  <a:sym typeface="Inter"/>
                </a:rPr>
                <a:t>Classical / Supervised</a:t>
              </a:r>
              <a:endParaRPr b="1" sz="1400">
                <a:solidFill>
                  <a:srgbClr val="F472B6"/>
                </a:solidFill>
                <a:latin typeface="Inter"/>
                <a:ea typeface="Inter"/>
                <a:cs typeface="Inter"/>
                <a:sym typeface="Inter"/>
              </a:endParaRPr>
            </a:p>
            <a:p>
              <a:pPr indent="0" lvl="0" marL="0" rtl="0" algn="l">
                <a:spcBef>
                  <a:spcPts val="750"/>
                </a:spcBef>
                <a:spcAft>
                  <a:spcPts val="0"/>
                </a:spcAft>
                <a:buNone/>
              </a:pPr>
              <a:r>
                <a:rPr lang="en" sz="1000">
                  <a:solidFill>
                    <a:srgbClr val="94A3B8"/>
                  </a:solidFill>
                  <a:latin typeface="Inter"/>
                  <a:ea typeface="Inter"/>
                  <a:cs typeface="Inter"/>
                  <a:sym typeface="Inter"/>
                </a:rPr>
                <a:t>Task-specific training on labeled data</a:t>
              </a:r>
              <a:endParaRPr sz="1000">
                <a:solidFill>
                  <a:srgbClr val="94A3B8"/>
                </a:solidFill>
                <a:latin typeface="Inter"/>
                <a:ea typeface="Inter"/>
                <a:cs typeface="Inter"/>
                <a:sym typeface="Inter"/>
              </a:endParaRPr>
            </a:p>
            <a:p>
              <a:pPr indent="-298450" lvl="0" marL="457200" rtl="0" algn="l">
                <a:spcBef>
                  <a:spcPts val="1125"/>
                </a:spcBef>
                <a:spcAft>
                  <a:spcPts val="0"/>
                </a:spcAft>
                <a:buClr>
                  <a:srgbClr val="F3F6FB"/>
                </a:buClr>
                <a:buSzPts val="1100"/>
                <a:buFont typeface="Inter"/>
                <a:buChar char="●"/>
              </a:pPr>
              <a:r>
                <a:rPr lang="en" sz="1100">
                  <a:solidFill>
                    <a:srgbClr val="F3F6FB"/>
                  </a:solidFill>
                  <a:latin typeface="Inter"/>
                  <a:ea typeface="Inter"/>
                  <a:cs typeface="Inter"/>
                  <a:sym typeface="Inter"/>
                </a:rPr>
                <a:t>Mask R-CNN</a:t>
              </a:r>
              <a:endParaRPr sz="1100">
                <a:solidFill>
                  <a:srgbClr val="F3F6FB"/>
                </a:solidFill>
                <a:latin typeface="Inter"/>
                <a:ea typeface="Inter"/>
                <a:cs typeface="Inter"/>
                <a:sym typeface="Inter"/>
              </a:endParaRPr>
            </a:p>
            <a:p>
              <a:pPr indent="-298450" lvl="0" marL="457200" rtl="0" algn="l">
                <a:spcBef>
                  <a:spcPts val="600"/>
                </a:spcBef>
                <a:spcAft>
                  <a:spcPts val="0"/>
                </a:spcAft>
                <a:buClr>
                  <a:srgbClr val="F3F6FB"/>
                </a:buClr>
                <a:buSzPts val="1100"/>
                <a:buFont typeface="Inter"/>
                <a:buChar char="●"/>
              </a:pPr>
              <a:r>
                <a:rPr lang="en" sz="1100">
                  <a:solidFill>
                    <a:srgbClr val="F3F6FB"/>
                  </a:solidFill>
                  <a:latin typeface="Inter"/>
                  <a:ea typeface="Inter"/>
                  <a:cs typeface="Inter"/>
                  <a:sym typeface="Inter"/>
                </a:rPr>
                <a:t>DeepLabV3+</a:t>
              </a:r>
              <a:endParaRPr sz="1100">
                <a:solidFill>
                  <a:srgbClr val="F3F6FB"/>
                </a:solidFill>
                <a:latin typeface="Inter"/>
                <a:ea typeface="Inter"/>
                <a:cs typeface="Inter"/>
                <a:sym typeface="Inter"/>
              </a:endParaRPr>
            </a:p>
            <a:p>
              <a:pPr indent="-298450" lvl="0" marL="457200" rtl="0" algn="l">
                <a:spcBef>
                  <a:spcPts val="600"/>
                </a:spcBef>
                <a:spcAft>
                  <a:spcPts val="0"/>
                </a:spcAft>
                <a:buClr>
                  <a:srgbClr val="F3F6FB"/>
                </a:buClr>
                <a:buSzPts val="1100"/>
                <a:buFont typeface="Inter"/>
                <a:buChar char="●"/>
              </a:pPr>
              <a:r>
                <a:rPr lang="en" sz="1100">
                  <a:solidFill>
                    <a:srgbClr val="F3F6FB"/>
                  </a:solidFill>
                  <a:latin typeface="Inter"/>
                  <a:ea typeface="Inter"/>
                  <a:cs typeface="Inter"/>
                  <a:sym typeface="Inter"/>
                </a:rPr>
                <a:t>YOLOv8-seg</a:t>
              </a:r>
              <a:endParaRPr sz="1100">
                <a:solidFill>
                  <a:srgbClr val="F3F6FB"/>
                </a:solidFill>
                <a:latin typeface="Inter"/>
                <a:ea typeface="Inter"/>
                <a:cs typeface="Inter"/>
                <a:sym typeface="Inter"/>
              </a:endParaRPr>
            </a:p>
          </p:txBody>
        </p:sp>
        <p:sp>
          <p:nvSpPr>
            <p:cNvPr id="388" name="Google Shape;388;p19"/>
            <p:cNvSpPr/>
            <p:nvPr/>
          </p:nvSpPr>
          <p:spPr>
            <a:xfrm>
              <a:off x="3000375" y="2419350"/>
              <a:ext cx="190500" cy="114300"/>
            </a:xfrm>
            <a:custGeom>
              <a:rect b="b" l="l" r="r" t="t"/>
              <a:pathLst>
                <a:path extrusionOk="0" h="120000" w="120000">
                  <a:moveTo>
                    <a:pt x="0" y="60000"/>
                  </a:moveTo>
                  <a:lnTo>
                    <a:pt x="120000" y="60000"/>
                  </a:lnTo>
                  <a:moveTo>
                    <a:pt x="120000" y="60000"/>
                  </a:moveTo>
                  <a:lnTo>
                    <a:pt x="84000" y="0"/>
                  </a:lnTo>
                  <a:moveTo>
                    <a:pt x="120000" y="60000"/>
                  </a:moveTo>
                  <a:lnTo>
                    <a:pt x="84000" y="12000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19"/>
            <p:cNvSpPr/>
            <p:nvPr/>
          </p:nvSpPr>
          <p:spPr>
            <a:xfrm>
              <a:off x="3333750" y="1238250"/>
              <a:ext cx="2476500" cy="2476500"/>
            </a:xfrm>
            <a:prstGeom prst="roundRect">
              <a:avLst>
                <a:gd fmla="val 4615" name="adj"/>
              </a:avLst>
            </a:prstGeom>
            <a:solidFill>
              <a:srgbClr val="111827"/>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19"/>
            <p:cNvSpPr txBox="1"/>
            <p:nvPr/>
          </p:nvSpPr>
          <p:spPr>
            <a:xfrm>
              <a:off x="3333750" y="1238250"/>
              <a:ext cx="2476500" cy="2476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400">
                  <a:solidFill>
                    <a:srgbClr val="55B6FF"/>
                  </a:solidFill>
                  <a:latin typeface="Inter"/>
                  <a:ea typeface="Inter"/>
                  <a:cs typeface="Inter"/>
                  <a:sym typeface="Inter"/>
                </a:rPr>
                <a:t>Promptable Foundation</a:t>
              </a:r>
              <a:endParaRPr b="1" sz="1400">
                <a:solidFill>
                  <a:srgbClr val="55B6FF"/>
                </a:solidFill>
                <a:latin typeface="Inter"/>
                <a:ea typeface="Inter"/>
                <a:cs typeface="Inter"/>
                <a:sym typeface="Inter"/>
              </a:endParaRPr>
            </a:p>
            <a:p>
              <a:pPr indent="0" lvl="0" marL="0" rtl="0" algn="l">
                <a:spcBef>
                  <a:spcPts val="750"/>
                </a:spcBef>
                <a:spcAft>
                  <a:spcPts val="0"/>
                </a:spcAft>
                <a:buNone/>
              </a:pPr>
              <a:r>
                <a:rPr lang="en" sz="1000">
                  <a:solidFill>
                    <a:srgbClr val="94A3B8"/>
                  </a:solidFill>
                  <a:latin typeface="Inter"/>
                  <a:ea typeface="Inter"/>
                  <a:cs typeface="Inter"/>
                  <a:sym typeface="Inter"/>
                </a:rPr>
                <a:t>Point, box, mask prompts; SAM2 extends to video</a:t>
              </a:r>
              <a:endParaRPr sz="1000">
                <a:solidFill>
                  <a:srgbClr val="94A3B8"/>
                </a:solidFill>
                <a:latin typeface="Inter"/>
                <a:ea typeface="Inter"/>
                <a:cs typeface="Inter"/>
                <a:sym typeface="Inter"/>
              </a:endParaRPr>
            </a:p>
            <a:p>
              <a:pPr indent="-298450" lvl="0" marL="457200" rtl="0" algn="l">
                <a:spcBef>
                  <a:spcPts val="1125"/>
                </a:spcBef>
                <a:spcAft>
                  <a:spcPts val="0"/>
                </a:spcAft>
                <a:buClr>
                  <a:srgbClr val="F3F6FB"/>
                </a:buClr>
                <a:buSzPts val="1100"/>
                <a:buFont typeface="Inter"/>
                <a:buChar char="●"/>
              </a:pPr>
              <a:r>
                <a:rPr lang="en" sz="1100">
                  <a:solidFill>
                    <a:srgbClr val="F3F6FB"/>
                  </a:solidFill>
                  <a:latin typeface="Inter"/>
                  <a:ea typeface="Inter"/>
                  <a:cs typeface="Inter"/>
                  <a:sym typeface="Inter"/>
                </a:rPr>
                <a:t>SAM</a:t>
              </a:r>
              <a:endParaRPr sz="1100">
                <a:solidFill>
                  <a:srgbClr val="F3F6FB"/>
                </a:solidFill>
                <a:latin typeface="Inter"/>
                <a:ea typeface="Inter"/>
                <a:cs typeface="Inter"/>
                <a:sym typeface="Inter"/>
              </a:endParaRPr>
            </a:p>
            <a:p>
              <a:pPr indent="-298450" lvl="0" marL="457200" rtl="0" algn="l">
                <a:spcBef>
                  <a:spcPts val="600"/>
                </a:spcBef>
                <a:spcAft>
                  <a:spcPts val="0"/>
                </a:spcAft>
                <a:buClr>
                  <a:srgbClr val="F3F6FB"/>
                </a:buClr>
                <a:buSzPts val="1100"/>
                <a:buFont typeface="Inter"/>
                <a:buChar char="●"/>
              </a:pPr>
              <a:r>
                <a:rPr lang="en" sz="1100">
                  <a:solidFill>
                    <a:srgbClr val="F3F6FB"/>
                  </a:solidFill>
                  <a:latin typeface="Inter"/>
                  <a:ea typeface="Inter"/>
                  <a:cs typeface="Inter"/>
                  <a:sym typeface="Inter"/>
                </a:rPr>
                <a:t>SAM2</a:t>
              </a:r>
              <a:endParaRPr sz="1100">
                <a:solidFill>
                  <a:srgbClr val="F3F6FB"/>
                </a:solidFill>
                <a:latin typeface="Inter"/>
                <a:ea typeface="Inter"/>
                <a:cs typeface="Inter"/>
                <a:sym typeface="Inter"/>
              </a:endParaRPr>
            </a:p>
            <a:p>
              <a:pPr indent="0" lvl="0" marL="0" rtl="0" algn="l">
                <a:spcBef>
                  <a:spcPts val="1500"/>
                </a:spcBef>
                <a:spcAft>
                  <a:spcPts val="0"/>
                </a:spcAft>
                <a:buNone/>
              </a:pPr>
              <a:r>
                <a:rPr i="1" lang="en" sz="900">
                  <a:solidFill>
                    <a:srgbClr val="55B6FF"/>
                  </a:solidFill>
                  <a:latin typeface="Inter"/>
                  <a:ea typeface="Inter"/>
                  <a:cs typeface="Inter"/>
                  <a:sym typeface="Inter"/>
                </a:rPr>
                <a:t>Note: SAM3 adds text &amp; exemplar prompting</a:t>
              </a:r>
              <a:endParaRPr i="1" sz="900">
                <a:solidFill>
                  <a:srgbClr val="55B6FF"/>
                </a:solidFill>
                <a:latin typeface="Inter"/>
                <a:ea typeface="Inter"/>
                <a:cs typeface="Inter"/>
                <a:sym typeface="Inter"/>
              </a:endParaRPr>
            </a:p>
          </p:txBody>
        </p:sp>
        <p:sp>
          <p:nvSpPr>
            <p:cNvPr id="391" name="Google Shape;391;p19"/>
            <p:cNvSpPr/>
            <p:nvPr/>
          </p:nvSpPr>
          <p:spPr>
            <a:xfrm>
              <a:off x="5953125" y="2419350"/>
              <a:ext cx="190500" cy="114300"/>
            </a:xfrm>
            <a:custGeom>
              <a:rect b="b" l="l" r="r" t="t"/>
              <a:pathLst>
                <a:path extrusionOk="0" h="120000" w="120000">
                  <a:moveTo>
                    <a:pt x="0" y="60000"/>
                  </a:moveTo>
                  <a:lnTo>
                    <a:pt x="120000" y="60000"/>
                  </a:lnTo>
                  <a:moveTo>
                    <a:pt x="120000" y="60000"/>
                  </a:moveTo>
                  <a:lnTo>
                    <a:pt x="84000" y="0"/>
                  </a:lnTo>
                  <a:moveTo>
                    <a:pt x="120000" y="60000"/>
                  </a:moveTo>
                  <a:lnTo>
                    <a:pt x="84000" y="120000"/>
                  </a:lnTo>
                </a:path>
              </a:pathLst>
            </a:custGeom>
            <a:solidFill>
              <a:srgbClr val="000000">
                <a:alpha val="0"/>
              </a:srgbClr>
            </a:solidFill>
            <a:ln cap="flat" cmpd="sng" w="190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19"/>
            <p:cNvSpPr/>
            <p:nvPr/>
          </p:nvSpPr>
          <p:spPr>
            <a:xfrm>
              <a:off x="6286500" y="1238250"/>
              <a:ext cx="2476500" cy="2476500"/>
            </a:xfrm>
            <a:prstGeom prst="roundRect">
              <a:avLst>
                <a:gd fmla="val 4615" name="adj"/>
              </a:avLst>
            </a:prstGeom>
            <a:solidFill>
              <a:srgbClr val="111827"/>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19"/>
            <p:cNvSpPr txBox="1"/>
            <p:nvPr/>
          </p:nvSpPr>
          <p:spPr>
            <a:xfrm>
              <a:off x="6286500" y="1238250"/>
              <a:ext cx="2476500" cy="2476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400">
                  <a:solidFill>
                    <a:srgbClr val="FF9B5E"/>
                  </a:solidFill>
                  <a:latin typeface="Inter"/>
                  <a:ea typeface="Inter"/>
                  <a:cs typeface="Inter"/>
                  <a:sym typeface="Inter"/>
                </a:rPr>
                <a:t>Lightweight Edge</a:t>
              </a:r>
              <a:endParaRPr b="1" sz="1400">
                <a:solidFill>
                  <a:srgbClr val="FF9B5E"/>
                </a:solidFill>
                <a:latin typeface="Inter"/>
                <a:ea typeface="Inter"/>
                <a:cs typeface="Inter"/>
                <a:sym typeface="Inter"/>
              </a:endParaRPr>
            </a:p>
            <a:p>
              <a:pPr indent="0" lvl="0" marL="0" rtl="0" algn="l">
                <a:spcBef>
                  <a:spcPts val="750"/>
                </a:spcBef>
                <a:spcAft>
                  <a:spcPts val="0"/>
                </a:spcAft>
                <a:buNone/>
              </a:pPr>
              <a:r>
                <a:rPr lang="en" sz="1000">
                  <a:solidFill>
                    <a:srgbClr val="94A3B8"/>
                  </a:solidFill>
                  <a:latin typeface="Inter"/>
                  <a:ea typeface="Inter"/>
                  <a:cs typeface="Inter"/>
                  <a:sym typeface="Inter"/>
                </a:rPr>
                <a:t>Lower latency and resource requirements</a:t>
              </a:r>
              <a:endParaRPr sz="1000">
                <a:solidFill>
                  <a:srgbClr val="94A3B8"/>
                </a:solidFill>
                <a:latin typeface="Inter"/>
                <a:ea typeface="Inter"/>
                <a:cs typeface="Inter"/>
                <a:sym typeface="Inter"/>
              </a:endParaRPr>
            </a:p>
            <a:p>
              <a:pPr indent="-298450" lvl="0" marL="457200" rtl="0" algn="l">
                <a:spcBef>
                  <a:spcPts val="1125"/>
                </a:spcBef>
                <a:spcAft>
                  <a:spcPts val="0"/>
                </a:spcAft>
                <a:buClr>
                  <a:srgbClr val="F3F6FB"/>
                </a:buClr>
                <a:buSzPts val="1100"/>
                <a:buFont typeface="Inter"/>
                <a:buChar char="●"/>
              </a:pPr>
              <a:r>
                <a:rPr lang="en" sz="1100">
                  <a:solidFill>
                    <a:srgbClr val="F3F6FB"/>
                  </a:solidFill>
                  <a:latin typeface="Inter"/>
                  <a:ea typeface="Inter"/>
                  <a:cs typeface="Inter"/>
                  <a:sym typeface="Inter"/>
                </a:rPr>
                <a:t>FastSAM</a:t>
              </a:r>
              <a:endParaRPr sz="1100">
                <a:solidFill>
                  <a:srgbClr val="F3F6FB"/>
                </a:solidFill>
                <a:latin typeface="Inter"/>
                <a:ea typeface="Inter"/>
                <a:cs typeface="Inter"/>
                <a:sym typeface="Inter"/>
              </a:endParaRPr>
            </a:p>
            <a:p>
              <a:pPr indent="-298450" lvl="0" marL="457200" rtl="0" algn="l">
                <a:spcBef>
                  <a:spcPts val="600"/>
                </a:spcBef>
                <a:spcAft>
                  <a:spcPts val="0"/>
                </a:spcAft>
                <a:buClr>
                  <a:srgbClr val="F3F6FB"/>
                </a:buClr>
                <a:buSzPts val="1100"/>
                <a:buFont typeface="Inter"/>
                <a:buChar char="●"/>
              </a:pPr>
              <a:r>
                <a:rPr lang="en" sz="1100">
                  <a:solidFill>
                    <a:srgbClr val="F3F6FB"/>
                  </a:solidFill>
                  <a:latin typeface="Inter"/>
                  <a:ea typeface="Inter"/>
                  <a:cs typeface="Inter"/>
                  <a:sym typeface="Inter"/>
                </a:rPr>
                <a:t>MobileSAM</a:t>
              </a:r>
              <a:endParaRPr sz="1100">
                <a:solidFill>
                  <a:srgbClr val="F3F6FB"/>
                </a:solidFill>
                <a:latin typeface="Inter"/>
                <a:ea typeface="Inter"/>
                <a:cs typeface="Inter"/>
                <a:sym typeface="Inter"/>
              </a:endParaRPr>
            </a:p>
            <a:p>
              <a:pPr indent="-298450" lvl="0" marL="457200" rtl="0" algn="l">
                <a:spcBef>
                  <a:spcPts val="600"/>
                </a:spcBef>
                <a:spcAft>
                  <a:spcPts val="0"/>
                </a:spcAft>
                <a:buClr>
                  <a:srgbClr val="F3F6FB"/>
                </a:buClr>
                <a:buSzPts val="1100"/>
                <a:buFont typeface="Inter"/>
                <a:buChar char="●"/>
              </a:pPr>
              <a:r>
                <a:rPr lang="en" sz="1100">
                  <a:solidFill>
                    <a:srgbClr val="F3F6FB"/>
                  </a:solidFill>
                  <a:latin typeface="Inter"/>
                  <a:ea typeface="Inter"/>
                  <a:cs typeface="Inter"/>
                  <a:sym typeface="Inter"/>
                </a:rPr>
                <a:t>EfficientSAM</a:t>
              </a:r>
              <a:endParaRPr sz="1100">
                <a:solidFill>
                  <a:srgbClr val="F3F6FB"/>
                </a:solidFill>
                <a:latin typeface="Inter"/>
                <a:ea typeface="Inter"/>
                <a:cs typeface="Inter"/>
                <a:sym typeface="Inter"/>
              </a:endParaRPr>
            </a:p>
          </p:txBody>
        </p:sp>
      </p:grpSp>
      <p:grpSp>
        <p:nvGrpSpPr>
          <p:cNvPr id="394" name="Google Shape;394;p19"/>
          <p:cNvGrpSpPr/>
          <p:nvPr/>
        </p:nvGrpSpPr>
        <p:grpSpPr>
          <a:xfrm>
            <a:off x="381000" y="4095750"/>
            <a:ext cx="8382000" cy="495300"/>
            <a:chOff x="0" y="0"/>
            <a:chExt cx="8382000" cy="495300"/>
          </a:xfrm>
        </p:grpSpPr>
        <p:sp>
          <p:nvSpPr>
            <p:cNvPr id="395" name="Google Shape;395;p19"/>
            <p:cNvSpPr/>
            <p:nvPr/>
          </p:nvSpPr>
          <p:spPr>
            <a:xfrm>
              <a:off x="0" y="0"/>
              <a:ext cx="8382000" cy="495300"/>
            </a:xfrm>
            <a:prstGeom prst="roundRect">
              <a:avLst>
                <a:gd fmla="val 15384" name="adj"/>
              </a:avLst>
            </a:prstGeom>
            <a:solidFill>
              <a:srgbClr val="111827"/>
            </a:solidFill>
            <a:ln cap="flat" cmpd="sng" w="14300">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19"/>
            <p:cNvSpPr txBox="1"/>
            <p:nvPr/>
          </p:nvSpPr>
          <p:spPr>
            <a:xfrm>
              <a:off x="0" y="0"/>
              <a:ext cx="8382000" cy="495300"/>
            </a:xfrm>
            <a:prstGeom prst="rect">
              <a:avLst/>
            </a:prstGeom>
            <a:noFill/>
            <a:ln>
              <a:noFill/>
            </a:ln>
          </p:spPr>
          <p:txBody>
            <a:bodyPr anchorCtr="0" anchor="ctr" bIns="0" lIns="381000" spcFirstLastPara="1" rIns="381000" wrap="square" tIns="0">
              <a:noAutofit/>
            </a:bodyPr>
            <a:lstStyle/>
            <a:p>
              <a:pPr indent="0" lvl="0" marL="0" rtl="0" algn="ctr">
                <a:spcBef>
                  <a:spcPts val="0"/>
                </a:spcBef>
                <a:spcAft>
                  <a:spcPts val="0"/>
                </a:spcAft>
                <a:buNone/>
              </a:pPr>
              <a:r>
                <a:rPr b="1" lang="en" sz="1100">
                  <a:solidFill>
                    <a:srgbClr val="F87171"/>
                  </a:solidFill>
                  <a:latin typeface="Inter"/>
                  <a:ea typeface="Inter"/>
                  <a:cs typeface="Inter"/>
                  <a:sym typeface="Inter"/>
                </a:rPr>
                <a:t>Zero-shot visual generality does not guarantee safe embodied robotic perception.</a:t>
              </a:r>
              <a:endParaRPr b="1" sz="1100">
                <a:solidFill>
                  <a:srgbClr val="F87171"/>
                </a:solidFill>
                <a:latin typeface="Inter"/>
                <a:ea typeface="Inter"/>
                <a:cs typeface="Inter"/>
                <a:sym typeface="Inter"/>
              </a:endParaRPr>
            </a:p>
          </p:txBody>
        </p:sp>
      </p:grpSp>
      <p:sp>
        <p:nvSpPr>
          <p:cNvPr id="397" name="Google Shape;397;p19"/>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Model family positioning</a:t>
            </a:r>
            <a:endParaRPr b="0" i="0" sz="500" u="none" cap="none" strike="noStrike">
              <a:solidFill>
                <a:schemeClr val="dk1"/>
              </a:solidFill>
              <a:latin typeface="Inter"/>
              <a:ea typeface="Inter"/>
              <a:cs typeface="Inter"/>
              <a:sym typeface="Inter"/>
            </a:endParaRPr>
          </a:p>
        </p:txBody>
      </p:sp>
      <p:sp>
        <p:nvSpPr>
          <p:cNvPr id="398" name="Google Shape;398;p19"/>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Sources: SAM, SAM2, FastSAM, MobileSAM, EfficientSAM papers/repos</a:t>
            </a:r>
            <a:endParaRPr b="0" i="0" sz="500" u="none" cap="none" strike="noStrike">
              <a:solidFill>
                <a:schemeClr val="dk1"/>
              </a:solidFill>
              <a:latin typeface="Inter"/>
              <a:ea typeface="Inter"/>
              <a:cs typeface="Inter"/>
              <a:sym typeface="Inter"/>
            </a:endParaRPr>
          </a:p>
        </p:txBody>
      </p:sp>
      <p:sp>
        <p:nvSpPr>
          <p:cNvPr id="399" name="Google Shape;399;p19"/>
          <p:cNvSpPr/>
          <p:nvPr/>
        </p:nvSpPr>
        <p:spPr>
          <a:xfrm>
            <a:off x="381000" y="285750"/>
            <a:ext cx="8382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3F6FB"/>
                </a:solidFill>
                <a:latin typeface="Inter"/>
                <a:ea typeface="Inter"/>
                <a:cs typeface="Inter"/>
                <a:sym typeface="Inter"/>
              </a:rPr>
              <a:t>State of the Art: Evolution of Segmentation Models</a:t>
            </a:r>
            <a:endParaRPr b="1" sz="2400">
              <a:solidFill>
                <a:srgbClr val="F3F6FB"/>
              </a:solidFill>
              <a:latin typeface="Inter"/>
              <a:ea typeface="Inter"/>
              <a:cs typeface="Inter"/>
              <a:sym typeface="Inter"/>
            </a:endParaRPr>
          </a:p>
        </p:txBody>
      </p:sp>
      <p:sp>
        <p:nvSpPr>
          <p:cNvPr id="400" name="Google Shape;400;p19"/>
          <p:cNvSpPr/>
          <p:nvPr/>
        </p:nvSpPr>
        <p:spPr>
          <a:xfrm>
            <a:off x="381000" y="714375"/>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1000">
                <a:solidFill>
                  <a:srgbClr val="55B6FF"/>
                </a:solidFill>
                <a:latin typeface="Inter"/>
                <a:ea typeface="Inter"/>
                <a:cs typeface="Inter"/>
                <a:sym typeface="Inter"/>
              </a:rPr>
              <a:t>The field has shifted from task-specific supervised models to promptable foundation segmentation and lightweight deployment variants.</a:t>
            </a:r>
            <a:endParaRPr b="0" i="1" sz="1000">
              <a:solidFill>
                <a:srgbClr val="55B6FF"/>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405" name="Shape 405"/>
        <p:cNvGrpSpPr/>
        <p:nvPr/>
      </p:nvGrpSpPr>
      <p:grpSpPr>
        <a:xfrm>
          <a:off x="0" y="0"/>
          <a:ext cx="0" cy="0"/>
          <a:chOff x="0" y="0"/>
          <a:chExt cx="0" cy="0"/>
        </a:xfrm>
      </p:grpSpPr>
      <p:cxnSp>
        <p:nvCxnSpPr>
          <p:cNvPr id="406" name="Google Shape;406;p20"/>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07" name="Google Shape;407;p20"/>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08" name="Google Shape;408;p20"/>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09" name="Google Shape;409;p20"/>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0" name="Google Shape;410;p20"/>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1" name="Google Shape;411;p20"/>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2" name="Google Shape;412;p20"/>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3" name="Google Shape;413;p20"/>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4" name="Google Shape;414;p20"/>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5" name="Google Shape;415;p20"/>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6" name="Google Shape;416;p20"/>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7" name="Google Shape;417;p20"/>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8" name="Google Shape;418;p20"/>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19" name="Google Shape;419;p20"/>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0" name="Google Shape;420;p20"/>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1" name="Google Shape;421;p20"/>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2" name="Google Shape;422;p20"/>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3" name="Google Shape;423;p20"/>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4" name="Google Shape;424;p20"/>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5" name="Google Shape;425;p20"/>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6" name="Google Shape;426;p20"/>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7" name="Google Shape;427;p20"/>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8" name="Google Shape;428;p20"/>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29" name="Google Shape;429;p20"/>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0" name="Google Shape;430;p20"/>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1" name="Google Shape;431;p20"/>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2" name="Google Shape;432;p20"/>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3" name="Google Shape;433;p20"/>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4" name="Google Shape;434;p20"/>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5" name="Google Shape;435;p20"/>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6" name="Google Shape;436;p20"/>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7" name="Google Shape;437;p20"/>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8" name="Google Shape;438;p20"/>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39" name="Google Shape;439;p20"/>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0" name="Google Shape;440;p20"/>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1" name="Google Shape;441;p20"/>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2" name="Google Shape;442;p20"/>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3" name="Google Shape;443;p20"/>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4" name="Google Shape;444;p20"/>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5" name="Google Shape;445;p20"/>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6" name="Google Shape;446;p20"/>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7" name="Google Shape;447;p20"/>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48" name="Google Shape;448;p20"/>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449" name="Google Shape;449;p20"/>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nvGrpSpPr>
          <p:cNvPr id="450" name="Google Shape;450;p20"/>
          <p:cNvGrpSpPr/>
          <p:nvPr/>
        </p:nvGrpSpPr>
        <p:grpSpPr>
          <a:xfrm>
            <a:off x="381000" y="285750"/>
            <a:ext cx="8382000" cy="666750"/>
            <a:chOff x="0" y="0"/>
            <a:chExt cx="8382000" cy="666750"/>
          </a:xfrm>
        </p:grpSpPr>
        <p:sp>
          <p:nvSpPr>
            <p:cNvPr id="451" name="Google Shape;451;p20"/>
            <p:cNvSpPr txBox="1"/>
            <p:nvPr/>
          </p:nvSpPr>
          <p:spPr>
            <a:xfrm>
              <a:off x="0" y="0"/>
              <a:ext cx="8382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20">
                  <a:solidFill>
                    <a:srgbClr val="F3F6FB"/>
                  </a:solidFill>
                  <a:latin typeface="Inter"/>
                  <a:ea typeface="Inter"/>
                  <a:cs typeface="Inter"/>
                  <a:sym typeface="Inter"/>
                </a:rPr>
                <a:t>Research Gap: General Segmentation ≠ Robotic Perception</a:t>
              </a:r>
              <a:endParaRPr b="1" sz="2220">
                <a:solidFill>
                  <a:srgbClr val="F3F6FB"/>
                </a:solidFill>
                <a:latin typeface="Inter"/>
                <a:ea typeface="Inter"/>
                <a:cs typeface="Inter"/>
                <a:sym typeface="Inter"/>
              </a:endParaRPr>
            </a:p>
          </p:txBody>
        </p:sp>
        <p:sp>
          <p:nvSpPr>
            <p:cNvPr id="452" name="Google Shape;452;p20"/>
            <p:cNvSpPr txBox="1"/>
            <p:nvPr/>
          </p:nvSpPr>
          <p:spPr>
            <a:xfrm>
              <a:off x="0" y="476250"/>
              <a:ext cx="838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000">
                  <a:solidFill>
                    <a:srgbClr val="55B6FF"/>
                  </a:solidFill>
                  <a:latin typeface="Inter"/>
                  <a:ea typeface="Inter"/>
                  <a:cs typeface="Inter"/>
                  <a:sym typeface="Inter"/>
                </a:rPr>
                <a:t>Robotic perception is situated, action-relevant, and time-constrained.</a:t>
              </a:r>
              <a:endParaRPr b="0" i="1" sz="1000">
                <a:solidFill>
                  <a:srgbClr val="55B6FF"/>
                </a:solidFill>
                <a:latin typeface="Inter"/>
                <a:ea typeface="Inter"/>
                <a:cs typeface="Inter"/>
                <a:sym typeface="Inter"/>
              </a:endParaRPr>
            </a:p>
          </p:txBody>
        </p:sp>
      </p:grpSp>
      <p:grpSp>
        <p:nvGrpSpPr>
          <p:cNvPr id="453" name="Google Shape;453;p20"/>
          <p:cNvGrpSpPr/>
          <p:nvPr/>
        </p:nvGrpSpPr>
        <p:grpSpPr>
          <a:xfrm>
            <a:off x="4238625" y="1333500"/>
            <a:ext cx="666900" cy="2619300"/>
            <a:chOff x="4238625" y="1333500"/>
            <a:chExt cx="666900" cy="2619300"/>
          </a:xfrm>
        </p:grpSpPr>
        <p:pic>
          <p:nvPicPr>
            <p:cNvPr id="454" name="Google Shape;454;p20"/>
            <p:cNvPicPr preferRelativeResize="0"/>
            <p:nvPr/>
          </p:nvPicPr>
          <p:blipFill rotWithShape="1">
            <a:blip r:embed="rId3">
              <a:alphaModFix/>
            </a:blip>
            <a:srcRect b="0" l="0" r="0" t="0"/>
            <a:stretch/>
          </p:blipFill>
          <p:spPr>
            <a:xfrm>
              <a:off x="4567238" y="1333500"/>
              <a:ext cx="9600" cy="2619300"/>
            </a:xfrm>
            <a:prstGeom prst="rect">
              <a:avLst/>
            </a:prstGeom>
            <a:noFill/>
            <a:ln>
              <a:noFill/>
            </a:ln>
          </p:spPr>
        </p:pic>
        <p:sp>
          <p:nvSpPr>
            <p:cNvPr id="455" name="Google Shape;455;p20"/>
            <p:cNvSpPr/>
            <p:nvPr/>
          </p:nvSpPr>
          <p:spPr>
            <a:xfrm>
              <a:off x="4238625" y="2333625"/>
              <a:ext cx="666900" cy="666900"/>
            </a:xfrm>
            <a:prstGeom prst="ellipse">
              <a:avLst/>
            </a:prstGeom>
            <a:solidFill>
              <a:srgbClr val="0B1220"/>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0"/>
            <p:cNvSpPr txBox="1"/>
            <p:nvPr/>
          </p:nvSpPr>
          <p:spPr>
            <a:xfrm>
              <a:off x="4333875" y="2428875"/>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87171"/>
                  </a:solidFill>
                  <a:latin typeface="Inter"/>
                  <a:ea typeface="Inter"/>
                  <a:cs typeface="Inter"/>
                  <a:sym typeface="Inter"/>
                </a:rPr>
                <a:t>≠</a:t>
              </a:r>
              <a:endParaRPr b="1" sz="2400">
                <a:solidFill>
                  <a:srgbClr val="F87171"/>
                </a:solidFill>
                <a:latin typeface="Inter"/>
                <a:ea typeface="Inter"/>
                <a:cs typeface="Inter"/>
                <a:sym typeface="Inter"/>
              </a:endParaRPr>
            </a:p>
          </p:txBody>
        </p:sp>
      </p:grpSp>
      <p:pic>
        <p:nvPicPr>
          <p:cNvPr id="457" name="Google Shape;457;p20"/>
          <p:cNvPicPr preferRelativeResize="0"/>
          <p:nvPr/>
        </p:nvPicPr>
        <p:blipFill rotWithShape="1">
          <a:blip r:embed="rId4">
            <a:alphaModFix/>
          </a:blip>
          <a:srcRect b="0" l="0" r="0" t="0"/>
          <a:stretch/>
        </p:blipFill>
        <p:spPr>
          <a:xfrm>
            <a:off x="381000" y="1042988"/>
            <a:ext cx="8382000" cy="9600"/>
          </a:xfrm>
          <a:prstGeom prst="rect">
            <a:avLst/>
          </a:prstGeom>
          <a:noFill/>
          <a:ln>
            <a:noFill/>
          </a:ln>
        </p:spPr>
      </p:pic>
      <p:grpSp>
        <p:nvGrpSpPr>
          <p:cNvPr id="458" name="Google Shape;458;p20"/>
          <p:cNvGrpSpPr/>
          <p:nvPr/>
        </p:nvGrpSpPr>
        <p:grpSpPr>
          <a:xfrm>
            <a:off x="381000" y="1333500"/>
            <a:ext cx="3810000" cy="2667000"/>
            <a:chOff x="0" y="0"/>
            <a:chExt cx="3810000" cy="2667000"/>
          </a:xfrm>
        </p:grpSpPr>
        <p:sp>
          <p:nvSpPr>
            <p:cNvPr id="459" name="Google Shape;459;p20"/>
            <p:cNvSpPr/>
            <p:nvPr/>
          </p:nvSpPr>
          <p:spPr>
            <a:xfrm>
              <a:off x="0" y="0"/>
              <a:ext cx="3810000" cy="2667000"/>
            </a:xfrm>
            <a:prstGeom prst="roundRect">
              <a:avLst>
                <a:gd fmla="val 4285" name="adj"/>
              </a:avLst>
            </a:prstGeom>
            <a:solidFill>
              <a:srgbClr val="111827"/>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60" name="Google Shape;460;p20"/>
            <p:cNvPicPr preferRelativeResize="0"/>
            <p:nvPr/>
          </p:nvPicPr>
          <p:blipFill rotWithShape="1">
            <a:blip r:embed="rId5">
              <a:alphaModFix/>
            </a:blip>
            <a:srcRect b="-220" l="0" r="0" t="220"/>
            <a:stretch/>
          </p:blipFill>
          <p:spPr>
            <a:xfrm>
              <a:off x="238125" y="19050"/>
              <a:ext cx="3333900" cy="1875300"/>
            </a:xfrm>
            <a:prstGeom prst="roundRect">
              <a:avLst>
                <a:gd fmla="val 5333" name="adj"/>
              </a:avLst>
            </a:prstGeom>
            <a:noFill/>
            <a:ln>
              <a:noFill/>
            </a:ln>
          </p:spPr>
        </p:pic>
        <p:sp>
          <p:nvSpPr>
            <p:cNvPr id="461" name="Google Shape;461;p20"/>
            <p:cNvSpPr txBox="1"/>
            <p:nvPr/>
          </p:nvSpPr>
          <p:spPr>
            <a:xfrm>
              <a:off x="0" y="1809750"/>
              <a:ext cx="3810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55B6FF"/>
                  </a:solidFill>
                  <a:latin typeface="Inter"/>
                  <a:ea typeface="Inter"/>
                  <a:cs typeface="Inter"/>
                  <a:sym typeface="Inter"/>
                </a:rPr>
                <a:t>Generic image segmentation</a:t>
              </a:r>
              <a:endParaRPr b="1" sz="1600">
                <a:solidFill>
                  <a:srgbClr val="55B6FF"/>
                </a:solidFill>
                <a:latin typeface="Inter"/>
                <a:ea typeface="Inter"/>
                <a:cs typeface="Inter"/>
                <a:sym typeface="Inter"/>
              </a:endParaRPr>
            </a:p>
            <a:p>
              <a:pPr indent="0" lvl="0" marL="0" rtl="0" algn="ctr">
                <a:spcBef>
                  <a:spcPts val="600"/>
                </a:spcBef>
                <a:spcAft>
                  <a:spcPts val="0"/>
                </a:spcAft>
                <a:buNone/>
              </a:pPr>
              <a:r>
                <a:rPr b="0" lang="en" sz="1100">
                  <a:solidFill>
                    <a:srgbClr val="F3F6FB"/>
                  </a:solidFill>
                  <a:latin typeface="Inter"/>
                  <a:ea typeface="Inter"/>
                  <a:cs typeface="Inter"/>
                  <a:sym typeface="Inter"/>
                </a:rPr>
                <a:t>image → mask</a:t>
              </a:r>
              <a:endParaRPr b="0" sz="1100">
                <a:solidFill>
                  <a:srgbClr val="F3F6FB"/>
                </a:solidFill>
                <a:latin typeface="Inter"/>
                <a:ea typeface="Inter"/>
                <a:cs typeface="Inter"/>
                <a:sym typeface="Inter"/>
              </a:endParaRPr>
            </a:p>
          </p:txBody>
        </p:sp>
      </p:grpSp>
      <p:grpSp>
        <p:nvGrpSpPr>
          <p:cNvPr id="462" name="Google Shape;462;p20"/>
          <p:cNvGrpSpPr/>
          <p:nvPr/>
        </p:nvGrpSpPr>
        <p:grpSpPr>
          <a:xfrm>
            <a:off x="4953000" y="1009650"/>
            <a:ext cx="3810000" cy="2990850"/>
            <a:chOff x="0" y="-323850"/>
            <a:chExt cx="3810000" cy="2990850"/>
          </a:xfrm>
        </p:grpSpPr>
        <p:sp>
          <p:nvSpPr>
            <p:cNvPr id="463" name="Google Shape;463;p20"/>
            <p:cNvSpPr/>
            <p:nvPr/>
          </p:nvSpPr>
          <p:spPr>
            <a:xfrm>
              <a:off x="0" y="0"/>
              <a:ext cx="3810000" cy="2667000"/>
            </a:xfrm>
            <a:prstGeom prst="roundRect">
              <a:avLst>
                <a:gd fmla="val 4285" name="adj"/>
              </a:avLst>
            </a:prstGeom>
            <a:solidFill>
              <a:srgbClr val="111827"/>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64" name="Google Shape;464;p20"/>
            <p:cNvPicPr preferRelativeResize="0"/>
            <p:nvPr/>
          </p:nvPicPr>
          <p:blipFill rotWithShape="1">
            <a:blip r:embed="rId6">
              <a:alphaModFix/>
            </a:blip>
            <a:srcRect b="-14677" l="-17204" r="-17204" t="-19731"/>
            <a:stretch/>
          </p:blipFill>
          <p:spPr>
            <a:xfrm>
              <a:off x="238125" y="-323850"/>
              <a:ext cx="3333900" cy="2565000"/>
            </a:xfrm>
            <a:prstGeom prst="roundRect">
              <a:avLst>
                <a:gd fmla="val 5333" name="adj"/>
              </a:avLst>
            </a:prstGeom>
            <a:noFill/>
            <a:ln>
              <a:noFill/>
            </a:ln>
          </p:spPr>
        </p:pic>
        <p:sp>
          <p:nvSpPr>
            <p:cNvPr id="465" name="Google Shape;465;p20"/>
            <p:cNvSpPr txBox="1"/>
            <p:nvPr/>
          </p:nvSpPr>
          <p:spPr>
            <a:xfrm>
              <a:off x="0" y="1809750"/>
              <a:ext cx="3810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9B5E"/>
                  </a:solidFill>
                  <a:latin typeface="Inter"/>
                  <a:ea typeface="Inter"/>
                  <a:cs typeface="Inter"/>
                  <a:sym typeface="Inter"/>
                </a:rPr>
                <a:t>Robotic cognitive perception</a:t>
              </a:r>
              <a:endParaRPr b="1" sz="1600">
                <a:solidFill>
                  <a:srgbClr val="FF9B5E"/>
                </a:solidFill>
                <a:latin typeface="Inter"/>
                <a:ea typeface="Inter"/>
                <a:cs typeface="Inter"/>
                <a:sym typeface="Inter"/>
              </a:endParaRPr>
            </a:p>
            <a:p>
              <a:pPr indent="0" lvl="0" marL="0" rtl="0" algn="ctr">
                <a:spcBef>
                  <a:spcPts val="600"/>
                </a:spcBef>
                <a:spcAft>
                  <a:spcPts val="0"/>
                </a:spcAft>
                <a:buNone/>
              </a:pPr>
              <a:r>
                <a:rPr b="0" lang="en" sz="1000">
                  <a:solidFill>
                    <a:srgbClr val="F3F6FB"/>
                  </a:solidFill>
                  <a:latin typeface="Inter"/>
                  <a:ea typeface="Inter"/>
                  <a:cs typeface="Inter"/>
                  <a:sym typeface="Inter"/>
                </a:rPr>
                <a:t>sensor → attention → mask → object state → action</a:t>
              </a:r>
              <a:endParaRPr b="0" sz="1000">
                <a:solidFill>
                  <a:srgbClr val="F3F6FB"/>
                </a:solidFill>
                <a:latin typeface="Inter"/>
                <a:ea typeface="Inter"/>
                <a:cs typeface="Inter"/>
                <a:sym typeface="Inter"/>
              </a:endParaRPr>
            </a:p>
          </p:txBody>
        </p:sp>
      </p:grpSp>
      <p:grpSp>
        <p:nvGrpSpPr>
          <p:cNvPr id="466" name="Google Shape;466;p20"/>
          <p:cNvGrpSpPr/>
          <p:nvPr/>
        </p:nvGrpSpPr>
        <p:grpSpPr>
          <a:xfrm>
            <a:off x="381000" y="4191000"/>
            <a:ext cx="8382000" cy="571500"/>
            <a:chOff x="0" y="0"/>
            <a:chExt cx="8382000" cy="571500"/>
          </a:xfrm>
        </p:grpSpPr>
        <p:sp>
          <p:nvSpPr>
            <p:cNvPr id="467" name="Google Shape;467;p20"/>
            <p:cNvSpPr/>
            <p:nvPr/>
          </p:nvSpPr>
          <p:spPr>
            <a:xfrm>
              <a:off x="0" y="0"/>
              <a:ext cx="8382000" cy="571500"/>
            </a:xfrm>
            <a:prstGeom prst="roundRect">
              <a:avLst>
                <a:gd fmla="val 16666" name="adj"/>
              </a:avLst>
            </a:prstGeom>
            <a:solidFill>
              <a:srgbClr val="111827"/>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20"/>
            <p:cNvSpPr txBox="1"/>
            <p:nvPr/>
          </p:nvSpPr>
          <p:spPr>
            <a:xfrm>
              <a:off x="0" y="0"/>
              <a:ext cx="8382000" cy="571500"/>
            </a:xfrm>
            <a:prstGeom prst="rect">
              <a:avLst/>
            </a:prstGeom>
            <a:noFill/>
            <a:ln>
              <a:noFill/>
            </a:ln>
          </p:spPr>
          <p:txBody>
            <a:bodyPr anchorCtr="0" anchor="ctr" bIns="0" lIns="381000" spcFirstLastPara="1" rIns="381000" wrap="square" tIns="0">
              <a:noAutofit/>
            </a:bodyPr>
            <a:lstStyle/>
            <a:p>
              <a:pPr indent="0" lvl="0" marL="0" rtl="0" algn="ctr">
                <a:spcBef>
                  <a:spcPts val="0"/>
                </a:spcBef>
                <a:spcAft>
                  <a:spcPts val="0"/>
                </a:spcAft>
                <a:buNone/>
              </a:pPr>
              <a:r>
                <a:rPr b="1" lang="en" sz="1100">
                  <a:solidFill>
                    <a:srgbClr val="4FD1C5"/>
                  </a:solidFill>
                  <a:latin typeface="Inter"/>
                  <a:ea typeface="Inter"/>
                  <a:cs typeface="Inter"/>
                  <a:sym typeface="Inter"/>
                </a:rPr>
                <a:t>Contribution:</a:t>
              </a:r>
              <a:r>
                <a:rPr b="1" lang="en" sz="1100">
                  <a:solidFill>
                    <a:srgbClr val="F3F6FB"/>
                  </a:solidFill>
                  <a:latin typeface="Inter"/>
                  <a:ea typeface="Inter"/>
                  <a:cs typeface="Inter"/>
                  <a:sym typeface="Inter"/>
                </a:rPr>
                <a:t> a controlled benchmark linking mask quality, challenge robustness, speed, and model-selection logic for robotic use cases.</a:t>
              </a:r>
              <a:endParaRPr b="1" sz="1100">
                <a:solidFill>
                  <a:srgbClr val="F3F6FB"/>
                </a:solidFill>
                <a:latin typeface="Inter"/>
                <a:ea typeface="Inter"/>
                <a:cs typeface="Inter"/>
                <a:sym typeface="Inter"/>
              </a:endParaRPr>
            </a:p>
          </p:txBody>
        </p:sp>
      </p:grpSp>
      <p:sp>
        <p:nvSpPr>
          <p:cNvPr id="469" name="Google Shape;469;p20"/>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Research gap and contribution</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474" name="Shape 474"/>
        <p:cNvGrpSpPr/>
        <p:nvPr/>
      </p:nvGrpSpPr>
      <p:grpSpPr>
        <a:xfrm>
          <a:off x="0" y="0"/>
          <a:ext cx="0" cy="0"/>
          <a:chOff x="0" y="0"/>
          <a:chExt cx="0" cy="0"/>
        </a:xfrm>
      </p:grpSpPr>
      <p:cxnSp>
        <p:nvCxnSpPr>
          <p:cNvPr id="475" name="Google Shape;475;p21"/>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76" name="Google Shape;476;p21"/>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77" name="Google Shape;477;p21"/>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78" name="Google Shape;478;p21"/>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79" name="Google Shape;479;p21"/>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0" name="Google Shape;480;p21"/>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1" name="Google Shape;481;p21"/>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2" name="Google Shape;482;p21"/>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3" name="Google Shape;483;p21"/>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4" name="Google Shape;484;p21"/>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5" name="Google Shape;485;p21"/>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6" name="Google Shape;486;p21"/>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7" name="Google Shape;487;p21"/>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8" name="Google Shape;488;p21"/>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89" name="Google Shape;489;p21"/>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0" name="Google Shape;490;p21"/>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1" name="Google Shape;491;p21"/>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2" name="Google Shape;492;p21"/>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3" name="Google Shape;493;p21"/>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4" name="Google Shape;494;p21"/>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5" name="Google Shape;495;p21"/>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6" name="Google Shape;496;p21"/>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7" name="Google Shape;497;p21"/>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8" name="Google Shape;498;p21"/>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499" name="Google Shape;499;p21"/>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0" name="Google Shape;500;p21"/>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1" name="Google Shape;501;p21"/>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2" name="Google Shape;502;p21"/>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3" name="Google Shape;503;p21"/>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4" name="Google Shape;504;p21"/>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5" name="Google Shape;505;p21"/>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6" name="Google Shape;506;p21"/>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7" name="Google Shape;507;p21"/>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8" name="Google Shape;508;p21"/>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09" name="Google Shape;509;p21"/>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0" name="Google Shape;510;p21"/>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1" name="Google Shape;511;p21"/>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2" name="Google Shape;512;p21"/>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3" name="Google Shape;513;p21"/>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4" name="Google Shape;514;p21"/>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5" name="Google Shape;515;p21"/>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6" name="Google Shape;516;p21"/>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17" name="Google Shape;517;p21"/>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518" name="Google Shape;518;p21"/>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9" name="Google Shape;519;p21"/>
          <p:cNvSpPr/>
          <p:nvPr/>
        </p:nvSpPr>
        <p:spPr>
          <a:xfrm>
            <a:off x="377200" y="246888"/>
            <a:ext cx="82983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6FB"/>
              </a:buClr>
              <a:buSzPts val="2100"/>
              <a:buFont typeface="Inter"/>
              <a:buNone/>
            </a:pPr>
            <a:r>
              <a:rPr b="1" i="0" lang="en" sz="2100" u="none" cap="none" strike="noStrike">
                <a:solidFill>
                  <a:srgbClr val="F3F6FB"/>
                </a:solidFill>
                <a:latin typeface="Inter"/>
                <a:ea typeface="Inter"/>
                <a:cs typeface="Inter"/>
                <a:sym typeface="Inter"/>
              </a:rPr>
              <a:t>Research Formulation: Four Testable Imperatives</a:t>
            </a:r>
            <a:endParaRPr b="0" i="0" sz="2100" u="none" cap="none" strike="noStrike">
              <a:solidFill>
                <a:schemeClr val="dk1"/>
              </a:solidFill>
              <a:latin typeface="Inter"/>
              <a:ea typeface="Inter"/>
              <a:cs typeface="Inter"/>
              <a:sym typeface="Inter"/>
            </a:endParaRPr>
          </a:p>
        </p:txBody>
      </p:sp>
      <p:sp>
        <p:nvSpPr>
          <p:cNvPr id="520" name="Google Shape;520;p21"/>
          <p:cNvSpPr/>
          <p:nvPr/>
        </p:nvSpPr>
        <p:spPr>
          <a:xfrm>
            <a:off x="397775" y="644652"/>
            <a:ext cx="8161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B6FF"/>
              </a:buClr>
              <a:buSzPts val="600"/>
              <a:buFont typeface="Inter"/>
              <a:buNone/>
            </a:pPr>
            <a:r>
              <a:rPr b="0" i="1" lang="en" sz="600" u="none" cap="none" strike="noStrike">
                <a:solidFill>
                  <a:srgbClr val="55B6FF"/>
                </a:solidFill>
                <a:latin typeface="Inter"/>
                <a:ea typeface="Inter"/>
                <a:cs typeface="Inter"/>
                <a:sym typeface="Inter"/>
              </a:rPr>
              <a:t>An empirical benchmark of quality, robustness, deployability, and recommendation logic.</a:t>
            </a:r>
            <a:endParaRPr b="0" i="0" sz="600" u="none" cap="none" strike="noStrike">
              <a:solidFill>
                <a:schemeClr val="dk1"/>
              </a:solidFill>
              <a:latin typeface="Inter"/>
              <a:ea typeface="Inter"/>
              <a:cs typeface="Inter"/>
              <a:sym typeface="Inter"/>
            </a:endParaRPr>
          </a:p>
        </p:txBody>
      </p:sp>
      <p:cxnSp>
        <p:nvCxnSpPr>
          <p:cNvPr id="521" name="Google Shape;521;p21"/>
          <p:cNvCxnSpPr/>
          <p:nvPr/>
        </p:nvCxnSpPr>
        <p:spPr>
          <a:xfrm>
            <a:off x="377200" y="843534"/>
            <a:ext cx="8367000" cy="0"/>
          </a:xfrm>
          <a:prstGeom prst="straightConnector1">
            <a:avLst/>
          </a:prstGeom>
          <a:noFill/>
          <a:ln cap="flat" cmpd="sng" w="10150">
            <a:solidFill>
              <a:srgbClr val="334155">
                <a:alpha val="85098"/>
              </a:srgbClr>
            </a:solidFill>
            <a:prstDash val="solid"/>
            <a:round/>
            <a:headEnd len="sm" w="sm" type="none"/>
            <a:tailEnd len="sm" w="sm" type="none"/>
          </a:ln>
        </p:spPr>
      </p:cxnSp>
      <p:grpSp>
        <p:nvGrpSpPr>
          <p:cNvPr id="522" name="Google Shape;522;p21"/>
          <p:cNvGrpSpPr/>
          <p:nvPr/>
        </p:nvGrpSpPr>
        <p:grpSpPr>
          <a:xfrm>
            <a:off x="428625" y="1047750"/>
            <a:ext cx="8191500" cy="2667000"/>
            <a:chOff x="428625" y="1047750"/>
            <a:chExt cx="8191500" cy="2667000"/>
          </a:xfrm>
        </p:grpSpPr>
        <p:grpSp>
          <p:nvGrpSpPr>
            <p:cNvPr id="523" name="Google Shape;523;p21"/>
            <p:cNvGrpSpPr/>
            <p:nvPr/>
          </p:nvGrpSpPr>
          <p:grpSpPr>
            <a:xfrm>
              <a:off x="428625" y="1047750"/>
              <a:ext cx="1905000" cy="2667000"/>
              <a:chOff x="0" y="0"/>
              <a:chExt cx="1905000" cy="2667000"/>
            </a:xfrm>
          </p:grpSpPr>
          <p:sp>
            <p:nvSpPr>
              <p:cNvPr id="524" name="Google Shape;524;p21"/>
              <p:cNvSpPr/>
              <p:nvPr/>
            </p:nvSpPr>
            <p:spPr>
              <a:xfrm>
                <a:off x="0" y="0"/>
                <a:ext cx="1905000" cy="2667000"/>
              </a:xfrm>
              <a:prstGeom prst="roundRect">
                <a:avLst>
                  <a:gd fmla="val 6000" name="adj"/>
                </a:avLst>
              </a:prstGeom>
              <a:solidFill>
                <a:srgbClr val="10243A"/>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21"/>
              <p:cNvSpPr txBox="1"/>
              <p:nvPr/>
            </p:nvSpPr>
            <p:spPr>
              <a:xfrm>
                <a:off x="0" y="0"/>
                <a:ext cx="1905000" cy="26670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lang="en" sz="2400">
                    <a:solidFill>
                      <a:srgbClr val="55B6FF"/>
                    </a:solidFill>
                    <a:latin typeface="Material Icons"/>
                    <a:ea typeface="Material Icons"/>
                    <a:cs typeface="Material Icons"/>
                    <a:sym typeface="Material Icons"/>
                  </a:rPr>
                  <a:t>storage</a:t>
                </a:r>
                <a:endParaRPr sz="2400">
                  <a:solidFill>
                    <a:srgbClr val="55B6FF"/>
                  </a:solidFill>
                  <a:latin typeface="Material Icons"/>
                  <a:ea typeface="Material Icons"/>
                  <a:cs typeface="Material Icons"/>
                  <a:sym typeface="Material Icons"/>
                </a:endParaRPr>
              </a:p>
              <a:p>
                <a:pPr indent="0" lvl="0" marL="0" rtl="0" algn="ctr">
                  <a:spcBef>
                    <a:spcPts val="750"/>
                  </a:spcBef>
                  <a:spcAft>
                    <a:spcPts val="0"/>
                  </a:spcAft>
                  <a:buNone/>
                </a:pPr>
                <a:r>
                  <a:rPr b="1" lang="en" sz="1400">
                    <a:solidFill>
                      <a:srgbClr val="55B6FF"/>
                    </a:solidFill>
                    <a:latin typeface="Inter"/>
                    <a:ea typeface="Inter"/>
                    <a:cs typeface="Inter"/>
                    <a:sym typeface="Inter"/>
                  </a:rPr>
                  <a:t>1. Datasets</a:t>
                </a:r>
                <a:endParaRPr b="1" sz="1400">
                  <a:solidFill>
                    <a:srgbClr val="55B6FF"/>
                  </a:solidFill>
                  <a:latin typeface="Inter"/>
                  <a:ea typeface="Inter"/>
                  <a:cs typeface="Inter"/>
                  <a:sym typeface="Inter"/>
                </a:endParaRPr>
              </a:p>
              <a:p>
                <a:pPr indent="0" lvl="0" marL="0" rtl="0" algn="ctr">
                  <a:spcBef>
                    <a:spcPts val="0"/>
                  </a:spcBef>
                  <a:spcAft>
                    <a:spcPts val="0"/>
                  </a:spcAft>
                  <a:buNone/>
                </a:pPr>
                <a:r>
                  <a:rPr lang="en" sz="1100">
                    <a:solidFill>
                      <a:srgbClr val="F3F6FB"/>
                    </a:solidFill>
                    <a:latin typeface="Inter"/>
                    <a:ea typeface="Inter"/>
                    <a:cs typeface="Inter"/>
                    <a:sym typeface="Inter"/>
                  </a:rPr>
                  <a:t>Isaac G1</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BlenderProc</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OCID</a:t>
                </a:r>
                <a:endParaRPr sz="1100">
                  <a:solidFill>
                    <a:srgbClr val="F3F6FB"/>
                  </a:solidFill>
                  <a:latin typeface="Inter"/>
                  <a:ea typeface="Inter"/>
                  <a:cs typeface="Inter"/>
                  <a:sym typeface="Inter"/>
                </a:endParaRPr>
              </a:p>
            </p:txBody>
          </p:sp>
        </p:grpSp>
        <p:grpSp>
          <p:nvGrpSpPr>
            <p:cNvPr id="526" name="Google Shape;526;p21"/>
            <p:cNvGrpSpPr/>
            <p:nvPr/>
          </p:nvGrpSpPr>
          <p:grpSpPr>
            <a:xfrm>
              <a:off x="2524125" y="1047750"/>
              <a:ext cx="1905000" cy="2667000"/>
              <a:chOff x="0" y="0"/>
              <a:chExt cx="1905000" cy="2667000"/>
            </a:xfrm>
          </p:grpSpPr>
          <p:sp>
            <p:nvSpPr>
              <p:cNvPr id="527" name="Google Shape;527;p21"/>
              <p:cNvSpPr/>
              <p:nvPr/>
            </p:nvSpPr>
            <p:spPr>
              <a:xfrm>
                <a:off x="0" y="0"/>
                <a:ext cx="1905000" cy="2667000"/>
              </a:xfrm>
              <a:prstGeom prst="roundRect">
                <a:avLst>
                  <a:gd fmla="val 6000" name="adj"/>
                </a:avLst>
              </a:prstGeom>
              <a:solidFill>
                <a:srgbClr val="122B2A"/>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21"/>
              <p:cNvSpPr txBox="1"/>
              <p:nvPr/>
            </p:nvSpPr>
            <p:spPr>
              <a:xfrm>
                <a:off x="0" y="0"/>
                <a:ext cx="1905000" cy="26670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lang="en" sz="2400">
                    <a:solidFill>
                      <a:srgbClr val="4FD1C5"/>
                    </a:solidFill>
                    <a:latin typeface="Material Icons"/>
                    <a:ea typeface="Material Icons"/>
                    <a:cs typeface="Material Icons"/>
                    <a:sym typeface="Material Icons"/>
                  </a:rPr>
                  <a:t>psychology</a:t>
                </a:r>
                <a:endParaRPr sz="2400">
                  <a:solidFill>
                    <a:srgbClr val="4FD1C5"/>
                  </a:solidFill>
                  <a:latin typeface="Material Icons"/>
                  <a:ea typeface="Material Icons"/>
                  <a:cs typeface="Material Icons"/>
                  <a:sym typeface="Material Icons"/>
                </a:endParaRPr>
              </a:p>
              <a:p>
                <a:pPr indent="0" lvl="0" marL="0" rtl="0" algn="ctr">
                  <a:spcBef>
                    <a:spcPts val="750"/>
                  </a:spcBef>
                  <a:spcAft>
                    <a:spcPts val="0"/>
                  </a:spcAft>
                  <a:buNone/>
                </a:pPr>
                <a:r>
                  <a:rPr b="1" lang="en" sz="1400">
                    <a:solidFill>
                      <a:srgbClr val="4FD1C5"/>
                    </a:solidFill>
                    <a:latin typeface="Inter"/>
                    <a:ea typeface="Inter"/>
                    <a:cs typeface="Inter"/>
                    <a:sym typeface="Inter"/>
                  </a:rPr>
                  <a:t>2. Models + prompts</a:t>
                </a:r>
                <a:endParaRPr b="1" sz="1400">
                  <a:solidFill>
                    <a:srgbClr val="4FD1C5"/>
                  </a:solidFill>
                  <a:latin typeface="Inter"/>
                  <a:ea typeface="Inter"/>
                  <a:cs typeface="Inter"/>
                  <a:sym typeface="Inter"/>
                </a:endParaRPr>
              </a:p>
              <a:p>
                <a:pPr indent="0" lvl="0" marL="0" rtl="0" algn="ctr">
                  <a:spcBef>
                    <a:spcPts val="0"/>
                  </a:spcBef>
                  <a:spcAft>
                    <a:spcPts val="0"/>
                  </a:spcAft>
                  <a:buNone/>
                </a:pPr>
                <a:r>
                  <a:rPr lang="en" sz="1100">
                    <a:solidFill>
                      <a:srgbClr val="F3F6FB"/>
                    </a:solidFill>
                    <a:latin typeface="Inter"/>
                    <a:ea typeface="Inter"/>
                    <a:cs typeface="Inter"/>
                    <a:sym typeface="Inter"/>
                  </a:rPr>
                  <a:t>SAM-family</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point / box / auto</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baselines</a:t>
                </a:r>
                <a:endParaRPr sz="1100">
                  <a:solidFill>
                    <a:srgbClr val="F3F6FB"/>
                  </a:solidFill>
                  <a:latin typeface="Inter"/>
                  <a:ea typeface="Inter"/>
                  <a:cs typeface="Inter"/>
                  <a:sym typeface="Inter"/>
                </a:endParaRPr>
              </a:p>
            </p:txBody>
          </p:sp>
        </p:grpSp>
        <p:grpSp>
          <p:nvGrpSpPr>
            <p:cNvPr id="529" name="Google Shape;529;p21"/>
            <p:cNvGrpSpPr/>
            <p:nvPr/>
          </p:nvGrpSpPr>
          <p:grpSpPr>
            <a:xfrm>
              <a:off x="4619625" y="1047750"/>
              <a:ext cx="1905000" cy="2667000"/>
              <a:chOff x="0" y="0"/>
              <a:chExt cx="1905000" cy="2667000"/>
            </a:xfrm>
          </p:grpSpPr>
          <p:sp>
            <p:nvSpPr>
              <p:cNvPr id="530" name="Google Shape;530;p21"/>
              <p:cNvSpPr/>
              <p:nvPr/>
            </p:nvSpPr>
            <p:spPr>
              <a:xfrm>
                <a:off x="0" y="0"/>
                <a:ext cx="1905000" cy="2667000"/>
              </a:xfrm>
              <a:prstGeom prst="roundRect">
                <a:avLst>
                  <a:gd fmla="val 6000" name="adj"/>
                </a:avLst>
              </a:prstGeom>
              <a:solidFill>
                <a:srgbClr val="3A2215"/>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21"/>
              <p:cNvSpPr txBox="1"/>
              <p:nvPr/>
            </p:nvSpPr>
            <p:spPr>
              <a:xfrm>
                <a:off x="0" y="0"/>
                <a:ext cx="1905000" cy="26670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lang="en" sz="2400">
                    <a:solidFill>
                      <a:srgbClr val="FF9B5E"/>
                    </a:solidFill>
                    <a:latin typeface="Material Icons"/>
                    <a:ea typeface="Material Icons"/>
                    <a:cs typeface="Material Icons"/>
                    <a:sym typeface="Material Icons"/>
                  </a:rPr>
                  <a:t>analytics</a:t>
                </a:r>
                <a:endParaRPr sz="2400">
                  <a:solidFill>
                    <a:srgbClr val="FF9B5E"/>
                  </a:solidFill>
                  <a:latin typeface="Material Icons"/>
                  <a:ea typeface="Material Icons"/>
                  <a:cs typeface="Material Icons"/>
                  <a:sym typeface="Material Icons"/>
                </a:endParaRPr>
              </a:p>
              <a:p>
                <a:pPr indent="0" lvl="0" marL="0" rtl="0" algn="ctr">
                  <a:spcBef>
                    <a:spcPts val="750"/>
                  </a:spcBef>
                  <a:spcAft>
                    <a:spcPts val="0"/>
                  </a:spcAft>
                  <a:buNone/>
                </a:pPr>
                <a:r>
                  <a:rPr b="1" lang="en" sz="1400">
                    <a:solidFill>
                      <a:srgbClr val="FF9B5E"/>
                    </a:solidFill>
                    <a:latin typeface="Inter"/>
                    <a:ea typeface="Inter"/>
                    <a:cs typeface="Inter"/>
                    <a:sym typeface="Inter"/>
                  </a:rPr>
                  <a:t>3. Metrics</a:t>
                </a:r>
                <a:endParaRPr b="1" sz="1400">
                  <a:solidFill>
                    <a:srgbClr val="FF9B5E"/>
                  </a:solidFill>
                  <a:latin typeface="Inter"/>
                  <a:ea typeface="Inter"/>
                  <a:cs typeface="Inter"/>
                  <a:sym typeface="Inter"/>
                </a:endParaRPr>
              </a:p>
              <a:p>
                <a:pPr indent="0" lvl="0" marL="0" rtl="0" algn="ctr">
                  <a:spcBef>
                    <a:spcPts val="0"/>
                  </a:spcBef>
                  <a:spcAft>
                    <a:spcPts val="0"/>
                  </a:spcAft>
                  <a:buNone/>
                </a:pPr>
                <a:r>
                  <a:rPr lang="en" sz="1100">
                    <a:solidFill>
                      <a:srgbClr val="F3F6FB"/>
                    </a:solidFill>
                    <a:latin typeface="Inter"/>
                    <a:ea typeface="Inter"/>
                    <a:cs typeface="Inter"/>
                    <a:sym typeface="Inter"/>
                  </a:rPr>
                  <a:t>mIoU · Boundary F1</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Mask AP</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FPS</a:t>
                </a:r>
                <a:endParaRPr sz="1100">
                  <a:solidFill>
                    <a:srgbClr val="F3F6FB"/>
                  </a:solidFill>
                  <a:latin typeface="Inter"/>
                  <a:ea typeface="Inter"/>
                  <a:cs typeface="Inter"/>
                  <a:sym typeface="Inter"/>
                </a:endParaRPr>
              </a:p>
            </p:txBody>
          </p:sp>
        </p:grpSp>
        <p:grpSp>
          <p:nvGrpSpPr>
            <p:cNvPr id="532" name="Google Shape;532;p21"/>
            <p:cNvGrpSpPr/>
            <p:nvPr/>
          </p:nvGrpSpPr>
          <p:grpSpPr>
            <a:xfrm>
              <a:off x="6715125" y="1047750"/>
              <a:ext cx="1905000" cy="2667000"/>
              <a:chOff x="0" y="0"/>
              <a:chExt cx="1905000" cy="2667000"/>
            </a:xfrm>
          </p:grpSpPr>
          <p:sp>
            <p:nvSpPr>
              <p:cNvPr id="533" name="Google Shape;533;p21"/>
              <p:cNvSpPr/>
              <p:nvPr/>
            </p:nvSpPr>
            <p:spPr>
              <a:xfrm>
                <a:off x="0" y="0"/>
                <a:ext cx="1905000" cy="2667000"/>
              </a:xfrm>
              <a:prstGeom prst="roundRect">
                <a:avLst>
                  <a:gd fmla="val 6000" name="adj"/>
                </a:avLst>
              </a:prstGeom>
              <a:solidFill>
                <a:srgbClr val="321423"/>
              </a:solidFill>
              <a:ln cap="flat" cmpd="sng" w="1430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21"/>
              <p:cNvSpPr txBox="1"/>
              <p:nvPr/>
            </p:nvSpPr>
            <p:spPr>
              <a:xfrm>
                <a:off x="0" y="0"/>
                <a:ext cx="1905000" cy="26670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lang="en" sz="2400">
                    <a:solidFill>
                      <a:srgbClr val="F472B6"/>
                    </a:solidFill>
                    <a:latin typeface="Material Icons"/>
                    <a:ea typeface="Material Icons"/>
                    <a:cs typeface="Material Icons"/>
                    <a:sym typeface="Material Icons"/>
                  </a:rPr>
                  <a:t>lightbulb</a:t>
                </a:r>
                <a:endParaRPr sz="2400">
                  <a:solidFill>
                    <a:srgbClr val="F472B6"/>
                  </a:solidFill>
                  <a:latin typeface="Material Icons"/>
                  <a:ea typeface="Material Icons"/>
                  <a:cs typeface="Material Icons"/>
                  <a:sym typeface="Material Icons"/>
                </a:endParaRPr>
              </a:p>
              <a:p>
                <a:pPr indent="0" lvl="0" marL="0" rtl="0" algn="ctr">
                  <a:spcBef>
                    <a:spcPts val="750"/>
                  </a:spcBef>
                  <a:spcAft>
                    <a:spcPts val="0"/>
                  </a:spcAft>
                  <a:buNone/>
                </a:pPr>
                <a:r>
                  <a:rPr b="1" lang="en" sz="1400">
                    <a:solidFill>
                      <a:srgbClr val="F472B6"/>
                    </a:solidFill>
                    <a:latin typeface="Inter"/>
                    <a:ea typeface="Inter"/>
                    <a:cs typeface="Inter"/>
                    <a:sym typeface="Inter"/>
                  </a:rPr>
                  <a:t>4. Interpretation</a:t>
                </a:r>
                <a:endParaRPr b="1" sz="1400">
                  <a:solidFill>
                    <a:srgbClr val="F472B6"/>
                  </a:solidFill>
                  <a:latin typeface="Inter"/>
                  <a:ea typeface="Inter"/>
                  <a:cs typeface="Inter"/>
                  <a:sym typeface="Inter"/>
                </a:endParaRPr>
              </a:p>
              <a:p>
                <a:pPr indent="0" lvl="0" marL="0" rtl="0" algn="ctr">
                  <a:spcBef>
                    <a:spcPts val="0"/>
                  </a:spcBef>
                  <a:spcAft>
                    <a:spcPts val="0"/>
                  </a:spcAft>
                  <a:buNone/>
                </a:pPr>
                <a:r>
                  <a:rPr lang="en" sz="1100">
                    <a:solidFill>
                      <a:srgbClr val="F3F6FB"/>
                    </a:solidFill>
                    <a:latin typeface="Inter"/>
                    <a:ea typeface="Inter"/>
                    <a:cs typeface="Inter"/>
                    <a:sym typeface="Inter"/>
                  </a:rPr>
                  <a:t>failure modes</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COGAR mapping</a:t>
                </a:r>
                <a:endParaRPr sz="1100">
                  <a:solidFill>
                    <a:srgbClr val="F3F6FB"/>
                  </a:solidFill>
                  <a:latin typeface="Inter"/>
                  <a:ea typeface="Inter"/>
                  <a:cs typeface="Inter"/>
                  <a:sym typeface="Inter"/>
                </a:endParaRPr>
              </a:p>
              <a:p>
                <a:pPr indent="0" lvl="0" marL="0" rtl="0" algn="ctr">
                  <a:spcBef>
                    <a:spcPts val="375"/>
                  </a:spcBef>
                  <a:spcAft>
                    <a:spcPts val="0"/>
                  </a:spcAft>
                  <a:buNone/>
                </a:pPr>
                <a:r>
                  <a:rPr lang="en" sz="1100">
                    <a:solidFill>
                      <a:srgbClr val="F3F6FB"/>
                    </a:solidFill>
                    <a:latin typeface="Inter"/>
                    <a:ea typeface="Inter"/>
                    <a:cs typeface="Inter"/>
                    <a:sym typeface="Inter"/>
                  </a:rPr>
                  <a:t>recommendations</a:t>
                </a:r>
                <a:endParaRPr sz="1100">
                  <a:solidFill>
                    <a:srgbClr val="F3F6FB"/>
                  </a:solidFill>
                  <a:latin typeface="Inter"/>
                  <a:ea typeface="Inter"/>
                  <a:cs typeface="Inter"/>
                  <a:sym typeface="Inter"/>
                </a:endParaRPr>
              </a:p>
            </p:txBody>
          </p:sp>
        </p:grpSp>
      </p:grpSp>
      <p:sp>
        <p:nvSpPr>
          <p:cNvPr id="535" name="Google Shape;535;p21"/>
          <p:cNvSpPr/>
          <p:nvPr/>
        </p:nvSpPr>
        <p:spPr>
          <a:xfrm>
            <a:off x="428625" y="3905250"/>
            <a:ext cx="8286900" cy="714300"/>
          </a:xfrm>
          <a:prstGeom prst="roundRect">
            <a:avLst>
              <a:gd fmla="val 10666" name="adj"/>
            </a:avLst>
          </a:prstGeom>
          <a:solidFill>
            <a:srgbClr val="111827"/>
          </a:solidFill>
          <a:ln cap="flat" cmpd="sng" w="14300">
            <a:solidFill>
              <a:srgbClr val="334155"/>
            </a:solidFill>
            <a:prstDash val="solid"/>
            <a:round/>
            <a:headEnd len="sm" w="sm" type="none"/>
            <a:tailEnd len="sm" w="sm" type="none"/>
          </a:ln>
        </p:spPr>
        <p:txBody>
          <a:bodyPr anchorCtr="0" anchor="ctr" bIns="0" lIns="285750" spcFirstLastPara="1" rIns="285750" wrap="square" tIns="0">
            <a:noAutofit/>
          </a:bodyPr>
          <a:lstStyle/>
          <a:p>
            <a:pPr indent="0" lvl="0" marL="0" rtl="0" algn="l">
              <a:spcBef>
                <a:spcPts val="0"/>
              </a:spcBef>
              <a:spcAft>
                <a:spcPts val="0"/>
              </a:spcAft>
              <a:buNone/>
            </a:pPr>
            <a:r>
              <a:rPr b="1" lang="en" sz="1100">
                <a:solidFill>
                  <a:srgbClr val="55B6FF"/>
                </a:solidFill>
                <a:latin typeface="Inter"/>
                <a:ea typeface="Inter"/>
                <a:cs typeface="Inter"/>
                <a:sym typeface="Inter"/>
              </a:rPr>
              <a:t>Main hypotheses:</a:t>
            </a:r>
            <a:r>
              <a:rPr lang="en" sz="1100">
                <a:solidFill>
                  <a:srgbClr val="F3F6FB"/>
                </a:solidFill>
                <a:latin typeface="Inter"/>
                <a:ea typeface="Inter"/>
                <a:cs typeface="Inter"/>
                <a:sym typeface="Inter"/>
              </a:rPr>
              <a:t> box prompts outperform point/automatic masks; heavy SAM-family models maximize quality but cost speed; lightweight variants improve deployability with robustness trade-offs.</a:t>
            </a:r>
            <a:endParaRPr sz="1100">
              <a:solidFill>
                <a:srgbClr val="F3F6FB"/>
              </a:solidFill>
              <a:latin typeface="Inter"/>
              <a:ea typeface="Inter"/>
              <a:cs typeface="Inter"/>
              <a:sym typeface="Inter"/>
            </a:endParaRPr>
          </a:p>
        </p:txBody>
      </p:sp>
      <p:sp>
        <p:nvSpPr>
          <p:cNvPr id="536" name="Google Shape;536;p21"/>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Experimental formulation</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1" name="Shape 541"/>
        <p:cNvGrpSpPr/>
        <p:nvPr/>
      </p:nvGrpSpPr>
      <p:grpSpPr>
        <a:xfrm>
          <a:off x="0" y="0"/>
          <a:ext cx="0" cy="0"/>
          <a:chOff x="0" y="0"/>
          <a:chExt cx="0" cy="0"/>
        </a:xfrm>
      </p:grpSpPr>
      <p:cxnSp>
        <p:nvCxnSpPr>
          <p:cNvPr id="542" name="Google Shape;542;p22"/>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43" name="Google Shape;543;p22"/>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44" name="Google Shape;544;p22"/>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45" name="Google Shape;545;p22"/>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46" name="Google Shape;546;p22"/>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47" name="Google Shape;547;p22"/>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48" name="Google Shape;548;p22"/>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49" name="Google Shape;549;p22"/>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0" name="Google Shape;550;p22"/>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1" name="Google Shape;551;p22"/>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2" name="Google Shape;552;p22"/>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3" name="Google Shape;553;p22"/>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4" name="Google Shape;554;p22"/>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5" name="Google Shape;555;p22"/>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6" name="Google Shape;556;p22"/>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7" name="Google Shape;557;p22"/>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8" name="Google Shape;558;p22"/>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59" name="Google Shape;559;p22"/>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0" name="Google Shape;560;p22"/>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1" name="Google Shape;561;p22"/>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2" name="Google Shape;562;p22"/>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3" name="Google Shape;563;p22"/>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4" name="Google Shape;564;p22"/>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5" name="Google Shape;565;p22"/>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6" name="Google Shape;566;p22"/>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7" name="Google Shape;567;p22"/>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8" name="Google Shape;568;p22"/>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69" name="Google Shape;569;p22"/>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0" name="Google Shape;570;p22"/>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1" name="Google Shape;571;p22"/>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2" name="Google Shape;572;p22"/>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3" name="Google Shape;573;p22"/>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4" name="Google Shape;574;p22"/>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5" name="Google Shape;575;p22"/>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6" name="Google Shape;576;p22"/>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7" name="Google Shape;577;p22"/>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8" name="Google Shape;578;p22"/>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79" name="Google Shape;579;p22"/>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80" name="Google Shape;580;p22"/>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81" name="Google Shape;581;p22"/>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82" name="Google Shape;582;p22"/>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83" name="Google Shape;583;p22"/>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584" name="Google Shape;584;p22"/>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585" name="Google Shape;585;p22"/>
          <p:cNvGrpSpPr/>
          <p:nvPr/>
        </p:nvGrpSpPr>
        <p:grpSpPr>
          <a:xfrm>
            <a:off x="381000" y="285750"/>
            <a:ext cx="8382000" cy="666825"/>
            <a:chOff x="0" y="0"/>
            <a:chExt cx="8382000" cy="666825"/>
          </a:xfrm>
        </p:grpSpPr>
        <p:sp>
          <p:nvSpPr>
            <p:cNvPr id="586" name="Google Shape;586;p22"/>
            <p:cNvSpPr txBox="1"/>
            <p:nvPr/>
          </p:nvSpPr>
          <p:spPr>
            <a:xfrm>
              <a:off x="0" y="0"/>
              <a:ext cx="8382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3F6FB"/>
                  </a:solidFill>
                  <a:latin typeface="Inter"/>
                  <a:ea typeface="Inter"/>
                  <a:cs typeface="Inter"/>
                  <a:sym typeface="Inter"/>
                </a:rPr>
                <a:t>Dataset and Simulation Design</a:t>
              </a:r>
              <a:endParaRPr b="1" sz="2400">
                <a:solidFill>
                  <a:srgbClr val="F3F6FB"/>
                </a:solidFill>
                <a:latin typeface="Inter"/>
                <a:ea typeface="Inter"/>
                <a:cs typeface="Inter"/>
                <a:sym typeface="Inter"/>
              </a:endParaRPr>
            </a:p>
          </p:txBody>
        </p:sp>
        <p:sp>
          <p:nvSpPr>
            <p:cNvPr id="587" name="Google Shape;587;p22"/>
            <p:cNvSpPr txBox="1"/>
            <p:nvPr/>
          </p:nvSpPr>
          <p:spPr>
            <a:xfrm>
              <a:off x="0" y="428625"/>
              <a:ext cx="838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000">
                  <a:solidFill>
                    <a:srgbClr val="55B6FF"/>
                  </a:solidFill>
                  <a:latin typeface="Inter"/>
                  <a:ea typeface="Inter"/>
                  <a:cs typeface="Inter"/>
                  <a:sym typeface="Inter"/>
                </a:rPr>
                <a:t>Simulation enables controlled rare-case evaluation; OCID adds real clutter reference.</a:t>
              </a:r>
              <a:endParaRPr b="0" i="1" sz="1000">
                <a:solidFill>
                  <a:srgbClr val="55B6FF"/>
                </a:solidFill>
                <a:latin typeface="Inter"/>
                <a:ea typeface="Inter"/>
                <a:cs typeface="Inter"/>
                <a:sym typeface="Inter"/>
              </a:endParaRPr>
            </a:p>
          </p:txBody>
        </p:sp>
      </p:grpSp>
      <p:grpSp>
        <p:nvGrpSpPr>
          <p:cNvPr id="588" name="Google Shape;588;p22"/>
          <p:cNvGrpSpPr/>
          <p:nvPr/>
        </p:nvGrpSpPr>
        <p:grpSpPr>
          <a:xfrm>
            <a:off x="381000" y="285750"/>
            <a:ext cx="8382000" cy="666825"/>
            <a:chOff x="0" y="0"/>
            <a:chExt cx="8382000" cy="666825"/>
          </a:xfrm>
        </p:grpSpPr>
        <p:sp>
          <p:nvSpPr>
            <p:cNvPr id="589" name="Google Shape;589;p22"/>
            <p:cNvSpPr txBox="1"/>
            <p:nvPr/>
          </p:nvSpPr>
          <p:spPr>
            <a:xfrm>
              <a:off x="0" y="0"/>
              <a:ext cx="8382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3F6FB"/>
                  </a:solidFill>
                  <a:latin typeface="Inter"/>
                  <a:ea typeface="Inter"/>
                  <a:cs typeface="Inter"/>
                  <a:sym typeface="Inter"/>
                </a:rPr>
                <a:t>Dataset and Simulation Design</a:t>
              </a:r>
              <a:endParaRPr b="1" sz="2400">
                <a:solidFill>
                  <a:srgbClr val="F3F6FB"/>
                </a:solidFill>
                <a:latin typeface="Inter"/>
                <a:ea typeface="Inter"/>
                <a:cs typeface="Inter"/>
                <a:sym typeface="Inter"/>
              </a:endParaRPr>
            </a:p>
          </p:txBody>
        </p:sp>
        <p:sp>
          <p:nvSpPr>
            <p:cNvPr id="590" name="Google Shape;590;p22"/>
            <p:cNvSpPr txBox="1"/>
            <p:nvPr/>
          </p:nvSpPr>
          <p:spPr>
            <a:xfrm>
              <a:off x="0" y="428625"/>
              <a:ext cx="8382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000">
                  <a:solidFill>
                    <a:srgbClr val="55B6FF"/>
                  </a:solidFill>
                  <a:latin typeface="Inter"/>
                  <a:ea typeface="Inter"/>
                  <a:cs typeface="Inter"/>
                  <a:sym typeface="Inter"/>
                </a:rPr>
                <a:t>Simulation enables controlled rare-case evaluation; OCID adds real clutter reference.</a:t>
              </a:r>
              <a:endParaRPr b="0" i="1" sz="1000">
                <a:solidFill>
                  <a:srgbClr val="55B6FF"/>
                </a:solidFill>
                <a:latin typeface="Inter"/>
                <a:ea typeface="Inter"/>
                <a:cs typeface="Inter"/>
                <a:sym typeface="Inter"/>
              </a:endParaRPr>
            </a:p>
          </p:txBody>
        </p:sp>
      </p:grpSp>
      <p:pic>
        <p:nvPicPr>
          <p:cNvPr id="591" name="Google Shape;591;p22"/>
          <p:cNvPicPr preferRelativeResize="0"/>
          <p:nvPr/>
        </p:nvPicPr>
        <p:blipFill rotWithShape="1">
          <a:blip r:embed="rId4">
            <a:alphaModFix/>
          </a:blip>
          <a:srcRect b="0" l="0" r="0" t="0"/>
          <a:stretch/>
        </p:blipFill>
        <p:spPr>
          <a:xfrm>
            <a:off x="381000" y="995363"/>
            <a:ext cx="8382000" cy="9600"/>
          </a:xfrm>
          <a:prstGeom prst="rect">
            <a:avLst/>
          </a:prstGeom>
          <a:noFill/>
          <a:ln>
            <a:noFill/>
          </a:ln>
        </p:spPr>
      </p:pic>
      <p:cxnSp>
        <p:nvCxnSpPr>
          <p:cNvPr id="592" name="Google Shape;592;p22"/>
          <p:cNvCxnSpPr/>
          <p:nvPr/>
        </p:nvCxnSpPr>
        <p:spPr>
          <a:xfrm>
            <a:off x="381000" y="1000125"/>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grpSp>
        <p:nvGrpSpPr>
          <p:cNvPr id="593" name="Google Shape;593;p22"/>
          <p:cNvGrpSpPr/>
          <p:nvPr/>
        </p:nvGrpSpPr>
        <p:grpSpPr>
          <a:xfrm>
            <a:off x="381000" y="1238250"/>
            <a:ext cx="2667000" cy="2857500"/>
            <a:chOff x="0" y="0"/>
            <a:chExt cx="2667000" cy="2857500"/>
          </a:xfrm>
        </p:grpSpPr>
        <p:sp>
          <p:nvSpPr>
            <p:cNvPr id="594" name="Google Shape;594;p22"/>
            <p:cNvSpPr/>
            <p:nvPr/>
          </p:nvSpPr>
          <p:spPr>
            <a:xfrm>
              <a:off x="0" y="0"/>
              <a:ext cx="2667000" cy="2857500"/>
            </a:xfrm>
            <a:prstGeom prst="roundRect">
              <a:avLst>
                <a:gd fmla="val 4285" name="adj"/>
              </a:avLst>
            </a:prstGeom>
            <a:solidFill>
              <a:srgbClr val="10243A"/>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95" name="Google Shape;595;p22"/>
            <p:cNvPicPr preferRelativeResize="0"/>
            <p:nvPr/>
          </p:nvPicPr>
          <p:blipFill rotWithShape="1">
            <a:blip r:embed="rId5">
              <a:alphaModFix/>
            </a:blip>
            <a:srcRect b="13528" l="0" r="0" t="198"/>
            <a:stretch/>
          </p:blipFill>
          <p:spPr>
            <a:xfrm>
              <a:off x="190500" y="190500"/>
              <a:ext cx="2286000" cy="1047900"/>
            </a:xfrm>
            <a:prstGeom prst="roundRect">
              <a:avLst>
                <a:gd fmla="val 7272" name="adj"/>
              </a:avLst>
            </a:prstGeom>
            <a:noFill/>
            <a:ln>
              <a:noFill/>
            </a:ln>
          </p:spPr>
        </p:pic>
        <p:sp>
          <p:nvSpPr>
            <p:cNvPr id="596" name="Google Shape;596;p22"/>
            <p:cNvSpPr txBox="1"/>
            <p:nvPr/>
          </p:nvSpPr>
          <p:spPr>
            <a:xfrm>
              <a:off x="190500" y="1333500"/>
              <a:ext cx="2286000" cy="1333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solidFill>
                    <a:srgbClr val="55B6FF"/>
                  </a:solidFill>
                  <a:latin typeface="Inter"/>
                  <a:ea typeface="Inter"/>
                  <a:cs typeface="Inter"/>
                  <a:sym typeface="Inter"/>
                </a:rPr>
                <a:t>Isaac official Unitree G1</a:t>
              </a:r>
              <a:endParaRPr b="1" sz="1300">
                <a:solidFill>
                  <a:srgbClr val="55B6FF"/>
                </a:solidFill>
                <a:latin typeface="Inter"/>
                <a:ea typeface="Inter"/>
                <a:cs typeface="Inter"/>
                <a:sym typeface="Inter"/>
              </a:endParaRPr>
            </a:p>
            <a:p>
              <a:pPr indent="0" lvl="0" marL="0" rtl="0" algn="ctr">
                <a:spcBef>
                  <a:spcPts val="750"/>
                </a:spcBef>
                <a:spcAft>
                  <a:spcPts val="0"/>
                </a:spcAft>
                <a:buNone/>
              </a:pPr>
              <a:r>
                <a:rPr b="0" lang="en" sz="1000">
                  <a:solidFill>
                    <a:srgbClr val="F3F6FB"/>
                  </a:solidFill>
                  <a:latin typeface="Inter"/>
                  <a:ea typeface="Inter"/>
                  <a:cs typeface="Inter"/>
                  <a:sym typeface="Inter"/>
                </a:rPr>
                <a:t>Synthetic / Isaac Sim</a:t>
              </a:r>
              <a:endParaRPr b="0" sz="1000">
                <a:solidFill>
                  <a:srgbClr val="F3F6FB"/>
                </a:solidFill>
                <a:latin typeface="Inter"/>
                <a:ea typeface="Inter"/>
                <a:cs typeface="Inter"/>
                <a:sym typeface="Inter"/>
              </a:endParaRPr>
            </a:p>
            <a:p>
              <a:pPr indent="0" lvl="0" marL="0" rtl="0" algn="ctr">
                <a:spcBef>
                  <a:spcPts val="300"/>
                </a:spcBef>
                <a:spcAft>
                  <a:spcPts val="0"/>
                </a:spcAft>
                <a:buNone/>
              </a:pPr>
              <a:r>
                <a:rPr b="0" lang="en" sz="1000">
                  <a:solidFill>
                    <a:srgbClr val="F3F6FB"/>
                  </a:solidFill>
                  <a:latin typeface="Inter"/>
                  <a:ea typeface="Inter"/>
                  <a:cs typeface="Inter"/>
                  <a:sym typeface="Inter"/>
                </a:rPr>
                <a:t>1000 images</a:t>
              </a:r>
              <a:endParaRPr b="0" sz="1000">
                <a:solidFill>
                  <a:srgbClr val="F3F6FB"/>
                </a:solidFill>
                <a:latin typeface="Inter"/>
                <a:ea typeface="Inter"/>
                <a:cs typeface="Inter"/>
                <a:sym typeface="Inter"/>
              </a:endParaRPr>
            </a:p>
            <a:p>
              <a:pPr indent="0" lvl="0" marL="0" rtl="0" algn="ctr">
                <a:spcBef>
                  <a:spcPts val="300"/>
                </a:spcBef>
                <a:spcAft>
                  <a:spcPts val="0"/>
                </a:spcAft>
                <a:buNone/>
              </a:pPr>
              <a:r>
                <a:rPr b="0" lang="en" sz="900">
                  <a:solidFill>
                    <a:srgbClr val="94A3B8"/>
                  </a:solidFill>
                  <a:latin typeface="Inter"/>
                  <a:ea typeface="Inter"/>
                  <a:cs typeface="Inter"/>
                  <a:sym typeface="Inter"/>
                </a:rPr>
                <a:t>Robot-centered simulation benchmark</a:t>
              </a:r>
              <a:endParaRPr b="0" sz="900">
                <a:solidFill>
                  <a:srgbClr val="94A3B8"/>
                </a:solidFill>
                <a:latin typeface="Inter"/>
                <a:ea typeface="Inter"/>
                <a:cs typeface="Inter"/>
                <a:sym typeface="Inter"/>
              </a:endParaRPr>
            </a:p>
          </p:txBody>
        </p:sp>
      </p:grpSp>
      <p:grpSp>
        <p:nvGrpSpPr>
          <p:cNvPr id="597" name="Google Shape;597;p22"/>
          <p:cNvGrpSpPr/>
          <p:nvPr/>
        </p:nvGrpSpPr>
        <p:grpSpPr>
          <a:xfrm>
            <a:off x="381000" y="1238250"/>
            <a:ext cx="8382000" cy="2857500"/>
            <a:chOff x="0" y="0"/>
            <a:chExt cx="8382000" cy="2857500"/>
          </a:xfrm>
        </p:grpSpPr>
        <p:grpSp>
          <p:nvGrpSpPr>
            <p:cNvPr id="598" name="Google Shape;598;p22"/>
            <p:cNvGrpSpPr/>
            <p:nvPr/>
          </p:nvGrpSpPr>
          <p:grpSpPr>
            <a:xfrm>
              <a:off x="0" y="0"/>
              <a:ext cx="2667000" cy="2857500"/>
              <a:chOff x="0" y="0"/>
              <a:chExt cx="2667000" cy="2857500"/>
            </a:xfrm>
          </p:grpSpPr>
          <p:sp>
            <p:nvSpPr>
              <p:cNvPr id="599" name="Google Shape;599;p22"/>
              <p:cNvSpPr/>
              <p:nvPr/>
            </p:nvSpPr>
            <p:spPr>
              <a:xfrm>
                <a:off x="0" y="0"/>
                <a:ext cx="2667000" cy="2857500"/>
              </a:xfrm>
              <a:prstGeom prst="roundRect">
                <a:avLst>
                  <a:gd fmla="val 4285" name="adj"/>
                </a:avLst>
              </a:prstGeom>
              <a:solidFill>
                <a:srgbClr val="10243A"/>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00" name="Google Shape;600;p22"/>
              <p:cNvPicPr preferRelativeResize="0"/>
              <p:nvPr/>
            </p:nvPicPr>
            <p:blipFill rotWithShape="1">
              <a:blip r:embed="rId5">
                <a:alphaModFix/>
              </a:blip>
              <a:srcRect b="0" l="2777" r="2777" t="0"/>
              <a:stretch/>
            </p:blipFill>
            <p:spPr>
              <a:xfrm>
                <a:off x="190500" y="190500"/>
                <a:ext cx="2286000" cy="1285800"/>
              </a:xfrm>
              <a:prstGeom prst="roundRect">
                <a:avLst>
                  <a:gd fmla="val 5925" name="adj"/>
                </a:avLst>
              </a:prstGeom>
              <a:noFill/>
              <a:ln>
                <a:noFill/>
              </a:ln>
            </p:spPr>
          </p:pic>
          <p:sp>
            <p:nvSpPr>
              <p:cNvPr id="601" name="Google Shape;601;p22"/>
              <p:cNvSpPr/>
              <p:nvPr/>
            </p:nvSpPr>
            <p:spPr>
              <a:xfrm>
                <a:off x="190500" y="1571625"/>
                <a:ext cx="666900" cy="190500"/>
              </a:xfrm>
              <a:prstGeom prst="roundRect">
                <a:avLst>
                  <a:gd fmla="val 20000" name="adj"/>
                </a:avLst>
              </a:prstGeom>
              <a:solidFill>
                <a:srgbClr val="55B6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2" name="Google Shape;602;p22"/>
              <p:cNvSpPr txBox="1"/>
              <p:nvPr/>
            </p:nvSpPr>
            <p:spPr>
              <a:xfrm>
                <a:off x="190500" y="1571625"/>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55B6FF"/>
                    </a:solidFill>
                    <a:latin typeface="Inter"/>
                    <a:ea typeface="Inter"/>
                    <a:cs typeface="Inter"/>
                    <a:sym typeface="Inter"/>
                  </a:rPr>
                  <a:t>SYNTHETIC</a:t>
                </a:r>
                <a:endParaRPr b="1" sz="800">
                  <a:solidFill>
                    <a:srgbClr val="55B6FF"/>
                  </a:solidFill>
                  <a:latin typeface="Inter"/>
                  <a:ea typeface="Inter"/>
                  <a:cs typeface="Inter"/>
                  <a:sym typeface="Inter"/>
                </a:endParaRPr>
              </a:p>
            </p:txBody>
          </p:sp>
          <p:sp>
            <p:nvSpPr>
              <p:cNvPr id="603" name="Google Shape;603;p22"/>
              <p:cNvSpPr/>
              <p:nvPr/>
            </p:nvSpPr>
            <p:spPr>
              <a:xfrm>
                <a:off x="904875" y="1571625"/>
                <a:ext cx="762000" cy="190500"/>
              </a:xfrm>
              <a:prstGeom prst="roundRect">
                <a:avLst>
                  <a:gd fmla="val 20000" name="adj"/>
                </a:avLst>
              </a:prstGeom>
              <a:solidFill>
                <a:srgbClr val="4FD1C5">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22"/>
              <p:cNvSpPr txBox="1"/>
              <p:nvPr/>
            </p:nvSpPr>
            <p:spPr>
              <a:xfrm>
                <a:off x="904875" y="1571625"/>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4FD1C5"/>
                    </a:solidFill>
                    <a:latin typeface="Inter"/>
                    <a:ea typeface="Inter"/>
                    <a:cs typeface="Inter"/>
                    <a:sym typeface="Inter"/>
                  </a:rPr>
                  <a:t>CONTROLLED</a:t>
                </a:r>
                <a:endParaRPr b="1" sz="800">
                  <a:solidFill>
                    <a:srgbClr val="4FD1C5"/>
                  </a:solidFill>
                  <a:latin typeface="Inter"/>
                  <a:ea typeface="Inter"/>
                  <a:cs typeface="Inter"/>
                  <a:sym typeface="Inter"/>
                </a:endParaRPr>
              </a:p>
            </p:txBody>
          </p:sp>
          <p:sp>
            <p:nvSpPr>
              <p:cNvPr id="605" name="Google Shape;605;p22"/>
              <p:cNvSpPr txBox="1"/>
              <p:nvPr/>
            </p:nvSpPr>
            <p:spPr>
              <a:xfrm>
                <a:off x="190500" y="1809750"/>
                <a:ext cx="2286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55B6FF"/>
                    </a:solidFill>
                    <a:latin typeface="Inter"/>
                    <a:ea typeface="Inter"/>
                    <a:cs typeface="Inter"/>
                    <a:sym typeface="Inter"/>
                  </a:rPr>
                  <a:t>Isaac official Unitree G1</a:t>
                </a:r>
                <a:endParaRPr b="1" sz="1300">
                  <a:solidFill>
                    <a:srgbClr val="55B6FF"/>
                  </a:solidFill>
                  <a:latin typeface="Inter"/>
                  <a:ea typeface="Inter"/>
                  <a:cs typeface="Inter"/>
                  <a:sym typeface="Inter"/>
                </a:endParaRPr>
              </a:p>
              <a:p>
                <a:pPr indent="0" lvl="0" marL="0" rtl="0" algn="l">
                  <a:spcBef>
                    <a:spcPts val="300"/>
                  </a:spcBef>
                  <a:spcAft>
                    <a:spcPts val="0"/>
                  </a:spcAft>
                  <a:buNone/>
                </a:pPr>
                <a:r>
                  <a:rPr lang="en" sz="1000">
                    <a:solidFill>
                      <a:srgbClr val="F3F6FB"/>
                    </a:solidFill>
                    <a:latin typeface="Inter"/>
                    <a:ea typeface="Inter"/>
                    <a:cs typeface="Inter"/>
                    <a:sym typeface="Inter"/>
                  </a:rPr>
                  <a:t>Isaac Sim</a:t>
                </a:r>
                <a:endParaRPr sz="1000">
                  <a:solidFill>
                    <a:srgbClr val="F3F6FB"/>
                  </a:solidFill>
                  <a:latin typeface="Inter"/>
                  <a:ea typeface="Inter"/>
                  <a:cs typeface="Inter"/>
                  <a:sym typeface="Inter"/>
                </a:endParaRPr>
              </a:p>
              <a:p>
                <a:pPr indent="0" lvl="0" marL="0" rtl="0" algn="l">
                  <a:spcBef>
                    <a:spcPts val="150"/>
                  </a:spcBef>
                  <a:spcAft>
                    <a:spcPts val="0"/>
                  </a:spcAft>
                  <a:buNone/>
                </a:pPr>
                <a:r>
                  <a:rPr lang="en" sz="1000">
                    <a:solidFill>
                      <a:srgbClr val="F3F6FB"/>
                    </a:solidFill>
                    <a:latin typeface="Inter"/>
                    <a:ea typeface="Inter"/>
                    <a:cs typeface="Inter"/>
                    <a:sym typeface="Inter"/>
                  </a:rPr>
                  <a:t>1,000 images</a:t>
                </a:r>
                <a:endParaRPr sz="1000">
                  <a:solidFill>
                    <a:srgbClr val="F3F6FB"/>
                  </a:solidFill>
                  <a:latin typeface="Inter"/>
                  <a:ea typeface="Inter"/>
                  <a:cs typeface="Inter"/>
                  <a:sym typeface="Inter"/>
                </a:endParaRPr>
              </a:p>
              <a:p>
                <a:pPr indent="0" lvl="0" marL="0" rtl="0" algn="l">
                  <a:spcBef>
                    <a:spcPts val="450"/>
                  </a:spcBef>
                  <a:spcAft>
                    <a:spcPts val="0"/>
                  </a:spcAft>
                  <a:buNone/>
                </a:pPr>
                <a:r>
                  <a:rPr lang="en" sz="900">
                    <a:solidFill>
                      <a:srgbClr val="94A3B8"/>
                    </a:solidFill>
                    <a:latin typeface="Inter"/>
                    <a:ea typeface="Inter"/>
                    <a:cs typeface="Inter"/>
                    <a:sym typeface="Inter"/>
                  </a:rPr>
                  <a:t>Robot-centered simulation benchmark</a:t>
                </a:r>
                <a:endParaRPr sz="900">
                  <a:solidFill>
                    <a:srgbClr val="94A3B8"/>
                  </a:solidFill>
                  <a:latin typeface="Inter"/>
                  <a:ea typeface="Inter"/>
                  <a:cs typeface="Inter"/>
                  <a:sym typeface="Inter"/>
                </a:endParaRPr>
              </a:p>
            </p:txBody>
          </p:sp>
        </p:grpSp>
        <p:grpSp>
          <p:nvGrpSpPr>
            <p:cNvPr id="606" name="Google Shape;606;p22"/>
            <p:cNvGrpSpPr/>
            <p:nvPr/>
          </p:nvGrpSpPr>
          <p:grpSpPr>
            <a:xfrm>
              <a:off x="2857500" y="0"/>
              <a:ext cx="2667000" cy="2857500"/>
              <a:chOff x="0" y="0"/>
              <a:chExt cx="2667000" cy="2857500"/>
            </a:xfrm>
          </p:grpSpPr>
          <p:sp>
            <p:nvSpPr>
              <p:cNvPr id="607" name="Google Shape;607;p22"/>
              <p:cNvSpPr/>
              <p:nvPr/>
            </p:nvSpPr>
            <p:spPr>
              <a:xfrm>
                <a:off x="0" y="0"/>
                <a:ext cx="2667000" cy="2857500"/>
              </a:xfrm>
              <a:prstGeom prst="roundRect">
                <a:avLst>
                  <a:gd fmla="val 4285" name="adj"/>
                </a:avLst>
              </a:prstGeom>
              <a:solidFill>
                <a:srgbClr val="122B2A"/>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08" name="Google Shape;608;p22"/>
              <p:cNvPicPr preferRelativeResize="0"/>
              <p:nvPr/>
            </p:nvPicPr>
            <p:blipFill rotWithShape="1">
              <a:blip r:embed="rId6">
                <a:alphaModFix/>
              </a:blip>
              <a:srcRect b="0" l="23079" r="23085" t="0"/>
              <a:stretch/>
            </p:blipFill>
            <p:spPr>
              <a:xfrm>
                <a:off x="190500" y="190500"/>
                <a:ext cx="2286000" cy="1285800"/>
              </a:xfrm>
              <a:prstGeom prst="roundRect">
                <a:avLst>
                  <a:gd fmla="val 5925" name="adj"/>
                </a:avLst>
              </a:prstGeom>
              <a:noFill/>
              <a:ln>
                <a:noFill/>
              </a:ln>
            </p:spPr>
          </p:pic>
          <p:sp>
            <p:nvSpPr>
              <p:cNvPr id="609" name="Google Shape;609;p22"/>
              <p:cNvSpPr/>
              <p:nvPr/>
            </p:nvSpPr>
            <p:spPr>
              <a:xfrm>
                <a:off x="190500" y="1571625"/>
                <a:ext cx="666900" cy="190500"/>
              </a:xfrm>
              <a:prstGeom prst="roundRect">
                <a:avLst>
                  <a:gd fmla="val 20000" name="adj"/>
                </a:avLst>
              </a:prstGeom>
              <a:solidFill>
                <a:srgbClr val="55B6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0" name="Google Shape;610;p22"/>
              <p:cNvSpPr txBox="1"/>
              <p:nvPr/>
            </p:nvSpPr>
            <p:spPr>
              <a:xfrm>
                <a:off x="190500" y="1571625"/>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55B6FF"/>
                    </a:solidFill>
                    <a:latin typeface="Inter"/>
                    <a:ea typeface="Inter"/>
                    <a:cs typeface="Inter"/>
                    <a:sym typeface="Inter"/>
                  </a:rPr>
                  <a:t>SYNTHETIC</a:t>
                </a:r>
                <a:endParaRPr b="1" sz="800">
                  <a:solidFill>
                    <a:srgbClr val="55B6FF"/>
                  </a:solidFill>
                  <a:latin typeface="Inter"/>
                  <a:ea typeface="Inter"/>
                  <a:cs typeface="Inter"/>
                  <a:sym typeface="Inter"/>
                </a:endParaRPr>
              </a:p>
            </p:txBody>
          </p:sp>
          <p:sp>
            <p:nvSpPr>
              <p:cNvPr id="611" name="Google Shape;611;p22"/>
              <p:cNvSpPr/>
              <p:nvPr/>
            </p:nvSpPr>
            <p:spPr>
              <a:xfrm>
                <a:off x="904875" y="1571625"/>
                <a:ext cx="762000" cy="190500"/>
              </a:xfrm>
              <a:prstGeom prst="roundRect">
                <a:avLst>
                  <a:gd fmla="val 20000" name="adj"/>
                </a:avLst>
              </a:prstGeom>
              <a:solidFill>
                <a:srgbClr val="4FD1C5">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22"/>
              <p:cNvSpPr txBox="1"/>
              <p:nvPr/>
            </p:nvSpPr>
            <p:spPr>
              <a:xfrm>
                <a:off x="904875" y="1571625"/>
                <a:ext cx="762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4FD1C5"/>
                    </a:solidFill>
                    <a:latin typeface="Inter"/>
                    <a:ea typeface="Inter"/>
                    <a:cs typeface="Inter"/>
                    <a:sym typeface="Inter"/>
                  </a:rPr>
                  <a:t>CONTROLLED</a:t>
                </a:r>
                <a:endParaRPr b="1" sz="800">
                  <a:solidFill>
                    <a:srgbClr val="4FD1C5"/>
                  </a:solidFill>
                  <a:latin typeface="Inter"/>
                  <a:ea typeface="Inter"/>
                  <a:cs typeface="Inter"/>
                  <a:sym typeface="Inter"/>
                </a:endParaRPr>
              </a:p>
            </p:txBody>
          </p:sp>
          <p:sp>
            <p:nvSpPr>
              <p:cNvPr id="613" name="Google Shape;613;p22"/>
              <p:cNvSpPr txBox="1"/>
              <p:nvPr/>
            </p:nvSpPr>
            <p:spPr>
              <a:xfrm>
                <a:off x="190500" y="1809750"/>
                <a:ext cx="2286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4FD1C5"/>
                    </a:solidFill>
                    <a:latin typeface="Inter"/>
                    <a:ea typeface="Inter"/>
                    <a:cs typeface="Inter"/>
                    <a:sym typeface="Inter"/>
                  </a:rPr>
                  <a:t>BlenderProc COGAR-1000</a:t>
                </a:r>
                <a:endParaRPr b="1" sz="1100">
                  <a:solidFill>
                    <a:srgbClr val="4FD1C5"/>
                  </a:solidFill>
                  <a:latin typeface="Inter"/>
                  <a:ea typeface="Inter"/>
                  <a:cs typeface="Inter"/>
                  <a:sym typeface="Inter"/>
                </a:endParaRPr>
              </a:p>
              <a:p>
                <a:pPr indent="0" lvl="0" marL="0" rtl="0" algn="l">
                  <a:spcBef>
                    <a:spcPts val="300"/>
                  </a:spcBef>
                  <a:spcAft>
                    <a:spcPts val="0"/>
                  </a:spcAft>
                  <a:buNone/>
                </a:pPr>
                <a:r>
                  <a:rPr lang="en" sz="1000">
                    <a:solidFill>
                      <a:srgbClr val="F3F6FB"/>
                    </a:solidFill>
                    <a:latin typeface="Inter"/>
                    <a:ea typeface="Inter"/>
                    <a:cs typeface="Inter"/>
                    <a:sym typeface="Inter"/>
                  </a:rPr>
                  <a:t>BlenderProc</a:t>
                </a:r>
                <a:endParaRPr sz="1000">
                  <a:solidFill>
                    <a:srgbClr val="F3F6FB"/>
                  </a:solidFill>
                  <a:latin typeface="Inter"/>
                  <a:ea typeface="Inter"/>
                  <a:cs typeface="Inter"/>
                  <a:sym typeface="Inter"/>
                </a:endParaRPr>
              </a:p>
              <a:p>
                <a:pPr indent="0" lvl="0" marL="0" rtl="0" algn="l">
                  <a:spcBef>
                    <a:spcPts val="150"/>
                  </a:spcBef>
                  <a:spcAft>
                    <a:spcPts val="0"/>
                  </a:spcAft>
                  <a:buNone/>
                </a:pPr>
                <a:r>
                  <a:rPr lang="en" sz="1000">
                    <a:solidFill>
                      <a:srgbClr val="F3F6FB"/>
                    </a:solidFill>
                    <a:latin typeface="Inter"/>
                    <a:ea typeface="Inter"/>
                    <a:cs typeface="Inter"/>
                    <a:sym typeface="Inter"/>
                  </a:rPr>
                  <a:t>1,000 images</a:t>
                </a:r>
                <a:endParaRPr sz="1000">
                  <a:solidFill>
                    <a:srgbClr val="F3F6FB"/>
                  </a:solidFill>
                  <a:latin typeface="Inter"/>
                  <a:ea typeface="Inter"/>
                  <a:cs typeface="Inter"/>
                  <a:sym typeface="Inter"/>
                </a:endParaRPr>
              </a:p>
              <a:p>
                <a:pPr indent="0" lvl="0" marL="0" rtl="0" algn="l">
                  <a:spcBef>
                    <a:spcPts val="450"/>
                  </a:spcBef>
                  <a:spcAft>
                    <a:spcPts val="0"/>
                  </a:spcAft>
                  <a:buNone/>
                </a:pPr>
                <a:r>
                  <a:rPr lang="en" sz="900">
                    <a:solidFill>
                      <a:srgbClr val="94A3B8"/>
                    </a:solidFill>
                    <a:latin typeface="Inter"/>
                    <a:ea typeface="Inter"/>
                    <a:cs typeface="Inter"/>
                    <a:sym typeface="Inter"/>
                  </a:rPr>
                  <a:t>Secondary controlled benchmark</a:t>
                </a:r>
                <a:endParaRPr sz="900">
                  <a:solidFill>
                    <a:srgbClr val="94A3B8"/>
                  </a:solidFill>
                  <a:latin typeface="Inter"/>
                  <a:ea typeface="Inter"/>
                  <a:cs typeface="Inter"/>
                  <a:sym typeface="Inter"/>
                </a:endParaRPr>
              </a:p>
            </p:txBody>
          </p:sp>
        </p:grpSp>
        <p:grpSp>
          <p:nvGrpSpPr>
            <p:cNvPr id="614" name="Google Shape;614;p22"/>
            <p:cNvGrpSpPr/>
            <p:nvPr/>
          </p:nvGrpSpPr>
          <p:grpSpPr>
            <a:xfrm>
              <a:off x="5715000" y="0"/>
              <a:ext cx="2667000" cy="2857500"/>
              <a:chOff x="0" y="0"/>
              <a:chExt cx="2667000" cy="2857500"/>
            </a:xfrm>
          </p:grpSpPr>
          <p:sp>
            <p:nvSpPr>
              <p:cNvPr id="615" name="Google Shape;615;p22"/>
              <p:cNvSpPr/>
              <p:nvPr/>
            </p:nvSpPr>
            <p:spPr>
              <a:xfrm>
                <a:off x="0" y="0"/>
                <a:ext cx="2667000" cy="2857500"/>
              </a:xfrm>
              <a:prstGeom prst="roundRect">
                <a:avLst>
                  <a:gd fmla="val 4285" name="adj"/>
                </a:avLst>
              </a:prstGeom>
              <a:solidFill>
                <a:srgbClr val="321423"/>
              </a:solidFill>
              <a:ln cap="flat" cmpd="sng" w="1430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16" name="Google Shape;616;p22"/>
              <p:cNvPicPr preferRelativeResize="0"/>
              <p:nvPr/>
            </p:nvPicPr>
            <p:blipFill rotWithShape="1">
              <a:blip r:embed="rId7">
                <a:alphaModFix/>
              </a:blip>
              <a:srcRect b="0" l="1775" r="1775" t="0"/>
              <a:stretch/>
            </p:blipFill>
            <p:spPr>
              <a:xfrm>
                <a:off x="190500" y="190500"/>
                <a:ext cx="2286000" cy="1285800"/>
              </a:xfrm>
              <a:prstGeom prst="roundRect">
                <a:avLst>
                  <a:gd fmla="val 5925" name="adj"/>
                </a:avLst>
              </a:prstGeom>
              <a:noFill/>
              <a:ln>
                <a:noFill/>
              </a:ln>
            </p:spPr>
          </p:pic>
          <p:sp>
            <p:nvSpPr>
              <p:cNvPr id="617" name="Google Shape;617;p22"/>
              <p:cNvSpPr/>
              <p:nvPr/>
            </p:nvSpPr>
            <p:spPr>
              <a:xfrm>
                <a:off x="190500" y="1571625"/>
                <a:ext cx="428700" cy="190500"/>
              </a:xfrm>
              <a:prstGeom prst="roundRect">
                <a:avLst>
                  <a:gd fmla="val 20000" name="adj"/>
                </a:avLst>
              </a:prstGeom>
              <a:solidFill>
                <a:srgbClr val="F472B6">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22"/>
              <p:cNvSpPr txBox="1"/>
              <p:nvPr/>
            </p:nvSpPr>
            <p:spPr>
              <a:xfrm>
                <a:off x="190500" y="1571625"/>
                <a:ext cx="428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472B6"/>
                    </a:solidFill>
                    <a:latin typeface="Inter"/>
                    <a:ea typeface="Inter"/>
                    <a:cs typeface="Inter"/>
                    <a:sym typeface="Inter"/>
                  </a:rPr>
                  <a:t>REAL</a:t>
                </a:r>
                <a:endParaRPr b="1" sz="800">
                  <a:solidFill>
                    <a:srgbClr val="F472B6"/>
                  </a:solidFill>
                  <a:latin typeface="Inter"/>
                  <a:ea typeface="Inter"/>
                  <a:cs typeface="Inter"/>
                  <a:sym typeface="Inter"/>
                </a:endParaRPr>
              </a:p>
            </p:txBody>
          </p:sp>
          <p:sp>
            <p:nvSpPr>
              <p:cNvPr id="619" name="Google Shape;619;p22"/>
              <p:cNvSpPr/>
              <p:nvPr/>
            </p:nvSpPr>
            <p:spPr>
              <a:xfrm>
                <a:off x="666750" y="1571625"/>
                <a:ext cx="1095300" cy="190500"/>
              </a:xfrm>
              <a:prstGeom prst="roundRect">
                <a:avLst>
                  <a:gd fmla="val 20000" name="adj"/>
                </a:avLst>
              </a:prstGeom>
              <a:solidFill>
                <a:srgbClr val="FF9B5E">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0" name="Google Shape;620;p22"/>
              <p:cNvSpPr txBox="1"/>
              <p:nvPr/>
            </p:nvSpPr>
            <p:spPr>
              <a:xfrm>
                <a:off x="666750" y="1571625"/>
                <a:ext cx="10953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9B5E"/>
                    </a:solidFill>
                    <a:latin typeface="Inter"/>
                    <a:ea typeface="Inter"/>
                    <a:cs typeface="Inter"/>
                    <a:sym typeface="Inter"/>
                  </a:rPr>
                  <a:t>DOMAIN-GAP REF</a:t>
                </a:r>
                <a:endParaRPr b="1" sz="800">
                  <a:solidFill>
                    <a:srgbClr val="FF9B5E"/>
                  </a:solidFill>
                  <a:latin typeface="Inter"/>
                  <a:ea typeface="Inter"/>
                  <a:cs typeface="Inter"/>
                  <a:sym typeface="Inter"/>
                </a:endParaRPr>
              </a:p>
            </p:txBody>
          </p:sp>
          <p:sp>
            <p:nvSpPr>
              <p:cNvPr id="621" name="Google Shape;621;p22"/>
              <p:cNvSpPr txBox="1"/>
              <p:nvPr/>
            </p:nvSpPr>
            <p:spPr>
              <a:xfrm>
                <a:off x="190500" y="1809750"/>
                <a:ext cx="2286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F472B6"/>
                    </a:solidFill>
                    <a:latin typeface="Inter"/>
                    <a:ea typeface="Inter"/>
                    <a:cs typeface="Inter"/>
                    <a:sym typeface="Inter"/>
                  </a:rPr>
                  <a:t>OCID</a:t>
                </a:r>
                <a:endParaRPr b="1" sz="1300">
                  <a:solidFill>
                    <a:srgbClr val="F472B6"/>
                  </a:solidFill>
                  <a:latin typeface="Inter"/>
                  <a:ea typeface="Inter"/>
                  <a:cs typeface="Inter"/>
                  <a:sym typeface="Inter"/>
                </a:endParaRPr>
              </a:p>
              <a:p>
                <a:pPr indent="0" lvl="0" marL="0" rtl="0" algn="l">
                  <a:spcBef>
                    <a:spcPts val="300"/>
                  </a:spcBef>
                  <a:spcAft>
                    <a:spcPts val="0"/>
                  </a:spcAft>
                  <a:buNone/>
                </a:pPr>
                <a:r>
                  <a:rPr lang="en" sz="1000">
                    <a:solidFill>
                      <a:srgbClr val="F3F6FB"/>
                    </a:solidFill>
                    <a:latin typeface="Inter"/>
                    <a:ea typeface="Inter"/>
                    <a:cs typeface="Inter"/>
                    <a:sym typeface="Inter"/>
                  </a:rPr>
                  <a:t>Real RGB-D clutter</a:t>
                </a:r>
                <a:endParaRPr sz="1000">
                  <a:solidFill>
                    <a:srgbClr val="F3F6FB"/>
                  </a:solidFill>
                  <a:latin typeface="Inter"/>
                  <a:ea typeface="Inter"/>
                  <a:cs typeface="Inter"/>
                  <a:sym typeface="Inter"/>
                </a:endParaRPr>
              </a:p>
              <a:p>
                <a:pPr indent="0" lvl="0" marL="0" rtl="0" algn="l">
                  <a:spcBef>
                    <a:spcPts val="150"/>
                  </a:spcBef>
                  <a:spcAft>
                    <a:spcPts val="0"/>
                  </a:spcAft>
                  <a:buNone/>
                </a:pPr>
                <a:r>
                  <a:rPr lang="en" sz="1000">
                    <a:solidFill>
                      <a:srgbClr val="F3F6FB"/>
                    </a:solidFill>
                    <a:latin typeface="Inter"/>
                    <a:ea typeface="Inter"/>
                    <a:cs typeface="Inter"/>
                    <a:sym typeface="Inter"/>
                  </a:rPr>
                  <a:t>~2.3k labeled samples</a:t>
                </a:r>
                <a:endParaRPr sz="1000">
                  <a:solidFill>
                    <a:srgbClr val="F3F6FB"/>
                  </a:solidFill>
                  <a:latin typeface="Inter"/>
                  <a:ea typeface="Inter"/>
                  <a:cs typeface="Inter"/>
                  <a:sym typeface="Inter"/>
                </a:endParaRPr>
              </a:p>
              <a:p>
                <a:pPr indent="0" lvl="0" marL="0" rtl="0" algn="l">
                  <a:spcBef>
                    <a:spcPts val="450"/>
                  </a:spcBef>
                  <a:spcAft>
                    <a:spcPts val="0"/>
                  </a:spcAft>
                  <a:buNone/>
                </a:pPr>
                <a:r>
                  <a:rPr lang="en" sz="900">
                    <a:solidFill>
                      <a:srgbClr val="94A3B8"/>
                    </a:solidFill>
                    <a:latin typeface="Inter"/>
                    <a:ea typeface="Inter"/>
                    <a:cs typeface="Inter"/>
                    <a:sym typeface="Inter"/>
                  </a:rPr>
                  <a:t>Real-world domain-gap reference</a:t>
                </a:r>
                <a:endParaRPr sz="900">
                  <a:solidFill>
                    <a:srgbClr val="94A3B8"/>
                  </a:solidFill>
                  <a:latin typeface="Inter"/>
                  <a:ea typeface="Inter"/>
                  <a:cs typeface="Inter"/>
                  <a:sym typeface="Inter"/>
                </a:endParaRPr>
              </a:p>
            </p:txBody>
          </p:sp>
        </p:grpSp>
      </p:grpSp>
      <p:grpSp>
        <p:nvGrpSpPr>
          <p:cNvPr id="622" name="Google Shape;622;p22"/>
          <p:cNvGrpSpPr/>
          <p:nvPr/>
        </p:nvGrpSpPr>
        <p:grpSpPr>
          <a:xfrm>
            <a:off x="3238500" y="1238250"/>
            <a:ext cx="2667000" cy="2857500"/>
            <a:chOff x="0" y="0"/>
            <a:chExt cx="2667000" cy="2857500"/>
          </a:xfrm>
        </p:grpSpPr>
        <p:sp>
          <p:nvSpPr>
            <p:cNvPr id="623" name="Google Shape;623;p22"/>
            <p:cNvSpPr/>
            <p:nvPr/>
          </p:nvSpPr>
          <p:spPr>
            <a:xfrm>
              <a:off x="0" y="0"/>
              <a:ext cx="2667000" cy="2857500"/>
            </a:xfrm>
            <a:prstGeom prst="roundRect">
              <a:avLst>
                <a:gd fmla="val 4285" name="adj"/>
              </a:avLst>
            </a:prstGeom>
            <a:solidFill>
              <a:srgbClr val="122B2A"/>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24" name="Google Shape;624;p22"/>
            <p:cNvPicPr preferRelativeResize="0"/>
            <p:nvPr/>
          </p:nvPicPr>
          <p:blipFill rotWithShape="1">
            <a:blip r:embed="rId6">
              <a:alphaModFix/>
            </a:blip>
            <a:srcRect b="0" l="449" r="33479" t="0"/>
            <a:stretch/>
          </p:blipFill>
          <p:spPr>
            <a:xfrm>
              <a:off x="190500" y="190500"/>
              <a:ext cx="2286000" cy="1047900"/>
            </a:xfrm>
            <a:prstGeom prst="roundRect">
              <a:avLst>
                <a:gd fmla="val 7272" name="adj"/>
              </a:avLst>
            </a:prstGeom>
            <a:noFill/>
            <a:ln>
              <a:noFill/>
            </a:ln>
          </p:spPr>
        </p:pic>
        <p:sp>
          <p:nvSpPr>
            <p:cNvPr id="625" name="Google Shape;625;p22"/>
            <p:cNvSpPr txBox="1"/>
            <p:nvPr/>
          </p:nvSpPr>
          <p:spPr>
            <a:xfrm>
              <a:off x="190500" y="1333500"/>
              <a:ext cx="2286000" cy="1333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200">
                  <a:solidFill>
                    <a:srgbClr val="4FD1C5"/>
                  </a:solidFill>
                  <a:latin typeface="Inter"/>
                  <a:ea typeface="Inter"/>
                  <a:cs typeface="Inter"/>
                  <a:sym typeface="Inter"/>
                </a:rPr>
                <a:t>BlenderProc COGAR-SimRobotics-1000</a:t>
              </a:r>
              <a:endParaRPr b="1" sz="1200">
                <a:solidFill>
                  <a:srgbClr val="4FD1C5"/>
                </a:solidFill>
                <a:latin typeface="Inter"/>
                <a:ea typeface="Inter"/>
                <a:cs typeface="Inter"/>
                <a:sym typeface="Inter"/>
              </a:endParaRPr>
            </a:p>
            <a:p>
              <a:pPr indent="0" lvl="0" marL="0" rtl="0" algn="ctr">
                <a:spcBef>
                  <a:spcPts val="750"/>
                </a:spcBef>
                <a:spcAft>
                  <a:spcPts val="0"/>
                </a:spcAft>
                <a:buNone/>
              </a:pPr>
              <a:r>
                <a:rPr b="0" lang="en" sz="1000">
                  <a:solidFill>
                    <a:srgbClr val="F3F6FB"/>
                  </a:solidFill>
                  <a:latin typeface="Inter"/>
                  <a:ea typeface="Inter"/>
                  <a:cs typeface="Inter"/>
                  <a:sym typeface="Inter"/>
                </a:rPr>
                <a:t>Synthetic / BlenderProc</a:t>
              </a:r>
              <a:endParaRPr b="0" sz="1000">
                <a:solidFill>
                  <a:srgbClr val="F3F6FB"/>
                </a:solidFill>
                <a:latin typeface="Inter"/>
                <a:ea typeface="Inter"/>
                <a:cs typeface="Inter"/>
                <a:sym typeface="Inter"/>
              </a:endParaRPr>
            </a:p>
            <a:p>
              <a:pPr indent="0" lvl="0" marL="0" rtl="0" algn="ctr">
                <a:spcBef>
                  <a:spcPts val="300"/>
                </a:spcBef>
                <a:spcAft>
                  <a:spcPts val="0"/>
                </a:spcAft>
                <a:buNone/>
              </a:pPr>
              <a:r>
                <a:rPr b="0" lang="en" sz="1000">
                  <a:solidFill>
                    <a:srgbClr val="F3F6FB"/>
                  </a:solidFill>
                  <a:latin typeface="Inter"/>
                  <a:ea typeface="Inter"/>
                  <a:cs typeface="Inter"/>
                  <a:sym typeface="Inter"/>
                </a:rPr>
                <a:t>1000 images</a:t>
              </a:r>
              <a:endParaRPr b="0" sz="1000">
                <a:solidFill>
                  <a:srgbClr val="F3F6FB"/>
                </a:solidFill>
                <a:latin typeface="Inter"/>
                <a:ea typeface="Inter"/>
                <a:cs typeface="Inter"/>
                <a:sym typeface="Inter"/>
              </a:endParaRPr>
            </a:p>
            <a:p>
              <a:pPr indent="0" lvl="0" marL="0" rtl="0" algn="ctr">
                <a:spcBef>
                  <a:spcPts val="300"/>
                </a:spcBef>
                <a:spcAft>
                  <a:spcPts val="0"/>
                </a:spcAft>
                <a:buNone/>
              </a:pPr>
              <a:r>
                <a:rPr b="0" lang="en" sz="900">
                  <a:solidFill>
                    <a:srgbClr val="94A3B8"/>
                  </a:solidFill>
                  <a:latin typeface="Inter"/>
                  <a:ea typeface="Inter"/>
                  <a:cs typeface="Inter"/>
                  <a:sym typeface="Inter"/>
                </a:rPr>
                <a:t>Secondary controlled benchmark</a:t>
              </a:r>
              <a:endParaRPr b="0" sz="900">
                <a:solidFill>
                  <a:srgbClr val="94A3B8"/>
                </a:solidFill>
                <a:latin typeface="Inter"/>
                <a:ea typeface="Inter"/>
                <a:cs typeface="Inter"/>
                <a:sym typeface="Inter"/>
              </a:endParaRPr>
            </a:p>
          </p:txBody>
        </p:sp>
      </p:grpSp>
      <p:grpSp>
        <p:nvGrpSpPr>
          <p:cNvPr id="626" name="Google Shape;626;p22"/>
          <p:cNvGrpSpPr/>
          <p:nvPr/>
        </p:nvGrpSpPr>
        <p:grpSpPr>
          <a:xfrm>
            <a:off x="381000" y="4286250"/>
            <a:ext cx="8382000" cy="476400"/>
            <a:chOff x="0" y="0"/>
            <a:chExt cx="8382000" cy="476400"/>
          </a:xfrm>
        </p:grpSpPr>
        <p:sp>
          <p:nvSpPr>
            <p:cNvPr id="627" name="Google Shape;627;p22"/>
            <p:cNvSpPr/>
            <p:nvPr/>
          </p:nvSpPr>
          <p:spPr>
            <a:xfrm>
              <a:off x="0" y="0"/>
              <a:ext cx="8382000" cy="476400"/>
            </a:xfrm>
            <a:prstGeom prst="roundRect">
              <a:avLst>
                <a:gd fmla="val 20000" name="adj"/>
              </a:avLst>
            </a:prstGeom>
            <a:solidFill>
              <a:srgbClr val="111827"/>
            </a:solidFill>
            <a:ln cap="flat" cmpd="sng" w="9525">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8" name="Google Shape;628;p22"/>
            <p:cNvSpPr txBox="1"/>
            <p:nvPr/>
          </p:nvSpPr>
          <p:spPr>
            <a:xfrm>
              <a:off x="0" y="0"/>
              <a:ext cx="8382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3F6FB"/>
                  </a:solidFill>
                  <a:latin typeface="Inter"/>
                  <a:ea typeface="Inter"/>
                  <a:cs typeface="Inter"/>
                  <a:sym typeface="Inter"/>
                </a:rPr>
                <a:t>Challenge groups: </a:t>
              </a:r>
              <a:r>
                <a:rPr b="0" lang="en" sz="1100">
                  <a:solidFill>
                    <a:srgbClr val="4FD1C5"/>
                  </a:solidFill>
                  <a:latin typeface="Inter"/>
                  <a:ea typeface="Inter"/>
                  <a:cs typeface="Inter"/>
                  <a:sym typeface="Inter"/>
                </a:rPr>
                <a:t>reflective, transparent, occluded, small-part, dynamic, and cluttered robot scenes.</a:t>
              </a:r>
              <a:endParaRPr b="1" sz="1100">
                <a:solidFill>
                  <a:srgbClr val="F3F6FB"/>
                </a:solidFill>
                <a:latin typeface="Inter"/>
                <a:ea typeface="Inter"/>
                <a:cs typeface="Inter"/>
                <a:sym typeface="Inter"/>
              </a:endParaRPr>
            </a:p>
          </p:txBody>
        </p:sp>
      </p:grpSp>
      <p:grpSp>
        <p:nvGrpSpPr>
          <p:cNvPr id="629" name="Google Shape;629;p22"/>
          <p:cNvGrpSpPr/>
          <p:nvPr/>
        </p:nvGrpSpPr>
        <p:grpSpPr>
          <a:xfrm>
            <a:off x="6096000" y="1238250"/>
            <a:ext cx="2667000" cy="2857500"/>
            <a:chOff x="0" y="0"/>
            <a:chExt cx="2667000" cy="2857500"/>
          </a:xfrm>
        </p:grpSpPr>
        <p:sp>
          <p:nvSpPr>
            <p:cNvPr id="630" name="Google Shape;630;p22"/>
            <p:cNvSpPr/>
            <p:nvPr/>
          </p:nvSpPr>
          <p:spPr>
            <a:xfrm>
              <a:off x="0" y="0"/>
              <a:ext cx="2667000" cy="2857500"/>
            </a:xfrm>
            <a:prstGeom prst="roundRect">
              <a:avLst>
                <a:gd fmla="val 4285" name="adj"/>
              </a:avLst>
            </a:prstGeom>
            <a:solidFill>
              <a:srgbClr val="321423"/>
            </a:solidFill>
            <a:ln cap="flat" cmpd="sng" w="1430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31" name="Google Shape;631;p22"/>
            <p:cNvPicPr preferRelativeResize="0"/>
            <p:nvPr/>
          </p:nvPicPr>
          <p:blipFill rotWithShape="1">
            <a:blip r:embed="rId7">
              <a:alphaModFix/>
            </a:blip>
            <a:srcRect b="15443" l="0" r="0" t="76"/>
            <a:stretch/>
          </p:blipFill>
          <p:spPr>
            <a:xfrm>
              <a:off x="190500" y="190500"/>
              <a:ext cx="2286000" cy="1047900"/>
            </a:xfrm>
            <a:prstGeom prst="roundRect">
              <a:avLst>
                <a:gd fmla="val 7272" name="adj"/>
              </a:avLst>
            </a:prstGeom>
            <a:noFill/>
            <a:ln>
              <a:noFill/>
            </a:ln>
          </p:spPr>
        </p:pic>
        <p:sp>
          <p:nvSpPr>
            <p:cNvPr id="632" name="Google Shape;632;p22"/>
            <p:cNvSpPr txBox="1"/>
            <p:nvPr/>
          </p:nvSpPr>
          <p:spPr>
            <a:xfrm>
              <a:off x="190500" y="1333500"/>
              <a:ext cx="2286000" cy="1333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300">
                  <a:solidFill>
                    <a:srgbClr val="F472B6"/>
                  </a:solidFill>
                  <a:latin typeface="Inter"/>
                  <a:ea typeface="Inter"/>
                  <a:cs typeface="Inter"/>
                  <a:sym typeface="Inter"/>
                </a:rPr>
                <a:t>OCID</a:t>
              </a:r>
              <a:endParaRPr b="1" sz="1300">
                <a:solidFill>
                  <a:srgbClr val="F472B6"/>
                </a:solidFill>
                <a:latin typeface="Inter"/>
                <a:ea typeface="Inter"/>
                <a:cs typeface="Inter"/>
                <a:sym typeface="Inter"/>
              </a:endParaRPr>
            </a:p>
            <a:p>
              <a:pPr indent="0" lvl="0" marL="0" rtl="0" algn="ctr">
                <a:spcBef>
                  <a:spcPts val="750"/>
                </a:spcBef>
                <a:spcAft>
                  <a:spcPts val="0"/>
                </a:spcAft>
                <a:buNone/>
              </a:pPr>
              <a:r>
                <a:rPr b="0" lang="en" sz="1000">
                  <a:solidFill>
                    <a:srgbClr val="F3F6FB"/>
                  </a:solidFill>
                  <a:latin typeface="Inter"/>
                  <a:ea typeface="Inter"/>
                  <a:cs typeface="Inter"/>
                  <a:sym typeface="Inter"/>
                </a:rPr>
                <a:t>Real RGB-D clutter</a:t>
              </a:r>
              <a:endParaRPr b="0" sz="1000">
                <a:solidFill>
                  <a:srgbClr val="F3F6FB"/>
                </a:solidFill>
                <a:latin typeface="Inter"/>
                <a:ea typeface="Inter"/>
                <a:cs typeface="Inter"/>
                <a:sym typeface="Inter"/>
              </a:endParaRPr>
            </a:p>
            <a:p>
              <a:pPr indent="0" lvl="0" marL="0" rtl="0" algn="ctr">
                <a:spcBef>
                  <a:spcPts val="300"/>
                </a:spcBef>
                <a:spcAft>
                  <a:spcPts val="0"/>
                </a:spcAft>
                <a:buNone/>
              </a:pPr>
              <a:r>
                <a:rPr b="0" lang="en" sz="1000">
                  <a:solidFill>
                    <a:srgbClr val="F3F6FB"/>
                  </a:solidFill>
                  <a:latin typeface="Inter"/>
                  <a:ea typeface="Inter"/>
                  <a:cs typeface="Inter"/>
                  <a:sym typeface="Inter"/>
                </a:rPr>
                <a:t>2390 images</a:t>
              </a:r>
              <a:endParaRPr b="0" sz="1000">
                <a:solidFill>
                  <a:srgbClr val="F3F6FB"/>
                </a:solidFill>
                <a:latin typeface="Inter"/>
                <a:ea typeface="Inter"/>
                <a:cs typeface="Inter"/>
                <a:sym typeface="Inter"/>
              </a:endParaRPr>
            </a:p>
            <a:p>
              <a:pPr indent="0" lvl="0" marL="0" rtl="0" algn="ctr">
                <a:spcBef>
                  <a:spcPts val="300"/>
                </a:spcBef>
                <a:spcAft>
                  <a:spcPts val="0"/>
                </a:spcAft>
                <a:buNone/>
              </a:pPr>
              <a:r>
                <a:rPr b="0" lang="en" sz="900">
                  <a:solidFill>
                    <a:srgbClr val="94A3B8"/>
                  </a:solidFill>
                  <a:latin typeface="Inter"/>
                  <a:ea typeface="Inter"/>
                  <a:cs typeface="Inter"/>
                  <a:sym typeface="Inter"/>
                </a:rPr>
                <a:t>Real-world domain-gap reference</a:t>
              </a:r>
              <a:endParaRPr b="0" sz="900">
                <a:solidFill>
                  <a:srgbClr val="94A3B8"/>
                </a:solidFill>
                <a:latin typeface="Inter"/>
                <a:ea typeface="Inter"/>
                <a:cs typeface="Inter"/>
                <a:sym typeface="Inter"/>
              </a:endParaRPr>
            </a:p>
          </p:txBody>
        </p:sp>
      </p:grpSp>
      <p:grpSp>
        <p:nvGrpSpPr>
          <p:cNvPr id="633" name="Google Shape;633;p22"/>
          <p:cNvGrpSpPr/>
          <p:nvPr/>
        </p:nvGrpSpPr>
        <p:grpSpPr>
          <a:xfrm>
            <a:off x="381000" y="4857750"/>
            <a:ext cx="8382000" cy="142800"/>
            <a:chOff x="0" y="0"/>
            <a:chExt cx="8382000" cy="142800"/>
          </a:xfrm>
        </p:grpSpPr>
        <p:sp>
          <p:nvSpPr>
            <p:cNvPr id="634" name="Google Shape;634;p22"/>
            <p:cNvSpPr txBox="1"/>
            <p:nvPr/>
          </p:nvSpPr>
          <p:spPr>
            <a:xfrm>
              <a:off x="0" y="0"/>
              <a:ext cx="28575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00">
                  <a:solidFill>
                    <a:srgbClr val="94A3B8"/>
                  </a:solidFill>
                  <a:latin typeface="Inter"/>
                  <a:ea typeface="Inter"/>
                  <a:cs typeface="Inter"/>
                  <a:sym typeface="Inter"/>
                </a:rPr>
                <a:t>Dataset design</a:t>
              </a:r>
              <a:endParaRPr b="0" sz="600">
                <a:solidFill>
                  <a:srgbClr val="94A3B8"/>
                </a:solidFill>
                <a:latin typeface="Inter"/>
                <a:ea typeface="Inter"/>
                <a:cs typeface="Inter"/>
                <a:sym typeface="Inter"/>
              </a:endParaRPr>
            </a:p>
          </p:txBody>
        </p:sp>
        <p:sp>
          <p:nvSpPr>
            <p:cNvPr id="635" name="Google Shape;635;p22"/>
            <p:cNvSpPr txBox="1"/>
            <p:nvPr/>
          </p:nvSpPr>
          <p:spPr>
            <a:xfrm>
              <a:off x="4572000" y="0"/>
              <a:ext cx="3810000" cy="142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600">
                  <a:solidFill>
                    <a:srgbClr val="94A3B8"/>
                  </a:solidFill>
                  <a:latin typeface="Inter"/>
                  <a:ea typeface="Inter"/>
                  <a:cs typeface="Inter"/>
                  <a:sym typeface="Inter"/>
                </a:rPr>
                <a:t>Sources: Isaac Sim, Unitree, BlenderProc, OCID, project datasets</a:t>
              </a:r>
              <a:endParaRPr b="0" sz="600">
                <a:solidFill>
                  <a:srgbClr val="94A3B8"/>
                </a:solidFill>
                <a:latin typeface="Inter"/>
                <a:ea typeface="Inter"/>
                <a:cs typeface="Inter"/>
                <a:sym typeface="Inter"/>
              </a:endParaRPr>
            </a:p>
          </p:txBody>
        </p:sp>
      </p:grpSp>
      <p:grpSp>
        <p:nvGrpSpPr>
          <p:cNvPr id="636" name="Google Shape;636;p22"/>
          <p:cNvGrpSpPr/>
          <p:nvPr/>
        </p:nvGrpSpPr>
        <p:grpSpPr>
          <a:xfrm>
            <a:off x="381000" y="4238625"/>
            <a:ext cx="8382000" cy="571500"/>
            <a:chOff x="0" y="0"/>
            <a:chExt cx="8382000" cy="571500"/>
          </a:xfrm>
        </p:grpSpPr>
        <p:sp>
          <p:nvSpPr>
            <p:cNvPr id="637" name="Google Shape;637;p22"/>
            <p:cNvSpPr/>
            <p:nvPr/>
          </p:nvSpPr>
          <p:spPr>
            <a:xfrm>
              <a:off x="0" y="0"/>
              <a:ext cx="8382000" cy="571500"/>
            </a:xfrm>
            <a:prstGeom prst="roundRect">
              <a:avLst>
                <a:gd fmla="val 16666" name="adj"/>
              </a:avLst>
            </a:prstGeom>
            <a:solidFill>
              <a:srgbClr val="111827"/>
            </a:solidFill>
            <a:ln cap="flat" cmpd="sng" w="9525">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22"/>
            <p:cNvSpPr txBox="1"/>
            <p:nvPr/>
          </p:nvSpPr>
          <p:spPr>
            <a:xfrm>
              <a:off x="190500" y="0"/>
              <a:ext cx="800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3F6FB"/>
                  </a:solidFill>
                  <a:latin typeface="Inter"/>
                  <a:ea typeface="Inter"/>
                  <a:cs typeface="Inter"/>
                  <a:sym typeface="Inter"/>
                </a:rPr>
                <a:t>Challenge groups: </a:t>
              </a:r>
              <a:r>
                <a:rPr b="0" lang="en" sz="1100">
                  <a:solidFill>
                    <a:srgbClr val="4FD1C5"/>
                  </a:solidFill>
                  <a:latin typeface="Inter"/>
                  <a:ea typeface="Inter"/>
                  <a:cs typeface="Inter"/>
                  <a:sym typeface="Inter"/>
                </a:rPr>
                <a:t>reflective, transparent, occluded, small-part, dynamic, and cluttered robot scenes.</a:t>
              </a:r>
              <a:endParaRPr b="1" sz="1100">
                <a:solidFill>
                  <a:srgbClr val="F3F6FB"/>
                </a:solidFill>
                <a:latin typeface="Inter"/>
                <a:ea typeface="Inter"/>
                <a:cs typeface="Inter"/>
                <a:sym typeface="Inter"/>
              </a:endParaRPr>
            </a:p>
          </p:txBody>
        </p:sp>
      </p:grpSp>
      <p:sp>
        <p:nvSpPr>
          <p:cNvPr id="639" name="Google Shape;639;p22"/>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Sources: Isaac Sim, project datasets, OCID</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644" name="Shape 644"/>
        <p:cNvGrpSpPr/>
        <p:nvPr/>
      </p:nvGrpSpPr>
      <p:grpSpPr>
        <a:xfrm>
          <a:off x="0" y="0"/>
          <a:ext cx="0" cy="0"/>
          <a:chOff x="0" y="0"/>
          <a:chExt cx="0" cy="0"/>
        </a:xfrm>
      </p:grpSpPr>
      <p:cxnSp>
        <p:nvCxnSpPr>
          <p:cNvPr id="645" name="Google Shape;645;p23"/>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46" name="Google Shape;646;p23"/>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47" name="Google Shape;647;p23"/>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48" name="Google Shape;648;p23"/>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49" name="Google Shape;649;p23"/>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0" name="Google Shape;650;p23"/>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1" name="Google Shape;651;p23"/>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2" name="Google Shape;652;p23"/>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3" name="Google Shape;653;p23"/>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4" name="Google Shape;654;p23"/>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5" name="Google Shape;655;p23"/>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6" name="Google Shape;656;p23"/>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7" name="Google Shape;657;p23"/>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8" name="Google Shape;658;p23"/>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59" name="Google Shape;659;p23"/>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0" name="Google Shape;660;p23"/>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1" name="Google Shape;661;p23"/>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2" name="Google Shape;662;p23"/>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3" name="Google Shape;663;p23"/>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4" name="Google Shape;664;p23"/>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5" name="Google Shape;665;p23"/>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6" name="Google Shape;666;p23"/>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7" name="Google Shape;667;p23"/>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8" name="Google Shape;668;p23"/>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69" name="Google Shape;669;p23"/>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0" name="Google Shape;670;p23"/>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1" name="Google Shape;671;p23"/>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2" name="Google Shape;672;p23"/>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3" name="Google Shape;673;p23"/>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4" name="Google Shape;674;p23"/>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5" name="Google Shape;675;p23"/>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6" name="Google Shape;676;p23"/>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7" name="Google Shape;677;p23"/>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8" name="Google Shape;678;p23"/>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79" name="Google Shape;679;p23"/>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0" name="Google Shape;680;p23"/>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1" name="Google Shape;681;p23"/>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2" name="Google Shape;682;p23"/>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3" name="Google Shape;683;p23"/>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4" name="Google Shape;684;p23"/>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5" name="Google Shape;685;p23"/>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6" name="Google Shape;686;p23"/>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687" name="Google Shape;687;p23"/>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688" name="Google Shape;688;p23"/>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9" name="Google Shape;689;p23"/>
          <p:cNvSpPr/>
          <p:nvPr/>
        </p:nvSpPr>
        <p:spPr>
          <a:xfrm>
            <a:off x="377200" y="246888"/>
            <a:ext cx="82983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6FB"/>
              </a:buClr>
              <a:buSzPts val="2100"/>
              <a:buFont typeface="Inter"/>
              <a:buNone/>
            </a:pPr>
            <a:r>
              <a:rPr b="1" i="0" lang="en" sz="2100" u="none" cap="none" strike="noStrike">
                <a:solidFill>
                  <a:srgbClr val="F3F6FB"/>
                </a:solidFill>
                <a:latin typeface="Inter"/>
                <a:ea typeface="Inter"/>
                <a:cs typeface="Inter"/>
                <a:sym typeface="Inter"/>
              </a:rPr>
              <a:t>Benchmark Protocol: Prompts, Models, Metrics</a:t>
            </a:r>
            <a:endParaRPr b="0" i="0" sz="2100" u="none" cap="none" strike="noStrike">
              <a:solidFill>
                <a:schemeClr val="dk1"/>
              </a:solidFill>
              <a:latin typeface="Inter"/>
              <a:ea typeface="Inter"/>
              <a:cs typeface="Inter"/>
              <a:sym typeface="Inter"/>
            </a:endParaRPr>
          </a:p>
        </p:txBody>
      </p:sp>
      <p:sp>
        <p:nvSpPr>
          <p:cNvPr id="690" name="Google Shape;690;p23"/>
          <p:cNvSpPr/>
          <p:nvPr/>
        </p:nvSpPr>
        <p:spPr>
          <a:xfrm>
            <a:off x="397775" y="644652"/>
            <a:ext cx="8161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B6FF"/>
              </a:buClr>
              <a:buSzPts val="600"/>
              <a:buFont typeface="Inter"/>
              <a:buNone/>
            </a:pPr>
            <a:r>
              <a:rPr b="0" i="1" lang="en" sz="600" u="none" cap="none" strike="noStrike">
                <a:solidFill>
                  <a:srgbClr val="55B6FF"/>
                </a:solidFill>
                <a:latin typeface="Inter"/>
                <a:ea typeface="Inter"/>
                <a:cs typeface="Inter"/>
                <a:sym typeface="Inter"/>
              </a:rPr>
              <a:t>Oracle-prompt evaluation isolates mask quality when a target cue is available.</a:t>
            </a:r>
            <a:endParaRPr b="0" i="0" sz="600" u="none" cap="none" strike="noStrike">
              <a:solidFill>
                <a:schemeClr val="dk1"/>
              </a:solidFill>
              <a:latin typeface="Inter"/>
              <a:ea typeface="Inter"/>
              <a:cs typeface="Inter"/>
              <a:sym typeface="Inter"/>
            </a:endParaRPr>
          </a:p>
        </p:txBody>
      </p:sp>
      <p:cxnSp>
        <p:nvCxnSpPr>
          <p:cNvPr id="691" name="Google Shape;691;p23"/>
          <p:cNvCxnSpPr/>
          <p:nvPr/>
        </p:nvCxnSpPr>
        <p:spPr>
          <a:xfrm>
            <a:off x="377200" y="843534"/>
            <a:ext cx="8367000" cy="0"/>
          </a:xfrm>
          <a:prstGeom prst="straightConnector1">
            <a:avLst/>
          </a:prstGeom>
          <a:noFill/>
          <a:ln cap="flat" cmpd="sng" w="10150">
            <a:solidFill>
              <a:srgbClr val="334155">
                <a:alpha val="85098"/>
              </a:srgbClr>
            </a:solidFill>
            <a:prstDash val="solid"/>
            <a:round/>
            <a:headEnd len="sm" w="sm" type="none"/>
            <a:tailEnd len="sm" w="sm" type="none"/>
          </a:ln>
        </p:spPr>
      </p:cxnSp>
      <p:sp>
        <p:nvSpPr>
          <p:cNvPr id="692" name="Google Shape;692;p23"/>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Evaluation protocol</a:t>
            </a:r>
            <a:endParaRPr b="0" i="0" sz="500" u="none" cap="none" strike="noStrike">
              <a:solidFill>
                <a:schemeClr val="dk1"/>
              </a:solidFill>
              <a:latin typeface="Inter"/>
              <a:ea typeface="Inter"/>
              <a:cs typeface="Inter"/>
              <a:sym typeface="Inter"/>
            </a:endParaRPr>
          </a:p>
        </p:txBody>
      </p:sp>
      <p:sp>
        <p:nvSpPr>
          <p:cNvPr id="693" name="Google Shape;693;p23"/>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Sources: SAM prompt modalities; project protocol</a:t>
            </a:r>
            <a:endParaRPr b="0" i="0" sz="500" u="none" cap="none" strike="noStrike">
              <a:solidFill>
                <a:schemeClr val="dk1"/>
              </a:solidFill>
              <a:latin typeface="Inter"/>
              <a:ea typeface="Inter"/>
              <a:cs typeface="Inter"/>
              <a:sym typeface="Inter"/>
            </a:endParaRPr>
          </a:p>
        </p:txBody>
      </p:sp>
      <p:grpSp>
        <p:nvGrpSpPr>
          <p:cNvPr id="694" name="Google Shape;694;p23"/>
          <p:cNvGrpSpPr/>
          <p:nvPr/>
        </p:nvGrpSpPr>
        <p:grpSpPr>
          <a:xfrm>
            <a:off x="428625" y="1047750"/>
            <a:ext cx="8286900" cy="2190900"/>
            <a:chOff x="428625" y="1047750"/>
            <a:chExt cx="8286900" cy="2190900"/>
          </a:xfrm>
        </p:grpSpPr>
        <p:grpSp>
          <p:nvGrpSpPr>
            <p:cNvPr id="695" name="Google Shape;695;p23"/>
            <p:cNvGrpSpPr/>
            <p:nvPr/>
          </p:nvGrpSpPr>
          <p:grpSpPr>
            <a:xfrm>
              <a:off x="428625" y="1047750"/>
              <a:ext cx="2571900" cy="2190900"/>
              <a:chOff x="0" y="0"/>
              <a:chExt cx="2571900" cy="2190900"/>
            </a:xfrm>
          </p:grpSpPr>
          <p:sp>
            <p:nvSpPr>
              <p:cNvPr id="696" name="Google Shape;696;p23"/>
              <p:cNvSpPr/>
              <p:nvPr/>
            </p:nvSpPr>
            <p:spPr>
              <a:xfrm>
                <a:off x="0" y="0"/>
                <a:ext cx="2571900" cy="2190900"/>
              </a:xfrm>
              <a:prstGeom prst="roundRect">
                <a:avLst>
                  <a:gd fmla="val 5217" name="adj"/>
                </a:avLst>
              </a:prstGeom>
              <a:solidFill>
                <a:srgbClr val="111827"/>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7" name="Google Shape;697;p23"/>
              <p:cNvSpPr txBox="1"/>
              <p:nvPr/>
            </p:nvSpPr>
            <p:spPr>
              <a:xfrm>
                <a:off x="0" y="1333500"/>
                <a:ext cx="25719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55B6FF"/>
                    </a:solidFill>
                    <a:latin typeface="Inter"/>
                    <a:ea typeface="Inter"/>
                    <a:cs typeface="Inter"/>
                    <a:sym typeface="Inter"/>
                  </a:rPr>
                  <a:t>Point prompt</a:t>
                </a:r>
                <a:endParaRPr b="1" sz="1600">
                  <a:solidFill>
                    <a:srgbClr val="55B6FF"/>
                  </a:solidFill>
                  <a:latin typeface="Inter"/>
                  <a:ea typeface="Inter"/>
                  <a:cs typeface="Inter"/>
                  <a:sym typeface="Inter"/>
                </a:endParaRPr>
              </a:p>
              <a:p>
                <a:pPr indent="0" lvl="0" marL="0" rtl="0" algn="ctr">
                  <a:spcBef>
                    <a:spcPts val="375"/>
                  </a:spcBef>
                  <a:spcAft>
                    <a:spcPts val="0"/>
                  </a:spcAft>
                  <a:buNone/>
                </a:pPr>
                <a:r>
                  <a:rPr b="0" lang="en" sz="1100">
                    <a:solidFill>
                      <a:srgbClr val="F3F6FB"/>
                    </a:solidFill>
                    <a:latin typeface="Inter"/>
                    <a:ea typeface="Inter"/>
                    <a:cs typeface="Inter"/>
                    <a:sym typeface="Inter"/>
                  </a:rPr>
                  <a:t>Target cue from one pixel</a:t>
                </a:r>
                <a:endParaRPr b="0" sz="1100">
                  <a:solidFill>
                    <a:srgbClr val="F3F6FB"/>
                  </a:solidFill>
                  <a:latin typeface="Inter"/>
                  <a:ea typeface="Inter"/>
                  <a:cs typeface="Inter"/>
                  <a:sym typeface="Inter"/>
                </a:endParaRPr>
              </a:p>
            </p:txBody>
          </p:sp>
        </p:grpSp>
        <p:grpSp>
          <p:nvGrpSpPr>
            <p:cNvPr id="698" name="Google Shape;698;p23"/>
            <p:cNvGrpSpPr/>
            <p:nvPr/>
          </p:nvGrpSpPr>
          <p:grpSpPr>
            <a:xfrm>
              <a:off x="3286125" y="1047750"/>
              <a:ext cx="2571900" cy="2190900"/>
              <a:chOff x="0" y="0"/>
              <a:chExt cx="2571900" cy="2190900"/>
            </a:xfrm>
          </p:grpSpPr>
          <p:sp>
            <p:nvSpPr>
              <p:cNvPr id="699" name="Google Shape;699;p23"/>
              <p:cNvSpPr/>
              <p:nvPr/>
            </p:nvSpPr>
            <p:spPr>
              <a:xfrm>
                <a:off x="0" y="0"/>
                <a:ext cx="2571900" cy="2190900"/>
              </a:xfrm>
              <a:prstGeom prst="roundRect">
                <a:avLst>
                  <a:gd fmla="val 5217" name="adj"/>
                </a:avLst>
              </a:prstGeom>
              <a:solidFill>
                <a:srgbClr val="111827"/>
              </a:solidFill>
              <a:ln cap="flat" cmpd="sng" w="1430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00" name="Google Shape;700;p23"/>
              <p:cNvPicPr preferRelativeResize="0"/>
              <p:nvPr/>
            </p:nvPicPr>
            <p:blipFill rotWithShape="1">
              <a:blip r:embed="rId3">
                <a:alphaModFix/>
              </a:blip>
              <a:srcRect b="42710" l="0" r="10" t="0"/>
              <a:stretch/>
            </p:blipFill>
            <p:spPr>
              <a:xfrm>
                <a:off x="190500" y="190500"/>
                <a:ext cx="2190900" cy="1047900"/>
              </a:xfrm>
              <a:prstGeom prst="roundRect">
                <a:avLst>
                  <a:gd fmla="val 7272" name="adj"/>
                </a:avLst>
              </a:prstGeom>
              <a:noFill/>
              <a:ln>
                <a:noFill/>
              </a:ln>
            </p:spPr>
          </p:pic>
          <p:sp>
            <p:nvSpPr>
              <p:cNvPr id="701" name="Google Shape;701;p23"/>
              <p:cNvSpPr txBox="1"/>
              <p:nvPr/>
            </p:nvSpPr>
            <p:spPr>
              <a:xfrm>
                <a:off x="0" y="1333500"/>
                <a:ext cx="25719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F9B5E"/>
                    </a:solidFill>
                    <a:latin typeface="Inter"/>
                    <a:ea typeface="Inter"/>
                    <a:cs typeface="Inter"/>
                    <a:sym typeface="Inter"/>
                  </a:rPr>
                  <a:t>Box prompt</a:t>
                </a:r>
                <a:endParaRPr b="1" sz="1600">
                  <a:solidFill>
                    <a:srgbClr val="FF9B5E"/>
                  </a:solidFill>
                  <a:latin typeface="Inter"/>
                  <a:ea typeface="Inter"/>
                  <a:cs typeface="Inter"/>
                  <a:sym typeface="Inter"/>
                </a:endParaRPr>
              </a:p>
              <a:p>
                <a:pPr indent="0" lvl="0" marL="0" rtl="0" algn="ctr">
                  <a:spcBef>
                    <a:spcPts val="375"/>
                  </a:spcBef>
                  <a:spcAft>
                    <a:spcPts val="0"/>
                  </a:spcAft>
                  <a:buNone/>
                </a:pPr>
                <a:r>
                  <a:rPr b="0" lang="en" sz="1100">
                    <a:solidFill>
                      <a:srgbClr val="F3F6FB"/>
                    </a:solidFill>
                    <a:latin typeface="Inter"/>
                    <a:ea typeface="Inter"/>
                    <a:cs typeface="Inter"/>
                    <a:sym typeface="Inter"/>
                  </a:rPr>
                  <a:t>Target cue from bounding box</a:t>
                </a:r>
                <a:endParaRPr b="0" sz="1100">
                  <a:solidFill>
                    <a:srgbClr val="F3F6FB"/>
                  </a:solidFill>
                  <a:latin typeface="Inter"/>
                  <a:ea typeface="Inter"/>
                  <a:cs typeface="Inter"/>
                  <a:sym typeface="Inter"/>
                </a:endParaRPr>
              </a:p>
            </p:txBody>
          </p:sp>
        </p:grpSp>
        <p:grpSp>
          <p:nvGrpSpPr>
            <p:cNvPr id="702" name="Google Shape;702;p23"/>
            <p:cNvGrpSpPr/>
            <p:nvPr/>
          </p:nvGrpSpPr>
          <p:grpSpPr>
            <a:xfrm>
              <a:off x="6143625" y="1047750"/>
              <a:ext cx="2571900" cy="2190900"/>
              <a:chOff x="0" y="0"/>
              <a:chExt cx="2571900" cy="2190900"/>
            </a:xfrm>
          </p:grpSpPr>
          <p:sp>
            <p:nvSpPr>
              <p:cNvPr id="703" name="Google Shape;703;p23"/>
              <p:cNvSpPr/>
              <p:nvPr/>
            </p:nvSpPr>
            <p:spPr>
              <a:xfrm>
                <a:off x="0" y="0"/>
                <a:ext cx="2571900" cy="2190900"/>
              </a:xfrm>
              <a:prstGeom prst="roundRect">
                <a:avLst>
                  <a:gd fmla="val 5217" name="adj"/>
                </a:avLst>
              </a:prstGeom>
              <a:solidFill>
                <a:srgbClr val="111827"/>
              </a:solidFill>
              <a:ln cap="flat" cmpd="sng" w="1430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04" name="Google Shape;704;p23"/>
              <p:cNvPicPr preferRelativeResize="0"/>
              <p:nvPr/>
            </p:nvPicPr>
            <p:blipFill rotWithShape="1">
              <a:blip r:embed="rId4">
                <a:alphaModFix/>
              </a:blip>
              <a:srcRect b="14829" l="0" r="0" t="145"/>
              <a:stretch/>
            </p:blipFill>
            <p:spPr>
              <a:xfrm>
                <a:off x="190500" y="190500"/>
                <a:ext cx="2190900" cy="1047900"/>
              </a:xfrm>
              <a:prstGeom prst="roundRect">
                <a:avLst>
                  <a:gd fmla="val 7272" name="adj"/>
                </a:avLst>
              </a:prstGeom>
              <a:noFill/>
              <a:ln>
                <a:noFill/>
              </a:ln>
            </p:spPr>
          </p:pic>
          <p:sp>
            <p:nvSpPr>
              <p:cNvPr id="705" name="Google Shape;705;p23"/>
              <p:cNvSpPr txBox="1"/>
              <p:nvPr/>
            </p:nvSpPr>
            <p:spPr>
              <a:xfrm>
                <a:off x="0" y="1333500"/>
                <a:ext cx="25719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600">
                    <a:solidFill>
                      <a:srgbClr val="F472B6"/>
                    </a:solidFill>
                    <a:latin typeface="Inter"/>
                    <a:ea typeface="Inter"/>
                    <a:cs typeface="Inter"/>
                    <a:sym typeface="Inter"/>
                  </a:rPr>
                  <a:t>Automatic masks</a:t>
                </a:r>
                <a:endParaRPr b="1" sz="1600">
                  <a:solidFill>
                    <a:srgbClr val="F472B6"/>
                  </a:solidFill>
                  <a:latin typeface="Inter"/>
                  <a:ea typeface="Inter"/>
                  <a:cs typeface="Inter"/>
                  <a:sym typeface="Inter"/>
                </a:endParaRPr>
              </a:p>
              <a:p>
                <a:pPr indent="0" lvl="0" marL="0" rtl="0" algn="ctr">
                  <a:spcBef>
                    <a:spcPts val="375"/>
                  </a:spcBef>
                  <a:spcAft>
                    <a:spcPts val="0"/>
                  </a:spcAft>
                  <a:buNone/>
                </a:pPr>
                <a:r>
                  <a:rPr b="0" lang="en" sz="1100">
                    <a:solidFill>
                      <a:srgbClr val="F3F6FB"/>
                    </a:solidFill>
                    <a:latin typeface="Inter"/>
                    <a:ea typeface="Inter"/>
                    <a:cs typeface="Inter"/>
                    <a:sym typeface="Inter"/>
                  </a:rPr>
                  <a:t>Model proposes masks without a target cue</a:t>
                </a:r>
                <a:endParaRPr b="0" sz="1100">
                  <a:solidFill>
                    <a:srgbClr val="F3F6FB"/>
                  </a:solidFill>
                  <a:latin typeface="Inter"/>
                  <a:ea typeface="Inter"/>
                  <a:cs typeface="Inter"/>
                  <a:sym typeface="Inter"/>
                </a:endParaRPr>
              </a:p>
            </p:txBody>
          </p:sp>
        </p:grpSp>
      </p:grpSp>
      <p:grpSp>
        <p:nvGrpSpPr>
          <p:cNvPr id="706" name="Google Shape;706;p23"/>
          <p:cNvGrpSpPr/>
          <p:nvPr/>
        </p:nvGrpSpPr>
        <p:grpSpPr>
          <a:xfrm>
            <a:off x="428625" y="3381375"/>
            <a:ext cx="8286900" cy="1285875"/>
            <a:chOff x="428625" y="3381375"/>
            <a:chExt cx="8286900" cy="1285875"/>
          </a:xfrm>
        </p:grpSpPr>
        <p:grpSp>
          <p:nvGrpSpPr>
            <p:cNvPr id="707" name="Google Shape;707;p23"/>
            <p:cNvGrpSpPr/>
            <p:nvPr/>
          </p:nvGrpSpPr>
          <p:grpSpPr>
            <a:xfrm>
              <a:off x="428625" y="3381375"/>
              <a:ext cx="4048200" cy="571500"/>
              <a:chOff x="0" y="0"/>
              <a:chExt cx="4048200" cy="571500"/>
            </a:xfrm>
          </p:grpSpPr>
          <p:sp>
            <p:nvSpPr>
              <p:cNvPr id="708" name="Google Shape;708;p23"/>
              <p:cNvSpPr/>
              <p:nvPr/>
            </p:nvSpPr>
            <p:spPr>
              <a:xfrm>
                <a:off x="0" y="0"/>
                <a:ext cx="4048200" cy="571500"/>
              </a:xfrm>
              <a:prstGeom prst="roundRect">
                <a:avLst>
                  <a:gd fmla="val 1333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9" name="Google Shape;709;p23"/>
              <p:cNvSpPr txBox="1"/>
              <p:nvPr/>
            </p:nvSpPr>
            <p:spPr>
              <a:xfrm>
                <a:off x="142875" y="0"/>
                <a:ext cx="37623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55B6FF"/>
                    </a:solidFill>
                    <a:latin typeface="Inter"/>
                    <a:ea typeface="Inter"/>
                    <a:cs typeface="Inter"/>
                    <a:sym typeface="Inter"/>
                  </a:rPr>
                  <a:t>Models</a:t>
                </a:r>
                <a:endParaRPr b="1" sz="1100">
                  <a:solidFill>
                    <a:srgbClr val="55B6FF"/>
                  </a:solidFill>
                  <a:latin typeface="Inter"/>
                  <a:ea typeface="Inter"/>
                  <a:cs typeface="Inter"/>
                  <a:sym typeface="Inter"/>
                </a:endParaRPr>
              </a:p>
              <a:p>
                <a:pPr indent="0" lvl="0" marL="0" rtl="0" algn="l">
                  <a:spcBef>
                    <a:spcPts val="150"/>
                  </a:spcBef>
                  <a:spcAft>
                    <a:spcPts val="0"/>
                  </a:spcAft>
                  <a:buNone/>
                </a:pPr>
                <a:r>
                  <a:rPr b="0" lang="en" sz="1000">
                    <a:solidFill>
                      <a:srgbClr val="F3F6FB"/>
                    </a:solidFill>
                    <a:latin typeface="Inter"/>
                    <a:ea typeface="Inter"/>
                    <a:cs typeface="Inter"/>
                    <a:sym typeface="Inter"/>
                  </a:rPr>
                  <a:t>SAM ViT-H/B · SAM2 · FastSAM · MobileSAM · EfficientSAM · YOLOv8-seg · Mask R-CNN · DeepLabV3+</a:t>
                </a:r>
                <a:endParaRPr b="0" sz="1000">
                  <a:solidFill>
                    <a:srgbClr val="F3F6FB"/>
                  </a:solidFill>
                  <a:latin typeface="Inter"/>
                  <a:ea typeface="Inter"/>
                  <a:cs typeface="Inter"/>
                  <a:sym typeface="Inter"/>
                </a:endParaRPr>
              </a:p>
            </p:txBody>
          </p:sp>
        </p:grpSp>
        <p:grpSp>
          <p:nvGrpSpPr>
            <p:cNvPr id="710" name="Google Shape;710;p23"/>
            <p:cNvGrpSpPr/>
            <p:nvPr/>
          </p:nvGrpSpPr>
          <p:grpSpPr>
            <a:xfrm>
              <a:off x="4667250" y="3381375"/>
              <a:ext cx="4048200" cy="571500"/>
              <a:chOff x="0" y="0"/>
              <a:chExt cx="4048200" cy="571500"/>
            </a:xfrm>
          </p:grpSpPr>
          <p:sp>
            <p:nvSpPr>
              <p:cNvPr id="711" name="Google Shape;711;p23"/>
              <p:cNvSpPr/>
              <p:nvPr/>
            </p:nvSpPr>
            <p:spPr>
              <a:xfrm>
                <a:off x="0" y="0"/>
                <a:ext cx="4048200" cy="571500"/>
              </a:xfrm>
              <a:prstGeom prst="roundRect">
                <a:avLst>
                  <a:gd fmla="val 1333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2" name="Google Shape;712;p23"/>
              <p:cNvSpPr txBox="1"/>
              <p:nvPr/>
            </p:nvSpPr>
            <p:spPr>
              <a:xfrm>
                <a:off x="142875" y="0"/>
                <a:ext cx="37623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55B6FF"/>
                    </a:solidFill>
                    <a:latin typeface="Inter"/>
                    <a:ea typeface="Inter"/>
                    <a:cs typeface="Inter"/>
                    <a:sym typeface="Inter"/>
                  </a:rPr>
                  <a:t>Metrics</a:t>
                </a:r>
                <a:endParaRPr b="1" sz="1100">
                  <a:solidFill>
                    <a:srgbClr val="55B6FF"/>
                  </a:solidFill>
                  <a:latin typeface="Inter"/>
                  <a:ea typeface="Inter"/>
                  <a:cs typeface="Inter"/>
                  <a:sym typeface="Inter"/>
                </a:endParaRPr>
              </a:p>
              <a:p>
                <a:pPr indent="0" lvl="0" marL="0" rtl="0" algn="l">
                  <a:spcBef>
                    <a:spcPts val="150"/>
                  </a:spcBef>
                  <a:spcAft>
                    <a:spcPts val="0"/>
                  </a:spcAft>
                  <a:buNone/>
                </a:pPr>
                <a:r>
                  <a:rPr b="0" lang="en" sz="1000">
                    <a:solidFill>
                      <a:srgbClr val="F3F6FB"/>
                    </a:solidFill>
                    <a:latin typeface="Inter"/>
                    <a:ea typeface="Inter"/>
                    <a:cs typeface="Inter"/>
                    <a:sym typeface="Inter"/>
                  </a:rPr>
                  <a:t>mIoU · Boundary F1 · Mask AP/AP50/AP75 · per-category IoU · GPU/CPU FPS</a:t>
                </a:r>
                <a:endParaRPr b="0" sz="1000">
                  <a:solidFill>
                    <a:srgbClr val="F3F6FB"/>
                  </a:solidFill>
                  <a:latin typeface="Inter"/>
                  <a:ea typeface="Inter"/>
                  <a:cs typeface="Inter"/>
                  <a:sym typeface="Inter"/>
                </a:endParaRPr>
              </a:p>
            </p:txBody>
          </p:sp>
        </p:grpSp>
        <p:grpSp>
          <p:nvGrpSpPr>
            <p:cNvPr id="713" name="Google Shape;713;p23"/>
            <p:cNvGrpSpPr/>
            <p:nvPr/>
          </p:nvGrpSpPr>
          <p:grpSpPr>
            <a:xfrm>
              <a:off x="428625" y="4095750"/>
              <a:ext cx="8286900" cy="571500"/>
              <a:chOff x="0" y="0"/>
              <a:chExt cx="8286900" cy="571500"/>
            </a:xfrm>
          </p:grpSpPr>
          <p:sp>
            <p:nvSpPr>
              <p:cNvPr id="714" name="Google Shape;714;p23"/>
              <p:cNvSpPr/>
              <p:nvPr/>
            </p:nvSpPr>
            <p:spPr>
              <a:xfrm>
                <a:off x="0" y="0"/>
                <a:ext cx="8286900" cy="571500"/>
              </a:xfrm>
              <a:prstGeom prst="roundRect">
                <a:avLst>
                  <a:gd fmla="val 13333" name="adj"/>
                </a:avLst>
              </a:prstGeom>
              <a:solidFill>
                <a:srgbClr val="3A2215">
                  <a:alpha val="80000"/>
                </a:srgbClr>
              </a:solidFill>
              <a:ln cap="flat" cmpd="sng" w="9525">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5" name="Google Shape;715;p23"/>
              <p:cNvSpPr txBox="1"/>
              <p:nvPr/>
            </p:nvSpPr>
            <p:spPr>
              <a:xfrm>
                <a:off x="190500" y="0"/>
                <a:ext cx="7905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9B5E"/>
                    </a:solidFill>
                    <a:latin typeface="Inter"/>
                    <a:ea typeface="Inter"/>
                    <a:cs typeface="Inter"/>
                    <a:sym typeface="Inter"/>
                  </a:rPr>
                  <a:t>Boundary Note</a:t>
                </a:r>
                <a:endParaRPr b="1" sz="1100">
                  <a:solidFill>
                    <a:srgbClr val="FF9B5E"/>
                  </a:solidFill>
                  <a:latin typeface="Inter"/>
                  <a:ea typeface="Inter"/>
                  <a:cs typeface="Inter"/>
                  <a:sym typeface="Inter"/>
                </a:endParaRPr>
              </a:p>
              <a:p>
                <a:pPr indent="0" lvl="0" marL="0" rtl="0" algn="l">
                  <a:spcBef>
                    <a:spcPts val="150"/>
                  </a:spcBef>
                  <a:spcAft>
                    <a:spcPts val="0"/>
                  </a:spcAft>
                  <a:buNone/>
                </a:pPr>
                <a:r>
                  <a:rPr b="0" lang="en" sz="1000">
                    <a:solidFill>
                      <a:srgbClr val="F3F6FB"/>
                    </a:solidFill>
                    <a:latin typeface="Inter"/>
                    <a:ea typeface="Inter"/>
                    <a:cs typeface="Inter"/>
                    <a:sym typeface="Inter"/>
                  </a:rPr>
                  <a:t>Point/box prompts are oracle prompts; real robots need detector, tracker, planner, human instruction, or task prior.</a:t>
                </a:r>
                <a:endParaRPr b="0" sz="1000">
                  <a:solidFill>
                    <a:srgbClr val="F3F6FB"/>
                  </a:solidFill>
                  <a:latin typeface="Inter"/>
                  <a:ea typeface="Inter"/>
                  <a:cs typeface="Inter"/>
                  <a:sym typeface="Inter"/>
                </a:endParaRPr>
              </a:p>
            </p:txBody>
          </p:sp>
        </p:grpSp>
      </p:grpSp>
      <p:pic>
        <p:nvPicPr>
          <p:cNvPr descr="A high-quality visualization of the Segment Anything Model (SAM) notebook assets showing a point prompt on an image of a dog, following the visual style of the provided reference URL: https://raw.githubusercontent.com/facebookresearch/segment-anything/main/assets/notebook1.png" id="716" name="Google Shape;716;p23"/>
          <p:cNvPicPr preferRelativeResize="0"/>
          <p:nvPr/>
        </p:nvPicPr>
        <p:blipFill rotWithShape="1">
          <a:blip r:embed="rId5">
            <a:alphaModFix/>
          </a:blip>
          <a:srcRect b="18116" l="0" r="0" t="18116"/>
          <a:stretch/>
        </p:blipFill>
        <p:spPr>
          <a:xfrm>
            <a:off x="619125" y="1238250"/>
            <a:ext cx="2190900" cy="1047900"/>
          </a:xfrm>
          <a:prstGeom prst="roundRect">
            <a:avLst>
              <a:gd fmla="val 7272"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721" name="Shape 721"/>
        <p:cNvGrpSpPr/>
        <p:nvPr/>
      </p:nvGrpSpPr>
      <p:grpSpPr>
        <a:xfrm>
          <a:off x="0" y="0"/>
          <a:ext cx="0" cy="0"/>
          <a:chOff x="0" y="0"/>
          <a:chExt cx="0" cy="0"/>
        </a:xfrm>
      </p:grpSpPr>
      <p:cxnSp>
        <p:nvCxnSpPr>
          <p:cNvPr id="722" name="Google Shape;722;p24"/>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23" name="Google Shape;723;p24"/>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24" name="Google Shape;724;p24"/>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25" name="Google Shape;725;p24"/>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26" name="Google Shape;726;p24"/>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27" name="Google Shape;727;p24"/>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28" name="Google Shape;728;p24"/>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29" name="Google Shape;729;p24"/>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0" name="Google Shape;730;p24"/>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1" name="Google Shape;731;p24"/>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2" name="Google Shape;732;p24"/>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3" name="Google Shape;733;p24"/>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4" name="Google Shape;734;p24"/>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5" name="Google Shape;735;p24"/>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6" name="Google Shape;736;p24"/>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7" name="Google Shape;737;p24"/>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8" name="Google Shape;738;p24"/>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39" name="Google Shape;739;p24"/>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0" name="Google Shape;740;p24"/>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1" name="Google Shape;741;p24"/>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2" name="Google Shape;742;p24"/>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3" name="Google Shape;743;p24"/>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4" name="Google Shape;744;p24"/>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5" name="Google Shape;745;p24"/>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6" name="Google Shape;746;p24"/>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7" name="Google Shape;747;p24"/>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8" name="Google Shape;748;p24"/>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49" name="Google Shape;749;p24"/>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0" name="Google Shape;750;p24"/>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1" name="Google Shape;751;p24"/>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2" name="Google Shape;752;p24"/>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3" name="Google Shape;753;p24"/>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4" name="Google Shape;754;p24"/>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5" name="Google Shape;755;p24"/>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6" name="Google Shape;756;p24"/>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7" name="Google Shape;757;p24"/>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8" name="Google Shape;758;p24"/>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59" name="Google Shape;759;p24"/>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60" name="Google Shape;760;p24"/>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61" name="Google Shape;761;p24"/>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62" name="Google Shape;762;p24"/>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63" name="Google Shape;763;p24"/>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764" name="Google Shape;764;p24"/>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765" name="Google Shape;765;p24"/>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6" name="Google Shape;766;p24"/>
          <p:cNvSpPr txBox="1"/>
          <p:nvPr/>
        </p:nvSpPr>
        <p:spPr>
          <a:xfrm>
            <a:off x="381000" y="238125"/>
            <a:ext cx="190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55B6FF"/>
                </a:solidFill>
                <a:latin typeface="Inter"/>
                <a:ea typeface="Inter"/>
                <a:cs typeface="Inter"/>
                <a:sym typeface="Inter"/>
              </a:rPr>
              <a:t>Imperative I: Mask Quality</a:t>
            </a:r>
            <a:endParaRPr b="1" sz="800">
              <a:solidFill>
                <a:srgbClr val="55B6FF"/>
              </a:solidFill>
              <a:latin typeface="Inter"/>
              <a:ea typeface="Inter"/>
              <a:cs typeface="Inter"/>
              <a:sym typeface="Inter"/>
            </a:endParaRPr>
          </a:p>
        </p:txBody>
      </p:sp>
      <p:sp>
        <p:nvSpPr>
          <p:cNvPr id="767" name="Google Shape;767;p24"/>
          <p:cNvSpPr txBox="1"/>
          <p:nvPr/>
        </p:nvSpPr>
        <p:spPr>
          <a:xfrm>
            <a:off x="381000" y="428625"/>
            <a:ext cx="8382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3F6FB"/>
                </a:solidFill>
                <a:latin typeface="Inter"/>
                <a:ea typeface="Inter"/>
                <a:cs typeface="Inter"/>
                <a:sym typeface="Inter"/>
              </a:rPr>
              <a:t>Mask Quality: Strong, but Dataset-Dependent</a:t>
            </a:r>
            <a:endParaRPr b="1" sz="2400">
              <a:solidFill>
                <a:srgbClr val="F3F6FB"/>
              </a:solidFill>
              <a:latin typeface="Inter"/>
              <a:ea typeface="Inter"/>
              <a:cs typeface="Inter"/>
              <a:sym typeface="Inter"/>
            </a:endParaRPr>
          </a:p>
        </p:txBody>
      </p:sp>
      <p:cxnSp>
        <p:nvCxnSpPr>
          <p:cNvPr id="768" name="Google Shape;768;p24"/>
          <p:cNvCxnSpPr/>
          <p:nvPr/>
        </p:nvCxnSpPr>
        <p:spPr>
          <a:xfrm>
            <a:off x="377200" y="843534"/>
            <a:ext cx="8367000" cy="0"/>
          </a:xfrm>
          <a:prstGeom prst="straightConnector1">
            <a:avLst/>
          </a:prstGeom>
          <a:noFill/>
          <a:ln cap="flat" cmpd="sng" w="10150">
            <a:solidFill>
              <a:srgbClr val="334155">
                <a:alpha val="85098"/>
              </a:srgbClr>
            </a:solidFill>
            <a:prstDash val="solid"/>
            <a:round/>
            <a:headEnd len="sm" w="sm" type="none"/>
            <a:tailEnd len="sm" w="sm" type="none"/>
          </a:ln>
        </p:spPr>
      </p:cxnSp>
      <p:sp>
        <p:nvSpPr>
          <p:cNvPr id="769" name="Google Shape;769;p24"/>
          <p:cNvSpPr txBox="1"/>
          <p:nvPr/>
        </p:nvSpPr>
        <p:spPr>
          <a:xfrm>
            <a:off x="381000" y="809625"/>
            <a:ext cx="838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100">
                <a:solidFill>
                  <a:srgbClr val="94A3B8"/>
                </a:solidFill>
                <a:latin typeface="Inter"/>
                <a:ea typeface="Inter"/>
                <a:cs typeface="Inter"/>
                <a:sym typeface="Inter"/>
              </a:rPr>
              <a:t>Prompted foundation models can produce strong masks, but performance varies across robotic datasets.</a:t>
            </a:r>
            <a:endParaRPr b="0" i="1" sz="1100">
              <a:solidFill>
                <a:srgbClr val="94A3B8"/>
              </a:solidFill>
              <a:latin typeface="Inter"/>
              <a:ea typeface="Inter"/>
              <a:cs typeface="Inter"/>
              <a:sym typeface="Inter"/>
            </a:endParaRPr>
          </a:p>
        </p:txBody>
      </p:sp>
      <p:grpSp>
        <p:nvGrpSpPr>
          <p:cNvPr id="770" name="Google Shape;770;p24"/>
          <p:cNvGrpSpPr/>
          <p:nvPr/>
        </p:nvGrpSpPr>
        <p:grpSpPr>
          <a:xfrm>
            <a:off x="381000" y="1138197"/>
            <a:ext cx="5524500" cy="2867100"/>
            <a:chOff x="0" y="-4803"/>
            <a:chExt cx="5524500" cy="2867100"/>
          </a:xfrm>
        </p:grpSpPr>
        <p:sp>
          <p:nvSpPr>
            <p:cNvPr id="771" name="Google Shape;771;p24"/>
            <p:cNvSpPr/>
            <p:nvPr/>
          </p:nvSpPr>
          <p:spPr>
            <a:xfrm>
              <a:off x="0" y="0"/>
              <a:ext cx="5524500" cy="2857500"/>
            </a:xfrm>
            <a:prstGeom prst="roundRect">
              <a:avLst>
                <a:gd fmla="val 2666" name="adj"/>
              </a:avLst>
            </a:prstGeom>
            <a:solidFill>
              <a:srgbClr val="111827"/>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72" name="Google Shape;772;p24"/>
            <p:cNvPicPr preferRelativeResize="0"/>
            <p:nvPr/>
          </p:nvPicPr>
          <p:blipFill rotWithShape="1">
            <a:blip r:embed="rId3">
              <a:alphaModFix/>
            </a:blip>
            <a:srcRect b="0" l="58211" r="0" t="0"/>
            <a:stretch/>
          </p:blipFill>
          <p:spPr>
            <a:xfrm>
              <a:off x="2034900" y="-4803"/>
              <a:ext cx="1454700" cy="2867100"/>
            </a:xfrm>
            <a:prstGeom prst="rect">
              <a:avLst/>
            </a:prstGeom>
            <a:noFill/>
            <a:ln>
              <a:noFill/>
            </a:ln>
          </p:spPr>
        </p:pic>
        <p:grpSp>
          <p:nvGrpSpPr>
            <p:cNvPr id="773" name="Google Shape;773;p24"/>
            <p:cNvGrpSpPr/>
            <p:nvPr/>
          </p:nvGrpSpPr>
          <p:grpSpPr>
            <a:xfrm>
              <a:off x="2276500" y="578963"/>
              <a:ext cx="471588" cy="1692113"/>
              <a:chOff x="2276500" y="578963"/>
              <a:chExt cx="471588" cy="1692113"/>
            </a:xfrm>
          </p:grpSpPr>
          <p:sp>
            <p:nvSpPr>
              <p:cNvPr id="774" name="Google Shape;774;p24"/>
              <p:cNvSpPr/>
              <p:nvPr/>
            </p:nvSpPr>
            <p:spPr>
              <a:xfrm>
                <a:off x="2319388" y="578963"/>
                <a:ext cx="428700" cy="142800"/>
              </a:xfrm>
              <a:prstGeom prst="roundRect">
                <a:avLst>
                  <a:gd fmla="val 13333" name="adj"/>
                </a:avLst>
              </a:prstGeom>
              <a:solidFill>
                <a:srgbClr val="000000">
                  <a:alpha val="0"/>
                </a:srgbClr>
              </a:solidFill>
              <a:ln cap="flat" cmpd="sng" w="19050">
                <a:solidFill>
                  <a:srgbClr val="4ADE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5" name="Google Shape;775;p24"/>
              <p:cNvSpPr/>
              <p:nvPr/>
            </p:nvSpPr>
            <p:spPr>
              <a:xfrm>
                <a:off x="2276500" y="2128275"/>
                <a:ext cx="428700" cy="142800"/>
              </a:xfrm>
              <a:prstGeom prst="roundRect">
                <a:avLst>
                  <a:gd fmla="val 13333" name="adj"/>
                </a:avLst>
              </a:prstGeom>
              <a:solidFill>
                <a:srgbClr val="000000">
                  <a:alpha val="0"/>
                </a:srgbClr>
              </a:solidFill>
              <a:ln cap="flat" cmpd="sng" w="19050">
                <a:solidFill>
                  <a:srgbClr val="4ADE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776" name="Google Shape;776;p24"/>
          <p:cNvGrpSpPr/>
          <p:nvPr/>
        </p:nvGrpSpPr>
        <p:grpSpPr>
          <a:xfrm>
            <a:off x="6096000" y="1143000"/>
            <a:ext cx="2762400" cy="2238525"/>
            <a:chOff x="0" y="0"/>
            <a:chExt cx="2762400" cy="2238525"/>
          </a:xfrm>
        </p:grpSpPr>
        <p:grpSp>
          <p:nvGrpSpPr>
            <p:cNvPr id="777" name="Google Shape;777;p24"/>
            <p:cNvGrpSpPr/>
            <p:nvPr/>
          </p:nvGrpSpPr>
          <p:grpSpPr>
            <a:xfrm>
              <a:off x="0" y="0"/>
              <a:ext cx="1333500" cy="857400"/>
              <a:chOff x="0" y="0"/>
              <a:chExt cx="1333500" cy="857400"/>
            </a:xfrm>
          </p:grpSpPr>
          <p:sp>
            <p:nvSpPr>
              <p:cNvPr id="778" name="Google Shape;778;p24"/>
              <p:cNvSpPr/>
              <p:nvPr/>
            </p:nvSpPr>
            <p:spPr>
              <a:xfrm>
                <a:off x="0" y="0"/>
                <a:ext cx="1333500" cy="857400"/>
              </a:xfrm>
              <a:prstGeom prst="roundRect">
                <a:avLst>
                  <a:gd fmla="val 6666" name="adj"/>
                </a:avLst>
              </a:prstGeom>
              <a:solidFill>
                <a:srgbClr val="111827"/>
              </a:solidFill>
              <a:ln cap="flat" cmpd="sng" w="9525">
                <a:solidFill>
                  <a:srgbClr val="4ADE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9" name="Google Shape;779;p24"/>
              <p:cNvSpPr txBox="1"/>
              <p:nvPr/>
            </p:nvSpPr>
            <p:spPr>
              <a:xfrm>
                <a:off x="114300" y="95250"/>
                <a:ext cx="1104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4ADE80"/>
                    </a:solidFill>
                    <a:latin typeface="Inter"/>
                    <a:ea typeface="Inter"/>
                    <a:cs typeface="Inter"/>
                    <a:sym typeface="Inter"/>
                  </a:rPr>
                  <a:t>0.923</a:t>
                </a:r>
                <a:endParaRPr b="1" sz="1600">
                  <a:solidFill>
                    <a:srgbClr val="4ADE80"/>
                  </a:solidFill>
                  <a:latin typeface="Inter"/>
                  <a:ea typeface="Inter"/>
                  <a:cs typeface="Inter"/>
                  <a:sym typeface="Inter"/>
                </a:endParaRPr>
              </a:p>
              <a:p>
                <a:pPr indent="0" lvl="0" marL="0" rtl="0" algn="l">
                  <a:spcBef>
                    <a:spcPts val="0"/>
                  </a:spcBef>
                  <a:spcAft>
                    <a:spcPts val="0"/>
                  </a:spcAft>
                  <a:buNone/>
                </a:pPr>
                <a:r>
                  <a:rPr b="1" lang="en" sz="800">
                    <a:solidFill>
                      <a:srgbClr val="F3F6FB"/>
                    </a:solidFill>
                    <a:latin typeface="Inter"/>
                    <a:ea typeface="Inter"/>
                    <a:cs typeface="Inter"/>
                    <a:sym typeface="Inter"/>
                  </a:rPr>
                  <a:t>SAM ViT-H box</a:t>
                </a:r>
                <a:endParaRPr b="1" sz="800">
                  <a:solidFill>
                    <a:srgbClr val="F3F6FB"/>
                  </a:solidFill>
                  <a:latin typeface="Inter"/>
                  <a:ea typeface="Inter"/>
                  <a:cs typeface="Inter"/>
                  <a:sym typeface="Inter"/>
                </a:endParaRPr>
              </a:p>
              <a:p>
                <a:pPr indent="0" lvl="0" marL="0" rtl="0" algn="l">
                  <a:spcBef>
                    <a:spcPts val="0"/>
                  </a:spcBef>
                  <a:spcAft>
                    <a:spcPts val="0"/>
                  </a:spcAft>
                  <a:buNone/>
                </a:pPr>
                <a:r>
                  <a:rPr b="0" lang="en" sz="700">
                    <a:solidFill>
                      <a:srgbClr val="94A3B8"/>
                    </a:solidFill>
                    <a:latin typeface="Inter"/>
                    <a:ea typeface="Inter"/>
                    <a:cs typeface="Inter"/>
                    <a:sym typeface="Inter"/>
                  </a:rPr>
                  <a:t>BlenderProc</a:t>
                </a:r>
                <a:endParaRPr b="0" sz="700">
                  <a:solidFill>
                    <a:srgbClr val="94A3B8"/>
                  </a:solidFill>
                  <a:latin typeface="Inter"/>
                  <a:ea typeface="Inter"/>
                  <a:cs typeface="Inter"/>
                  <a:sym typeface="Inter"/>
                </a:endParaRPr>
              </a:p>
            </p:txBody>
          </p:sp>
        </p:grpSp>
        <p:grpSp>
          <p:nvGrpSpPr>
            <p:cNvPr id="780" name="Google Shape;780;p24"/>
            <p:cNvGrpSpPr/>
            <p:nvPr/>
          </p:nvGrpSpPr>
          <p:grpSpPr>
            <a:xfrm>
              <a:off x="1428750" y="0"/>
              <a:ext cx="1333500" cy="857400"/>
              <a:chOff x="0" y="0"/>
              <a:chExt cx="1333500" cy="857400"/>
            </a:xfrm>
          </p:grpSpPr>
          <p:sp>
            <p:nvSpPr>
              <p:cNvPr id="781" name="Google Shape;781;p24"/>
              <p:cNvSpPr/>
              <p:nvPr/>
            </p:nvSpPr>
            <p:spPr>
              <a:xfrm>
                <a:off x="0" y="0"/>
                <a:ext cx="1333500" cy="857400"/>
              </a:xfrm>
              <a:prstGeom prst="roundRect">
                <a:avLst>
                  <a:gd fmla="val 6666" name="adj"/>
                </a:avLst>
              </a:prstGeom>
              <a:solidFill>
                <a:srgbClr val="111827"/>
              </a:solidFill>
              <a:ln cap="flat" cmpd="sng" w="9525">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2" name="Google Shape;782;p24"/>
              <p:cNvSpPr txBox="1"/>
              <p:nvPr/>
            </p:nvSpPr>
            <p:spPr>
              <a:xfrm>
                <a:off x="114300" y="95250"/>
                <a:ext cx="1104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FF9B5E"/>
                    </a:solidFill>
                    <a:latin typeface="Inter"/>
                    <a:ea typeface="Inter"/>
                    <a:cs typeface="Inter"/>
                    <a:sym typeface="Inter"/>
                  </a:rPr>
                  <a:t>0.752</a:t>
                </a:r>
                <a:endParaRPr b="1" sz="1600">
                  <a:solidFill>
                    <a:srgbClr val="FF9B5E"/>
                  </a:solidFill>
                  <a:latin typeface="Inter"/>
                  <a:ea typeface="Inter"/>
                  <a:cs typeface="Inter"/>
                  <a:sym typeface="Inter"/>
                </a:endParaRPr>
              </a:p>
              <a:p>
                <a:pPr indent="0" lvl="0" marL="0" rtl="0" algn="l">
                  <a:spcBef>
                    <a:spcPts val="0"/>
                  </a:spcBef>
                  <a:spcAft>
                    <a:spcPts val="0"/>
                  </a:spcAft>
                  <a:buNone/>
                </a:pPr>
                <a:r>
                  <a:rPr b="1" lang="en" sz="800">
                    <a:solidFill>
                      <a:srgbClr val="F3F6FB"/>
                    </a:solidFill>
                    <a:latin typeface="Inter"/>
                    <a:ea typeface="Inter"/>
                    <a:cs typeface="Inter"/>
                    <a:sym typeface="Inter"/>
                  </a:rPr>
                  <a:t>SAM ViT-H box</a:t>
                </a:r>
                <a:endParaRPr b="1" sz="800">
                  <a:solidFill>
                    <a:srgbClr val="F3F6FB"/>
                  </a:solidFill>
                  <a:latin typeface="Inter"/>
                  <a:ea typeface="Inter"/>
                  <a:cs typeface="Inter"/>
                  <a:sym typeface="Inter"/>
                </a:endParaRPr>
              </a:p>
              <a:p>
                <a:pPr indent="0" lvl="0" marL="0" rtl="0" algn="l">
                  <a:spcBef>
                    <a:spcPts val="0"/>
                  </a:spcBef>
                  <a:spcAft>
                    <a:spcPts val="0"/>
                  </a:spcAft>
                  <a:buNone/>
                </a:pPr>
                <a:r>
                  <a:rPr b="0" lang="en" sz="700">
                    <a:solidFill>
                      <a:srgbClr val="94A3B8"/>
                    </a:solidFill>
                    <a:latin typeface="Inter"/>
                    <a:ea typeface="Inter"/>
                    <a:cs typeface="Inter"/>
                    <a:sym typeface="Inter"/>
                  </a:rPr>
                  <a:t>Isaac G1</a:t>
                </a:r>
                <a:endParaRPr b="0" sz="700">
                  <a:solidFill>
                    <a:srgbClr val="94A3B8"/>
                  </a:solidFill>
                  <a:latin typeface="Inter"/>
                  <a:ea typeface="Inter"/>
                  <a:cs typeface="Inter"/>
                  <a:sym typeface="Inter"/>
                </a:endParaRPr>
              </a:p>
            </p:txBody>
          </p:sp>
        </p:grpSp>
        <p:grpSp>
          <p:nvGrpSpPr>
            <p:cNvPr id="783" name="Google Shape;783;p24"/>
            <p:cNvGrpSpPr/>
            <p:nvPr/>
          </p:nvGrpSpPr>
          <p:grpSpPr>
            <a:xfrm>
              <a:off x="0" y="952500"/>
              <a:ext cx="1333500" cy="857400"/>
              <a:chOff x="0" y="0"/>
              <a:chExt cx="1333500" cy="857400"/>
            </a:xfrm>
          </p:grpSpPr>
          <p:sp>
            <p:nvSpPr>
              <p:cNvPr id="784" name="Google Shape;784;p24"/>
              <p:cNvSpPr/>
              <p:nvPr/>
            </p:nvSpPr>
            <p:spPr>
              <a:xfrm>
                <a:off x="0" y="0"/>
                <a:ext cx="1333500" cy="857400"/>
              </a:xfrm>
              <a:prstGeom prst="roundRect">
                <a:avLst>
                  <a:gd fmla="val 6666" name="adj"/>
                </a:avLst>
              </a:prstGeom>
              <a:solidFill>
                <a:srgbClr val="111827"/>
              </a:solidFill>
              <a:ln cap="flat" cmpd="sng" w="9525">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5" name="Google Shape;785;p24"/>
              <p:cNvSpPr txBox="1"/>
              <p:nvPr/>
            </p:nvSpPr>
            <p:spPr>
              <a:xfrm>
                <a:off x="114300" y="95250"/>
                <a:ext cx="1104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55B6FF"/>
                    </a:solidFill>
                    <a:latin typeface="Inter"/>
                    <a:ea typeface="Inter"/>
                    <a:cs typeface="Inter"/>
                    <a:sym typeface="Inter"/>
                  </a:rPr>
                  <a:t>0.883</a:t>
                </a:r>
                <a:endParaRPr b="1" sz="1600">
                  <a:solidFill>
                    <a:srgbClr val="55B6FF"/>
                  </a:solidFill>
                  <a:latin typeface="Inter"/>
                  <a:ea typeface="Inter"/>
                  <a:cs typeface="Inter"/>
                  <a:sym typeface="Inter"/>
                </a:endParaRPr>
              </a:p>
              <a:p>
                <a:pPr indent="0" lvl="0" marL="0" rtl="0" algn="l">
                  <a:spcBef>
                    <a:spcPts val="0"/>
                  </a:spcBef>
                  <a:spcAft>
                    <a:spcPts val="0"/>
                  </a:spcAft>
                  <a:buNone/>
                </a:pPr>
                <a:r>
                  <a:rPr b="1" lang="en" sz="800">
                    <a:solidFill>
                      <a:srgbClr val="F3F6FB"/>
                    </a:solidFill>
                    <a:latin typeface="Inter"/>
                    <a:ea typeface="Inter"/>
                    <a:cs typeface="Inter"/>
                    <a:sym typeface="Inter"/>
                  </a:rPr>
                  <a:t>MobileSAM box</a:t>
                </a:r>
                <a:endParaRPr b="1" sz="800">
                  <a:solidFill>
                    <a:srgbClr val="F3F6FB"/>
                  </a:solidFill>
                  <a:latin typeface="Inter"/>
                  <a:ea typeface="Inter"/>
                  <a:cs typeface="Inter"/>
                  <a:sym typeface="Inter"/>
                </a:endParaRPr>
              </a:p>
              <a:p>
                <a:pPr indent="0" lvl="0" marL="0" rtl="0" algn="l">
                  <a:spcBef>
                    <a:spcPts val="0"/>
                  </a:spcBef>
                  <a:spcAft>
                    <a:spcPts val="0"/>
                  </a:spcAft>
                  <a:buNone/>
                </a:pPr>
                <a:r>
                  <a:rPr b="0" lang="en" sz="700">
                    <a:solidFill>
                      <a:srgbClr val="94A3B8"/>
                    </a:solidFill>
                    <a:latin typeface="Inter"/>
                    <a:ea typeface="Inter"/>
                    <a:cs typeface="Inter"/>
                    <a:sym typeface="Inter"/>
                  </a:rPr>
                  <a:t>BlenderProc</a:t>
                </a:r>
                <a:endParaRPr b="0" sz="700">
                  <a:solidFill>
                    <a:srgbClr val="94A3B8"/>
                  </a:solidFill>
                  <a:latin typeface="Inter"/>
                  <a:ea typeface="Inter"/>
                  <a:cs typeface="Inter"/>
                  <a:sym typeface="Inter"/>
                </a:endParaRPr>
              </a:p>
            </p:txBody>
          </p:sp>
        </p:grpSp>
        <p:grpSp>
          <p:nvGrpSpPr>
            <p:cNvPr id="786" name="Google Shape;786;p24"/>
            <p:cNvGrpSpPr/>
            <p:nvPr/>
          </p:nvGrpSpPr>
          <p:grpSpPr>
            <a:xfrm>
              <a:off x="1428750" y="952500"/>
              <a:ext cx="1333500" cy="857400"/>
              <a:chOff x="0" y="0"/>
              <a:chExt cx="1333500" cy="857400"/>
            </a:xfrm>
          </p:grpSpPr>
          <p:sp>
            <p:nvSpPr>
              <p:cNvPr id="787" name="Google Shape;787;p24"/>
              <p:cNvSpPr/>
              <p:nvPr/>
            </p:nvSpPr>
            <p:spPr>
              <a:xfrm>
                <a:off x="0" y="0"/>
                <a:ext cx="1333500" cy="857400"/>
              </a:xfrm>
              <a:prstGeom prst="roundRect">
                <a:avLst>
                  <a:gd fmla="val 6666" name="adj"/>
                </a:avLst>
              </a:prstGeom>
              <a:solidFill>
                <a:srgbClr val="111827"/>
              </a:solidFill>
              <a:ln cap="flat" cmpd="sng" w="9525">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24"/>
              <p:cNvSpPr txBox="1"/>
              <p:nvPr/>
            </p:nvSpPr>
            <p:spPr>
              <a:xfrm>
                <a:off x="114300" y="95250"/>
                <a:ext cx="1104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600">
                    <a:solidFill>
                      <a:srgbClr val="4FD1C5"/>
                    </a:solidFill>
                    <a:latin typeface="Inter"/>
                    <a:ea typeface="Inter"/>
                    <a:cs typeface="Inter"/>
                    <a:sym typeface="Inter"/>
                  </a:rPr>
                  <a:t>0.824</a:t>
                </a:r>
                <a:endParaRPr b="1" sz="1600">
                  <a:solidFill>
                    <a:srgbClr val="4FD1C5"/>
                  </a:solidFill>
                  <a:latin typeface="Inter"/>
                  <a:ea typeface="Inter"/>
                  <a:cs typeface="Inter"/>
                  <a:sym typeface="Inter"/>
                </a:endParaRPr>
              </a:p>
              <a:p>
                <a:pPr indent="0" lvl="0" marL="0" rtl="0" algn="l">
                  <a:spcBef>
                    <a:spcPts val="0"/>
                  </a:spcBef>
                  <a:spcAft>
                    <a:spcPts val="0"/>
                  </a:spcAft>
                  <a:buNone/>
                </a:pPr>
                <a:r>
                  <a:rPr b="1" lang="en" sz="800">
                    <a:solidFill>
                      <a:srgbClr val="F3F6FB"/>
                    </a:solidFill>
                    <a:latin typeface="Inter"/>
                    <a:ea typeface="Inter"/>
                    <a:cs typeface="Inter"/>
                    <a:sym typeface="Inter"/>
                  </a:rPr>
                  <a:t>MobileSAM box</a:t>
                </a:r>
                <a:endParaRPr b="1" sz="800">
                  <a:solidFill>
                    <a:srgbClr val="F3F6FB"/>
                  </a:solidFill>
                  <a:latin typeface="Inter"/>
                  <a:ea typeface="Inter"/>
                  <a:cs typeface="Inter"/>
                  <a:sym typeface="Inter"/>
                </a:endParaRPr>
              </a:p>
              <a:p>
                <a:pPr indent="0" lvl="0" marL="0" rtl="0" algn="l">
                  <a:spcBef>
                    <a:spcPts val="0"/>
                  </a:spcBef>
                  <a:spcAft>
                    <a:spcPts val="0"/>
                  </a:spcAft>
                  <a:buNone/>
                </a:pPr>
                <a:r>
                  <a:rPr b="0" lang="en" sz="700">
                    <a:solidFill>
                      <a:srgbClr val="94A3B8"/>
                    </a:solidFill>
                    <a:latin typeface="Inter"/>
                    <a:ea typeface="Inter"/>
                    <a:cs typeface="Inter"/>
                    <a:sym typeface="Inter"/>
                  </a:rPr>
                  <a:t>OCID</a:t>
                </a:r>
                <a:endParaRPr b="0" sz="700">
                  <a:solidFill>
                    <a:srgbClr val="94A3B8"/>
                  </a:solidFill>
                  <a:latin typeface="Inter"/>
                  <a:ea typeface="Inter"/>
                  <a:cs typeface="Inter"/>
                  <a:sym typeface="Inter"/>
                </a:endParaRPr>
              </a:p>
            </p:txBody>
          </p:sp>
        </p:grpSp>
        <p:sp>
          <p:nvSpPr>
            <p:cNvPr id="789" name="Google Shape;789;p24"/>
            <p:cNvSpPr txBox="1"/>
            <p:nvPr/>
          </p:nvSpPr>
          <p:spPr>
            <a:xfrm>
              <a:off x="0" y="1952625"/>
              <a:ext cx="2762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94A3B8"/>
                  </a:solidFill>
                  <a:latin typeface="Inter"/>
                  <a:ea typeface="Inter"/>
                  <a:cs typeface="Inter"/>
                  <a:sym typeface="Inter"/>
                </a:rPr>
                <a:t>Box prompts are strong, but dataset difficulty changes the ranking.</a:t>
              </a:r>
              <a:endParaRPr b="0" sz="900">
                <a:solidFill>
                  <a:srgbClr val="94A3B8"/>
                </a:solidFill>
                <a:latin typeface="Inter"/>
                <a:ea typeface="Inter"/>
                <a:cs typeface="Inter"/>
                <a:sym typeface="Inter"/>
              </a:endParaRPr>
            </a:p>
          </p:txBody>
        </p:sp>
      </p:grpSp>
      <p:grpSp>
        <p:nvGrpSpPr>
          <p:cNvPr id="790" name="Google Shape;790;p24"/>
          <p:cNvGrpSpPr/>
          <p:nvPr/>
        </p:nvGrpSpPr>
        <p:grpSpPr>
          <a:xfrm>
            <a:off x="381000" y="4191000"/>
            <a:ext cx="8382000" cy="476400"/>
            <a:chOff x="0" y="0"/>
            <a:chExt cx="8382000" cy="476400"/>
          </a:xfrm>
        </p:grpSpPr>
        <p:sp>
          <p:nvSpPr>
            <p:cNvPr id="791" name="Google Shape;791;p24"/>
            <p:cNvSpPr/>
            <p:nvPr/>
          </p:nvSpPr>
          <p:spPr>
            <a:xfrm>
              <a:off x="0" y="0"/>
              <a:ext cx="8382000" cy="476400"/>
            </a:xfrm>
            <a:prstGeom prst="roundRect">
              <a:avLst>
                <a:gd fmla="val 12000" name="adj"/>
              </a:avLst>
            </a:prstGeom>
            <a:solidFill>
              <a:srgbClr val="1E293B"/>
            </a:solidFill>
            <a:ln cap="flat" cmpd="sng" w="9525">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2" name="Google Shape;792;p24"/>
            <p:cNvSpPr txBox="1"/>
            <p:nvPr/>
          </p:nvSpPr>
          <p:spPr>
            <a:xfrm>
              <a:off x="190500" y="0"/>
              <a:ext cx="8001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3F6FB"/>
                  </a:solidFill>
                  <a:latin typeface="Inter"/>
                  <a:ea typeface="Inter"/>
                  <a:cs typeface="Inter"/>
                  <a:sym typeface="Inter"/>
                </a:rPr>
                <a:t>High mIoU is promising, but robotic value also depends on robustness and speed.</a:t>
              </a:r>
              <a:endParaRPr b="1" sz="1100">
                <a:solidFill>
                  <a:srgbClr val="F3F6FB"/>
                </a:solidFill>
                <a:latin typeface="Inter"/>
                <a:ea typeface="Inter"/>
                <a:cs typeface="Inter"/>
                <a:sym typeface="Inter"/>
              </a:endParaRPr>
            </a:p>
          </p:txBody>
        </p:sp>
      </p:grpSp>
      <p:sp>
        <p:nvSpPr>
          <p:cNvPr id="793" name="Google Shape;793;p24"/>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Quantitative accuracy</a:t>
            </a:r>
            <a:endParaRPr b="0" i="0" sz="500" u="none" cap="none" strike="noStrike">
              <a:solidFill>
                <a:schemeClr val="dk1"/>
              </a:solidFill>
              <a:latin typeface="Inter"/>
              <a:ea typeface="Inter"/>
              <a:cs typeface="Inter"/>
              <a:sym typeface="Inter"/>
            </a:endParaRPr>
          </a:p>
        </p:txBody>
      </p:sp>
      <p:sp>
        <p:nvSpPr>
          <p:cNvPr id="794" name="Google Shape;794;p24"/>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Project figure: zero_shot_miou_heatmap.png</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9" name="Shape 799"/>
        <p:cNvGrpSpPr/>
        <p:nvPr/>
      </p:nvGrpSpPr>
      <p:grpSpPr>
        <a:xfrm>
          <a:off x="0" y="0"/>
          <a:ext cx="0" cy="0"/>
          <a:chOff x="0" y="0"/>
          <a:chExt cx="0" cy="0"/>
        </a:xfrm>
      </p:grpSpPr>
      <p:cxnSp>
        <p:nvCxnSpPr>
          <p:cNvPr id="800" name="Google Shape;800;p25"/>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1" name="Google Shape;801;p25"/>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2" name="Google Shape;802;p25"/>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3" name="Google Shape;803;p25"/>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4" name="Google Shape;804;p25"/>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5" name="Google Shape;805;p25"/>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6" name="Google Shape;806;p25"/>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7" name="Google Shape;807;p25"/>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8" name="Google Shape;808;p25"/>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09" name="Google Shape;809;p25"/>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0" name="Google Shape;810;p25"/>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1" name="Google Shape;811;p25"/>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2" name="Google Shape;812;p25"/>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3" name="Google Shape;813;p25"/>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4" name="Google Shape;814;p25"/>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5" name="Google Shape;815;p25"/>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6" name="Google Shape;816;p25"/>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7" name="Google Shape;817;p25"/>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8" name="Google Shape;818;p25"/>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19" name="Google Shape;819;p25"/>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0" name="Google Shape;820;p25"/>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1" name="Google Shape;821;p25"/>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2" name="Google Shape;822;p25"/>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3" name="Google Shape;823;p25"/>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4" name="Google Shape;824;p25"/>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5" name="Google Shape;825;p25"/>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6" name="Google Shape;826;p25"/>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7" name="Google Shape;827;p25"/>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8" name="Google Shape;828;p25"/>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29" name="Google Shape;829;p25"/>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0" name="Google Shape;830;p25"/>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1" name="Google Shape;831;p25"/>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2" name="Google Shape;832;p25"/>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3" name="Google Shape;833;p25"/>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4" name="Google Shape;834;p25"/>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5" name="Google Shape;835;p25"/>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6" name="Google Shape;836;p25"/>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7" name="Google Shape;837;p25"/>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8" name="Google Shape;838;p25"/>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39" name="Google Shape;839;p25"/>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40" name="Google Shape;840;p25"/>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41" name="Google Shape;841;p25"/>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842" name="Google Shape;842;p25"/>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
        <p:nvSpPr>
          <p:cNvPr id="843" name="Google Shape;843;p25"/>
          <p:cNvSpPr/>
          <p:nvPr/>
        </p:nvSpPr>
        <p:spPr>
          <a:xfrm>
            <a:off x="150880" y="150876"/>
            <a:ext cx="8842200" cy="4841700"/>
          </a:xfrm>
          <a:prstGeom prst="rect">
            <a:avLst/>
          </a:prstGeom>
          <a:solidFill>
            <a:srgbClr val="0B1220">
              <a:alpha val="0"/>
            </a:srgbClr>
          </a:solidFill>
          <a:ln cap="flat" cmpd="sng" w="9525">
            <a:solidFill>
              <a:srgbClr val="334155">
                <a:alpha val="45098"/>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nvGrpSpPr>
          <p:cNvPr id="844" name="Google Shape;844;p25"/>
          <p:cNvGrpSpPr/>
          <p:nvPr/>
        </p:nvGrpSpPr>
        <p:grpSpPr>
          <a:xfrm>
            <a:off x="381000" y="285750"/>
            <a:ext cx="8401050" cy="719213"/>
            <a:chOff x="0" y="0"/>
            <a:chExt cx="8401050" cy="719213"/>
          </a:xfrm>
        </p:grpSpPr>
        <p:sp>
          <p:nvSpPr>
            <p:cNvPr id="845" name="Google Shape;845;p25"/>
            <p:cNvSpPr txBox="1"/>
            <p:nvPr/>
          </p:nvSpPr>
          <p:spPr>
            <a:xfrm>
              <a:off x="0" y="0"/>
              <a:ext cx="8382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3F6FB"/>
                  </a:solidFill>
                  <a:latin typeface="Inter"/>
                  <a:ea typeface="Inter"/>
                  <a:cs typeface="Inter"/>
                  <a:sym typeface="Inter"/>
                </a:rPr>
                <a:t>The Latency Reality: Accuracy Is Not Enough</a:t>
              </a:r>
              <a:endParaRPr b="1" sz="2400">
                <a:solidFill>
                  <a:srgbClr val="F3F6FB"/>
                </a:solidFill>
                <a:latin typeface="Inter"/>
                <a:ea typeface="Inter"/>
                <a:cs typeface="Inter"/>
                <a:sym typeface="Inter"/>
              </a:endParaRPr>
            </a:p>
          </p:txBody>
        </p:sp>
        <p:sp>
          <p:nvSpPr>
            <p:cNvPr id="846" name="Google Shape;846;p25"/>
            <p:cNvSpPr txBox="1"/>
            <p:nvPr/>
          </p:nvSpPr>
          <p:spPr>
            <a:xfrm>
              <a:off x="19050" y="457200"/>
              <a:ext cx="8382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100">
                  <a:solidFill>
                    <a:srgbClr val="55B6FF"/>
                  </a:solidFill>
                  <a:latin typeface="Inter"/>
                  <a:ea typeface="Inter"/>
                  <a:cs typeface="Inter"/>
                  <a:sym typeface="Inter"/>
                </a:rPr>
                <a:t>Robotic deployment requires joint evaluation of mask quality and inference speed.</a:t>
              </a:r>
              <a:endParaRPr b="0" i="1" sz="1100">
                <a:solidFill>
                  <a:srgbClr val="55B6FF"/>
                </a:solidFill>
                <a:latin typeface="Inter"/>
                <a:ea typeface="Inter"/>
                <a:cs typeface="Inter"/>
                <a:sym typeface="Inter"/>
              </a:endParaRPr>
            </a:p>
          </p:txBody>
        </p:sp>
        <p:pic>
          <p:nvPicPr>
            <p:cNvPr id="847" name="Google Shape;847;p25"/>
            <p:cNvPicPr preferRelativeResize="0"/>
            <p:nvPr/>
          </p:nvPicPr>
          <p:blipFill rotWithShape="1">
            <a:blip r:embed="rId4">
              <a:alphaModFix/>
            </a:blip>
            <a:srcRect b="0" l="0" r="0" t="0"/>
            <a:stretch/>
          </p:blipFill>
          <p:spPr>
            <a:xfrm>
              <a:off x="0" y="709613"/>
              <a:ext cx="8382000" cy="9600"/>
            </a:xfrm>
            <a:prstGeom prst="rect">
              <a:avLst/>
            </a:prstGeom>
            <a:noFill/>
            <a:ln>
              <a:noFill/>
            </a:ln>
          </p:spPr>
        </p:pic>
      </p:grpSp>
      <p:grpSp>
        <p:nvGrpSpPr>
          <p:cNvPr id="848" name="Google Shape;848;p25"/>
          <p:cNvGrpSpPr/>
          <p:nvPr/>
        </p:nvGrpSpPr>
        <p:grpSpPr>
          <a:xfrm>
            <a:off x="381000" y="1143000"/>
            <a:ext cx="6096000" cy="3334425"/>
            <a:chOff x="0" y="0"/>
            <a:chExt cx="6096000" cy="3334425"/>
          </a:xfrm>
        </p:grpSpPr>
        <p:sp>
          <p:nvSpPr>
            <p:cNvPr id="849" name="Google Shape;849;p25"/>
            <p:cNvSpPr/>
            <p:nvPr/>
          </p:nvSpPr>
          <p:spPr>
            <a:xfrm>
              <a:off x="0" y="0"/>
              <a:ext cx="6096000" cy="3238500"/>
            </a:xfrm>
            <a:prstGeom prst="roundRect">
              <a:avLst>
                <a:gd fmla="val 2352" name="adj"/>
              </a:avLst>
            </a:prstGeom>
            <a:solidFill>
              <a:srgbClr val="111827"/>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50" name="Google Shape;850;p25"/>
            <p:cNvPicPr preferRelativeResize="0"/>
            <p:nvPr/>
          </p:nvPicPr>
          <p:blipFill rotWithShape="1">
            <a:blip r:embed="rId5">
              <a:alphaModFix/>
            </a:blip>
            <a:srcRect b="3014" l="0" r="0" t="1311"/>
            <a:stretch/>
          </p:blipFill>
          <p:spPr>
            <a:xfrm>
              <a:off x="288750" y="19125"/>
              <a:ext cx="5670900" cy="3315300"/>
            </a:xfrm>
            <a:prstGeom prst="rect">
              <a:avLst/>
            </a:prstGeom>
            <a:noFill/>
            <a:ln>
              <a:noFill/>
            </a:ln>
          </p:spPr>
        </p:pic>
        <p:pic>
          <p:nvPicPr>
            <p:cNvPr id="851" name="Google Shape;851;p25"/>
            <p:cNvPicPr preferRelativeResize="0"/>
            <p:nvPr/>
          </p:nvPicPr>
          <p:blipFill rotWithShape="1">
            <a:blip r:embed="rId6">
              <a:alphaModFix/>
            </a:blip>
            <a:srcRect b="0" l="0" r="0" t="0"/>
            <a:stretch/>
          </p:blipFill>
          <p:spPr>
            <a:xfrm>
              <a:off x="4072025" y="185688"/>
              <a:ext cx="1724100" cy="771600"/>
            </a:xfrm>
            <a:prstGeom prst="rect">
              <a:avLst/>
            </a:prstGeom>
            <a:noFill/>
            <a:ln>
              <a:noFill/>
            </a:ln>
          </p:spPr>
        </p:pic>
        <p:sp>
          <p:nvSpPr>
            <p:cNvPr id="852" name="Google Shape;852;p25"/>
            <p:cNvSpPr txBox="1"/>
            <p:nvPr/>
          </p:nvSpPr>
          <p:spPr>
            <a:xfrm>
              <a:off x="4124550" y="228600"/>
              <a:ext cx="16191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4ADE80"/>
                  </a:solidFill>
                  <a:latin typeface="Inter"/>
                  <a:ea typeface="Inter"/>
                  <a:cs typeface="Inter"/>
                  <a:sym typeface="Inter"/>
                </a:rPr>
                <a:t>robotically attractive</a:t>
              </a:r>
              <a:endParaRPr b="1" sz="700">
                <a:solidFill>
                  <a:srgbClr val="4ADE80"/>
                </a:solidFill>
                <a:latin typeface="Inter"/>
                <a:ea typeface="Inter"/>
                <a:cs typeface="Inter"/>
                <a:sym typeface="Inter"/>
              </a:endParaRPr>
            </a:p>
          </p:txBody>
        </p:sp>
        <p:pic>
          <p:nvPicPr>
            <p:cNvPr id="853" name="Google Shape;853;p25"/>
            <p:cNvPicPr preferRelativeResize="0"/>
            <p:nvPr/>
          </p:nvPicPr>
          <p:blipFill rotWithShape="1">
            <a:blip r:embed="rId7">
              <a:alphaModFix/>
            </a:blip>
            <a:srcRect b="0" l="0" r="0" t="0"/>
            <a:stretch/>
          </p:blipFill>
          <p:spPr>
            <a:xfrm>
              <a:off x="4133850" y="190500"/>
              <a:ext cx="19200" cy="2809800"/>
            </a:xfrm>
            <a:prstGeom prst="rect">
              <a:avLst/>
            </a:prstGeom>
            <a:noFill/>
            <a:ln>
              <a:noFill/>
            </a:ln>
          </p:spPr>
        </p:pic>
        <p:sp>
          <p:nvSpPr>
            <p:cNvPr id="854" name="Google Shape;854;p25"/>
            <p:cNvSpPr txBox="1"/>
            <p:nvPr/>
          </p:nvSpPr>
          <p:spPr>
            <a:xfrm>
              <a:off x="3619500" y="2762250"/>
              <a:ext cx="476400" cy="285900"/>
            </a:xfrm>
            <a:prstGeom prst="rect">
              <a:avLst/>
            </a:prstGeom>
            <a:noFill/>
            <a:ln>
              <a:noFill/>
            </a:ln>
          </p:spPr>
          <p:txBody>
            <a:bodyPr anchorCtr="0" anchor="b" bIns="0" lIns="0" spcFirstLastPara="1" rIns="47625" wrap="square" tIns="0">
              <a:noAutofit/>
            </a:bodyPr>
            <a:lstStyle/>
            <a:p>
              <a:pPr indent="0" lvl="0" marL="0" rtl="0" algn="r">
                <a:spcBef>
                  <a:spcPts val="0"/>
                </a:spcBef>
                <a:spcAft>
                  <a:spcPts val="0"/>
                </a:spcAft>
                <a:buNone/>
              </a:pPr>
              <a:r>
                <a:rPr b="1" lang="en" sz="700">
                  <a:solidFill>
                    <a:srgbClr val="F3F6FB"/>
                  </a:solidFill>
                  <a:latin typeface="Inter"/>
                  <a:ea typeface="Inter"/>
                  <a:cs typeface="Inter"/>
                  <a:sym typeface="Inter"/>
                </a:rPr>
                <a:t>30 FPS</a:t>
              </a:r>
              <a:endParaRPr b="1" sz="700">
                <a:solidFill>
                  <a:srgbClr val="F3F6FB"/>
                </a:solidFill>
                <a:latin typeface="Inter"/>
                <a:ea typeface="Inter"/>
                <a:cs typeface="Inter"/>
                <a:sym typeface="Inter"/>
              </a:endParaRPr>
            </a:p>
          </p:txBody>
        </p:sp>
        <p:sp>
          <p:nvSpPr>
            <p:cNvPr id="855" name="Google Shape;855;p25"/>
            <p:cNvSpPr txBox="1"/>
            <p:nvPr/>
          </p:nvSpPr>
          <p:spPr>
            <a:xfrm>
              <a:off x="4191000" y="2762250"/>
              <a:ext cx="762000" cy="285900"/>
            </a:xfrm>
            <a:prstGeom prst="rect">
              <a:avLst/>
            </a:prstGeom>
            <a:noFill/>
            <a:ln>
              <a:noFill/>
            </a:ln>
          </p:spPr>
          <p:txBody>
            <a:bodyPr anchorCtr="0" anchor="b" bIns="0" lIns="47625" spcFirstLastPara="1" rIns="0" wrap="square" tIns="0">
              <a:noAutofit/>
            </a:bodyPr>
            <a:lstStyle/>
            <a:p>
              <a:pPr indent="0" lvl="0" marL="0" rtl="0" algn="l">
                <a:spcBef>
                  <a:spcPts val="0"/>
                </a:spcBef>
                <a:spcAft>
                  <a:spcPts val="0"/>
                </a:spcAft>
                <a:buNone/>
              </a:pPr>
              <a:r>
                <a:rPr b="1" lang="en" sz="700">
                  <a:solidFill>
                    <a:srgbClr val="4ADE80"/>
                  </a:solidFill>
                  <a:latin typeface="Inter"/>
                  <a:ea typeface="Inter"/>
                  <a:cs typeface="Inter"/>
                  <a:sym typeface="Inter"/>
                </a:rPr>
                <a:t>real-time region</a:t>
              </a:r>
              <a:endParaRPr b="1" sz="700">
                <a:solidFill>
                  <a:srgbClr val="4ADE80"/>
                </a:solidFill>
                <a:latin typeface="Inter"/>
                <a:ea typeface="Inter"/>
                <a:cs typeface="Inter"/>
                <a:sym typeface="Inter"/>
              </a:endParaRPr>
            </a:p>
          </p:txBody>
        </p:sp>
        <p:grpSp>
          <p:nvGrpSpPr>
            <p:cNvPr id="856" name="Google Shape;856;p25"/>
            <p:cNvGrpSpPr/>
            <p:nvPr/>
          </p:nvGrpSpPr>
          <p:grpSpPr>
            <a:xfrm>
              <a:off x="342900" y="533400"/>
              <a:ext cx="5029200" cy="704850"/>
              <a:chOff x="342900" y="533400"/>
              <a:chExt cx="5029200" cy="704850"/>
            </a:xfrm>
          </p:grpSpPr>
          <p:cxnSp>
            <p:nvCxnSpPr>
              <p:cNvPr id="857" name="Google Shape;857;p25"/>
              <p:cNvCxnSpPr/>
              <p:nvPr/>
            </p:nvCxnSpPr>
            <p:spPr>
              <a:xfrm>
                <a:off x="381000" y="571500"/>
                <a:ext cx="285900" cy="285900"/>
              </a:xfrm>
              <a:prstGeom prst="straightConnector1">
                <a:avLst/>
              </a:prstGeom>
              <a:solidFill>
                <a:srgbClr val="FFFFFF"/>
              </a:solidFill>
              <a:ln cap="flat" cmpd="sng" w="9525">
                <a:solidFill>
                  <a:srgbClr val="F87171"/>
                </a:solidFill>
                <a:prstDash val="solid"/>
                <a:round/>
                <a:headEnd len="sm" w="sm" type="none"/>
                <a:tailEnd len="sm" w="sm" type="none"/>
              </a:ln>
            </p:spPr>
          </p:cxnSp>
          <p:sp>
            <p:nvSpPr>
              <p:cNvPr id="858" name="Google Shape;858;p25"/>
              <p:cNvSpPr/>
              <p:nvPr/>
            </p:nvSpPr>
            <p:spPr>
              <a:xfrm>
                <a:off x="342900" y="533400"/>
                <a:ext cx="76200" cy="76200"/>
              </a:xfrm>
              <a:prstGeom prst="ellipse">
                <a:avLst/>
              </a:prstGeom>
              <a:solidFill>
                <a:srgbClr val="F8717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59" name="Google Shape;859;p25"/>
              <p:cNvCxnSpPr/>
              <p:nvPr/>
            </p:nvCxnSpPr>
            <p:spPr>
              <a:xfrm flipH="1">
                <a:off x="4953000" y="762000"/>
                <a:ext cx="381000" cy="381000"/>
              </a:xfrm>
              <a:prstGeom prst="straightConnector1">
                <a:avLst/>
              </a:prstGeom>
              <a:solidFill>
                <a:srgbClr val="FFFFFF"/>
              </a:solidFill>
              <a:ln cap="flat" cmpd="sng" w="9525">
                <a:solidFill>
                  <a:srgbClr val="4ADE80"/>
                </a:solidFill>
                <a:prstDash val="solid"/>
                <a:round/>
                <a:headEnd len="sm" w="sm" type="none"/>
                <a:tailEnd len="sm" w="sm" type="none"/>
              </a:ln>
            </p:spPr>
          </p:cxnSp>
          <p:sp>
            <p:nvSpPr>
              <p:cNvPr id="860" name="Google Shape;860;p25"/>
              <p:cNvSpPr/>
              <p:nvPr/>
            </p:nvSpPr>
            <p:spPr>
              <a:xfrm>
                <a:off x="5295900" y="723900"/>
                <a:ext cx="76200" cy="76200"/>
              </a:xfrm>
              <a:prstGeom prst="ellipse">
                <a:avLst/>
              </a:prstGeom>
              <a:solidFill>
                <a:srgbClr val="4ADE8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61" name="Google Shape;861;p25"/>
              <p:cNvCxnSpPr/>
              <p:nvPr/>
            </p:nvCxnSpPr>
            <p:spPr>
              <a:xfrm flipH="1">
                <a:off x="4762350" y="857250"/>
                <a:ext cx="285900" cy="381000"/>
              </a:xfrm>
              <a:prstGeom prst="straightConnector1">
                <a:avLst/>
              </a:prstGeom>
              <a:solidFill>
                <a:srgbClr val="FFFFFF"/>
              </a:solidFill>
              <a:ln cap="flat" cmpd="sng" w="9525">
                <a:solidFill>
                  <a:srgbClr val="4FD1C5"/>
                </a:solidFill>
                <a:prstDash val="solid"/>
                <a:round/>
                <a:headEnd len="sm" w="sm" type="none"/>
                <a:tailEnd len="sm" w="sm" type="none"/>
              </a:ln>
            </p:spPr>
          </p:cxnSp>
          <p:sp>
            <p:nvSpPr>
              <p:cNvPr id="862" name="Google Shape;862;p25"/>
              <p:cNvSpPr/>
              <p:nvPr/>
            </p:nvSpPr>
            <p:spPr>
              <a:xfrm>
                <a:off x="5010150" y="819150"/>
                <a:ext cx="76200" cy="76200"/>
              </a:xfrm>
              <a:prstGeom prst="ellipse">
                <a:avLst/>
              </a:prstGeom>
              <a:solidFill>
                <a:srgbClr val="4FD1C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863" name="Google Shape;863;p25"/>
          <p:cNvGrpSpPr/>
          <p:nvPr/>
        </p:nvGrpSpPr>
        <p:grpSpPr>
          <a:xfrm>
            <a:off x="6667500" y="1143000"/>
            <a:ext cx="2095500" cy="2809950"/>
            <a:chOff x="0" y="0"/>
            <a:chExt cx="2095500" cy="2809950"/>
          </a:xfrm>
        </p:grpSpPr>
        <p:grpSp>
          <p:nvGrpSpPr>
            <p:cNvPr id="864" name="Google Shape;864;p25"/>
            <p:cNvGrpSpPr/>
            <p:nvPr/>
          </p:nvGrpSpPr>
          <p:grpSpPr>
            <a:xfrm>
              <a:off x="0" y="0"/>
              <a:ext cx="2095500" cy="809700"/>
              <a:chOff x="0" y="0"/>
              <a:chExt cx="2095500" cy="809700"/>
            </a:xfrm>
          </p:grpSpPr>
          <p:sp>
            <p:nvSpPr>
              <p:cNvPr id="865" name="Google Shape;865;p25"/>
              <p:cNvSpPr/>
              <p:nvPr/>
            </p:nvSpPr>
            <p:spPr>
              <a:xfrm>
                <a:off x="0" y="0"/>
                <a:ext cx="2095500" cy="809700"/>
              </a:xfrm>
              <a:prstGeom prst="roundRect">
                <a:avLst>
                  <a:gd fmla="val 7058" name="adj"/>
                </a:avLst>
              </a:prstGeom>
              <a:solidFill>
                <a:srgbClr val="111827"/>
              </a:solidFill>
              <a:ln cap="flat" cmpd="sng" w="9525">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6" name="Google Shape;866;p25"/>
              <p:cNvSpPr txBox="1"/>
              <p:nvPr/>
            </p:nvSpPr>
            <p:spPr>
              <a:xfrm>
                <a:off x="0" y="0"/>
                <a:ext cx="2095500" cy="809700"/>
              </a:xfrm>
              <a:prstGeom prst="rect">
                <a:avLst/>
              </a:prstGeom>
              <a:noFill/>
              <a:ln>
                <a:noFill/>
              </a:ln>
            </p:spPr>
            <p:txBody>
              <a:bodyPr anchorCtr="0" anchor="ctr" bIns="114300" lIns="114300" spcFirstLastPara="1" rIns="114300" wrap="square" tIns="114300">
                <a:noAutofit/>
              </a:bodyPr>
              <a:lstStyle/>
              <a:p>
                <a:pPr indent="0" lvl="0" marL="0" rtl="0" algn="l">
                  <a:spcBef>
                    <a:spcPts val="0"/>
                  </a:spcBef>
                  <a:spcAft>
                    <a:spcPts val="0"/>
                  </a:spcAft>
                  <a:buNone/>
                </a:pPr>
                <a:r>
                  <a:rPr b="1" lang="en" sz="1600">
                    <a:solidFill>
                      <a:srgbClr val="F87171"/>
                    </a:solidFill>
                    <a:latin typeface="Inter"/>
                    <a:ea typeface="Inter"/>
                    <a:cs typeface="Inter"/>
                    <a:sym typeface="Inter"/>
                  </a:rPr>
                  <a:t>0.574 FPS</a:t>
                </a:r>
                <a:endParaRPr b="1" sz="1600">
                  <a:solidFill>
                    <a:srgbClr val="F87171"/>
                  </a:solidFill>
                  <a:latin typeface="Inter"/>
                  <a:ea typeface="Inter"/>
                  <a:cs typeface="Inter"/>
                  <a:sym typeface="Inter"/>
                </a:endParaRPr>
              </a:p>
              <a:p>
                <a:pPr indent="0" lvl="0" marL="0" rtl="0" algn="l">
                  <a:spcBef>
                    <a:spcPts val="150"/>
                  </a:spcBef>
                  <a:spcAft>
                    <a:spcPts val="0"/>
                  </a:spcAft>
                  <a:buNone/>
                </a:pPr>
                <a:r>
                  <a:rPr b="1" lang="en" sz="1000">
                    <a:solidFill>
                      <a:srgbClr val="F3F6FB"/>
                    </a:solidFill>
                    <a:latin typeface="Inter"/>
                    <a:ea typeface="Inter"/>
                    <a:cs typeface="Inter"/>
                    <a:sym typeface="Inter"/>
                  </a:rPr>
                  <a:t>SAM ViT-H box</a:t>
                </a:r>
                <a:endParaRPr b="1" sz="1000">
                  <a:solidFill>
                    <a:srgbClr val="F3F6FB"/>
                  </a:solidFill>
                  <a:latin typeface="Inter"/>
                  <a:ea typeface="Inter"/>
                  <a:cs typeface="Inter"/>
                  <a:sym typeface="Inter"/>
                </a:endParaRPr>
              </a:p>
              <a:p>
                <a:pPr indent="0" lvl="0" marL="0" rtl="0" algn="l">
                  <a:spcBef>
                    <a:spcPts val="150"/>
                  </a:spcBef>
                  <a:spcAft>
                    <a:spcPts val="0"/>
                  </a:spcAft>
                  <a:buNone/>
                </a:pPr>
                <a:r>
                  <a:rPr b="0" lang="en" sz="900">
                    <a:solidFill>
                      <a:srgbClr val="94A3B8"/>
                    </a:solidFill>
                    <a:latin typeface="Inter"/>
                    <a:ea typeface="Inter"/>
                    <a:cs typeface="Inter"/>
                    <a:sym typeface="Inter"/>
                  </a:rPr>
                  <a:t>High fidelity, poor latency</a:t>
                </a:r>
                <a:endParaRPr b="0" sz="900">
                  <a:solidFill>
                    <a:srgbClr val="94A3B8"/>
                  </a:solidFill>
                  <a:latin typeface="Inter"/>
                  <a:ea typeface="Inter"/>
                  <a:cs typeface="Inter"/>
                  <a:sym typeface="Inter"/>
                </a:endParaRPr>
              </a:p>
            </p:txBody>
          </p:sp>
        </p:grpSp>
        <p:grpSp>
          <p:nvGrpSpPr>
            <p:cNvPr id="867" name="Google Shape;867;p25"/>
            <p:cNvGrpSpPr/>
            <p:nvPr/>
          </p:nvGrpSpPr>
          <p:grpSpPr>
            <a:xfrm>
              <a:off x="0" y="1000125"/>
              <a:ext cx="2095500" cy="809700"/>
              <a:chOff x="0" y="0"/>
              <a:chExt cx="2095500" cy="809700"/>
            </a:xfrm>
          </p:grpSpPr>
          <p:sp>
            <p:nvSpPr>
              <p:cNvPr id="868" name="Google Shape;868;p25"/>
              <p:cNvSpPr/>
              <p:nvPr/>
            </p:nvSpPr>
            <p:spPr>
              <a:xfrm>
                <a:off x="0" y="0"/>
                <a:ext cx="2095500" cy="809700"/>
              </a:xfrm>
              <a:prstGeom prst="roundRect">
                <a:avLst>
                  <a:gd fmla="val 7058" name="adj"/>
                </a:avLst>
              </a:prstGeom>
              <a:solidFill>
                <a:srgbClr val="111827"/>
              </a:solidFill>
              <a:ln cap="flat" cmpd="sng" w="9525">
                <a:solidFill>
                  <a:srgbClr val="4ADE8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9" name="Google Shape;869;p25"/>
              <p:cNvSpPr txBox="1"/>
              <p:nvPr/>
            </p:nvSpPr>
            <p:spPr>
              <a:xfrm>
                <a:off x="0" y="0"/>
                <a:ext cx="2095500" cy="809700"/>
              </a:xfrm>
              <a:prstGeom prst="rect">
                <a:avLst/>
              </a:prstGeom>
              <a:noFill/>
              <a:ln>
                <a:noFill/>
              </a:ln>
            </p:spPr>
            <p:txBody>
              <a:bodyPr anchorCtr="0" anchor="ctr" bIns="114300" lIns="114300" spcFirstLastPara="1" rIns="114300" wrap="square" tIns="114300">
                <a:noAutofit/>
              </a:bodyPr>
              <a:lstStyle/>
              <a:p>
                <a:pPr indent="0" lvl="0" marL="0" rtl="0" algn="l">
                  <a:spcBef>
                    <a:spcPts val="0"/>
                  </a:spcBef>
                  <a:spcAft>
                    <a:spcPts val="0"/>
                  </a:spcAft>
                  <a:buNone/>
                </a:pPr>
                <a:r>
                  <a:rPr b="1" lang="en" sz="1600">
                    <a:solidFill>
                      <a:srgbClr val="4ADE80"/>
                    </a:solidFill>
                    <a:latin typeface="Inter"/>
                    <a:ea typeface="Inter"/>
                    <a:cs typeface="Inter"/>
                    <a:sym typeface="Inter"/>
                  </a:rPr>
                  <a:t>41.647 FPS</a:t>
                </a:r>
                <a:endParaRPr b="1" sz="1600">
                  <a:solidFill>
                    <a:srgbClr val="4ADE80"/>
                  </a:solidFill>
                  <a:latin typeface="Inter"/>
                  <a:ea typeface="Inter"/>
                  <a:cs typeface="Inter"/>
                  <a:sym typeface="Inter"/>
                </a:endParaRPr>
              </a:p>
              <a:p>
                <a:pPr indent="0" lvl="0" marL="0" rtl="0" algn="l">
                  <a:spcBef>
                    <a:spcPts val="150"/>
                  </a:spcBef>
                  <a:spcAft>
                    <a:spcPts val="0"/>
                  </a:spcAft>
                  <a:buNone/>
                </a:pPr>
                <a:r>
                  <a:rPr b="1" lang="en" sz="1000">
                    <a:solidFill>
                      <a:srgbClr val="F3F6FB"/>
                    </a:solidFill>
                    <a:latin typeface="Inter"/>
                    <a:ea typeface="Inter"/>
                    <a:cs typeface="Inter"/>
                    <a:sym typeface="Inter"/>
                  </a:rPr>
                  <a:t>YOLOv8-seg</a:t>
                </a:r>
                <a:endParaRPr b="1" sz="1000">
                  <a:solidFill>
                    <a:srgbClr val="F3F6FB"/>
                  </a:solidFill>
                  <a:latin typeface="Inter"/>
                  <a:ea typeface="Inter"/>
                  <a:cs typeface="Inter"/>
                  <a:sym typeface="Inter"/>
                </a:endParaRPr>
              </a:p>
              <a:p>
                <a:pPr indent="0" lvl="0" marL="0" rtl="0" algn="l">
                  <a:spcBef>
                    <a:spcPts val="150"/>
                  </a:spcBef>
                  <a:spcAft>
                    <a:spcPts val="0"/>
                  </a:spcAft>
                  <a:buNone/>
                </a:pPr>
                <a:r>
                  <a:rPr b="0" lang="en" sz="900">
                    <a:solidFill>
                      <a:srgbClr val="94A3B8"/>
                    </a:solidFill>
                    <a:latin typeface="Inter"/>
                    <a:ea typeface="Inter"/>
                    <a:cs typeface="Inter"/>
                    <a:sym typeface="Inter"/>
                  </a:rPr>
                  <a:t>Real-time capable</a:t>
                </a:r>
                <a:endParaRPr b="0" sz="900">
                  <a:solidFill>
                    <a:srgbClr val="94A3B8"/>
                  </a:solidFill>
                  <a:latin typeface="Inter"/>
                  <a:ea typeface="Inter"/>
                  <a:cs typeface="Inter"/>
                  <a:sym typeface="Inter"/>
                </a:endParaRPr>
              </a:p>
            </p:txBody>
          </p:sp>
        </p:grpSp>
        <p:grpSp>
          <p:nvGrpSpPr>
            <p:cNvPr id="870" name="Google Shape;870;p25"/>
            <p:cNvGrpSpPr/>
            <p:nvPr/>
          </p:nvGrpSpPr>
          <p:grpSpPr>
            <a:xfrm>
              <a:off x="0" y="2000250"/>
              <a:ext cx="2095500" cy="809700"/>
              <a:chOff x="0" y="0"/>
              <a:chExt cx="2095500" cy="809700"/>
            </a:xfrm>
          </p:grpSpPr>
          <p:sp>
            <p:nvSpPr>
              <p:cNvPr id="871" name="Google Shape;871;p25"/>
              <p:cNvSpPr/>
              <p:nvPr/>
            </p:nvSpPr>
            <p:spPr>
              <a:xfrm>
                <a:off x="0" y="0"/>
                <a:ext cx="2095500" cy="809700"/>
              </a:xfrm>
              <a:prstGeom prst="roundRect">
                <a:avLst>
                  <a:gd fmla="val 7058" name="adj"/>
                </a:avLst>
              </a:prstGeom>
              <a:solidFill>
                <a:srgbClr val="111827"/>
              </a:solidFill>
              <a:ln cap="flat" cmpd="sng" w="9525">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2" name="Google Shape;872;p25"/>
              <p:cNvSpPr txBox="1"/>
              <p:nvPr/>
            </p:nvSpPr>
            <p:spPr>
              <a:xfrm>
                <a:off x="0" y="0"/>
                <a:ext cx="2095500" cy="809700"/>
              </a:xfrm>
              <a:prstGeom prst="rect">
                <a:avLst/>
              </a:prstGeom>
              <a:noFill/>
              <a:ln>
                <a:noFill/>
              </a:ln>
            </p:spPr>
            <p:txBody>
              <a:bodyPr anchorCtr="0" anchor="ctr" bIns="114300" lIns="114300" spcFirstLastPara="1" rIns="114300" wrap="square" tIns="114300">
                <a:noAutofit/>
              </a:bodyPr>
              <a:lstStyle/>
              <a:p>
                <a:pPr indent="0" lvl="0" marL="0" rtl="0" algn="l">
                  <a:spcBef>
                    <a:spcPts val="0"/>
                  </a:spcBef>
                  <a:spcAft>
                    <a:spcPts val="0"/>
                  </a:spcAft>
                  <a:buNone/>
                </a:pPr>
                <a:r>
                  <a:rPr b="1" lang="en" sz="1600">
                    <a:solidFill>
                      <a:srgbClr val="4FD1C5"/>
                    </a:solidFill>
                    <a:latin typeface="Inter"/>
                    <a:ea typeface="Inter"/>
                    <a:cs typeface="Inter"/>
                    <a:sym typeface="Inter"/>
                  </a:rPr>
                  <a:t>37.811 FPS</a:t>
                </a:r>
                <a:endParaRPr b="1" sz="1600">
                  <a:solidFill>
                    <a:srgbClr val="4FD1C5"/>
                  </a:solidFill>
                  <a:latin typeface="Inter"/>
                  <a:ea typeface="Inter"/>
                  <a:cs typeface="Inter"/>
                  <a:sym typeface="Inter"/>
                </a:endParaRPr>
              </a:p>
              <a:p>
                <a:pPr indent="0" lvl="0" marL="0" rtl="0" algn="l">
                  <a:spcBef>
                    <a:spcPts val="150"/>
                  </a:spcBef>
                  <a:spcAft>
                    <a:spcPts val="0"/>
                  </a:spcAft>
                  <a:buNone/>
                </a:pPr>
                <a:r>
                  <a:rPr b="1" lang="en" sz="1000">
                    <a:solidFill>
                      <a:srgbClr val="F3F6FB"/>
                    </a:solidFill>
                    <a:latin typeface="Inter"/>
                    <a:ea typeface="Inter"/>
                    <a:cs typeface="Inter"/>
                    <a:sym typeface="Inter"/>
                  </a:rPr>
                  <a:t>DeepLabV3+ on OCID</a:t>
                </a:r>
                <a:endParaRPr b="1" sz="1000">
                  <a:solidFill>
                    <a:srgbClr val="F3F6FB"/>
                  </a:solidFill>
                  <a:latin typeface="Inter"/>
                  <a:ea typeface="Inter"/>
                  <a:cs typeface="Inter"/>
                  <a:sym typeface="Inter"/>
                </a:endParaRPr>
              </a:p>
              <a:p>
                <a:pPr indent="0" lvl="0" marL="0" rtl="0" algn="l">
                  <a:spcBef>
                    <a:spcPts val="150"/>
                  </a:spcBef>
                  <a:spcAft>
                    <a:spcPts val="0"/>
                  </a:spcAft>
                  <a:buNone/>
                </a:pPr>
                <a:r>
                  <a:rPr b="0" lang="en" sz="900">
                    <a:solidFill>
                      <a:srgbClr val="94A3B8"/>
                    </a:solidFill>
                    <a:latin typeface="Inter"/>
                    <a:ea typeface="Inter"/>
                    <a:cs typeface="Inter"/>
                    <a:sym typeface="Inter"/>
                  </a:rPr>
                  <a:t>Fast supervised baseline</a:t>
                </a:r>
                <a:endParaRPr b="0" sz="900">
                  <a:solidFill>
                    <a:srgbClr val="94A3B8"/>
                  </a:solidFill>
                  <a:latin typeface="Inter"/>
                  <a:ea typeface="Inter"/>
                  <a:cs typeface="Inter"/>
                  <a:sym typeface="Inter"/>
                </a:endParaRPr>
              </a:p>
            </p:txBody>
          </p:sp>
        </p:grpSp>
      </p:grpSp>
      <p:grpSp>
        <p:nvGrpSpPr>
          <p:cNvPr id="873" name="Google Shape;873;p25"/>
          <p:cNvGrpSpPr/>
          <p:nvPr/>
        </p:nvGrpSpPr>
        <p:grpSpPr>
          <a:xfrm>
            <a:off x="381000" y="4524375"/>
            <a:ext cx="8382000" cy="428700"/>
            <a:chOff x="0" y="0"/>
            <a:chExt cx="8382000" cy="428700"/>
          </a:xfrm>
        </p:grpSpPr>
        <p:sp>
          <p:nvSpPr>
            <p:cNvPr id="874" name="Google Shape;874;p25"/>
            <p:cNvSpPr/>
            <p:nvPr/>
          </p:nvSpPr>
          <p:spPr>
            <a:xfrm>
              <a:off x="0" y="0"/>
              <a:ext cx="8382000" cy="428700"/>
            </a:xfrm>
            <a:prstGeom prst="roundRect">
              <a:avLst>
                <a:gd fmla="val 13333" name="adj"/>
              </a:avLst>
            </a:prstGeom>
            <a:solidFill>
              <a:srgbClr val="3A2215"/>
            </a:solidFill>
            <a:ln cap="flat" cmpd="sng" w="9525">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5" name="Google Shape;875;p25"/>
            <p:cNvSpPr txBox="1"/>
            <p:nvPr/>
          </p:nvSpPr>
          <p:spPr>
            <a:xfrm>
              <a:off x="0" y="0"/>
              <a:ext cx="8382000" cy="428700"/>
            </a:xfrm>
            <a:prstGeom prst="rect">
              <a:avLst/>
            </a:prstGeom>
            <a:noFill/>
            <a:ln>
              <a:noFill/>
            </a:ln>
          </p:spPr>
          <p:txBody>
            <a:bodyPr anchorCtr="0" anchor="ctr" bIns="0" lIns="190500" spcFirstLastPara="1" rIns="190500" wrap="square" tIns="0">
              <a:noAutofit/>
            </a:bodyPr>
            <a:lstStyle/>
            <a:p>
              <a:pPr indent="0" lvl="0" marL="0" rtl="0" algn="ctr">
                <a:spcBef>
                  <a:spcPts val="0"/>
                </a:spcBef>
                <a:spcAft>
                  <a:spcPts val="0"/>
                </a:spcAft>
                <a:buNone/>
              </a:pPr>
              <a:r>
                <a:rPr b="1" lang="en" sz="1100">
                  <a:solidFill>
                    <a:srgbClr val="F3F6FB"/>
                  </a:solidFill>
                  <a:latin typeface="Inter"/>
                  <a:ea typeface="Inter"/>
                  <a:cs typeface="Inter"/>
                  <a:sym typeface="Inter"/>
                </a:rPr>
                <a:t>A high-quality mask is not robotically useful if it arrives too late for the perception-action loop.</a:t>
              </a:r>
              <a:endParaRPr b="1" sz="1100">
                <a:solidFill>
                  <a:srgbClr val="F3F6FB"/>
                </a:solidFill>
                <a:latin typeface="Inter"/>
                <a:ea typeface="Inter"/>
                <a:cs typeface="Inter"/>
                <a:sym typeface="Inter"/>
              </a:endParaRPr>
            </a:p>
          </p:txBody>
        </p:sp>
      </p:grpSp>
      <p:sp>
        <p:nvSpPr>
          <p:cNvPr id="876" name="Google Shape;876;p25"/>
          <p:cNvSpPr/>
          <p:nvPr/>
        </p:nvSpPr>
        <p:spPr>
          <a:xfrm>
            <a:off x="308618" y="4903470"/>
            <a:ext cx="3771900" cy="10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Speed-quality trade-off</a:t>
            </a:r>
            <a:endParaRPr b="0" i="0" sz="500" u="none" cap="none" strike="noStrike">
              <a:solidFill>
                <a:schemeClr val="dk1"/>
              </a:solidFill>
              <a:latin typeface="Inter"/>
              <a:ea typeface="Inter"/>
              <a:cs typeface="Inter"/>
              <a:sym typeface="Inter"/>
            </a:endParaRPr>
          </a:p>
        </p:txBody>
      </p:sp>
      <p:sp>
        <p:nvSpPr>
          <p:cNvPr id="877" name="Google Shape;877;p25"/>
          <p:cNvSpPr/>
          <p:nvPr/>
        </p:nvSpPr>
        <p:spPr>
          <a:xfrm>
            <a:off x="4594982" y="4903470"/>
            <a:ext cx="4114800" cy="109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500"/>
              <a:buFont typeface="Inter"/>
              <a:buNone/>
            </a:pPr>
            <a:r>
              <a:rPr b="0" i="0" lang="en" sz="500" u="none" cap="none" strike="noStrike">
                <a:solidFill>
                  <a:srgbClr val="94A3B8"/>
                </a:solidFill>
                <a:latin typeface="Inter"/>
                <a:ea typeface="Inter"/>
                <a:cs typeface="Inter"/>
                <a:sym typeface="Inter"/>
              </a:rPr>
              <a:t>Project figure: cuda_speed_quality_scatter.png</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1" name="Shape 881"/>
        <p:cNvGrpSpPr/>
        <p:nvPr/>
      </p:nvGrpSpPr>
      <p:grpSpPr>
        <a:xfrm>
          <a:off x="0" y="0"/>
          <a:ext cx="0" cy="0"/>
          <a:chOff x="0" y="0"/>
          <a:chExt cx="0" cy="0"/>
        </a:xfrm>
      </p:grpSpPr>
      <p:pic>
        <p:nvPicPr>
          <p:cNvPr id="882" name="Google Shape;882;p26"/>
          <p:cNvPicPr preferRelativeResize="0"/>
          <p:nvPr/>
        </p:nvPicPr>
        <p:blipFill rotWithShape="1">
          <a:blip r:embed="rId4">
            <a:alphaModFix/>
          </a:blip>
          <a:srcRect b="0" l="0" r="0" t="0"/>
          <a:stretch/>
        </p:blipFill>
        <p:spPr>
          <a:xfrm>
            <a:off x="0" y="0"/>
            <a:ext cx="9144000" cy="5143500"/>
          </a:xfrm>
          <a:prstGeom prst="rect">
            <a:avLst/>
          </a:prstGeom>
          <a:noFill/>
          <a:ln>
            <a:noFill/>
          </a:ln>
        </p:spPr>
      </p:pic>
      <p:grpSp>
        <p:nvGrpSpPr>
          <p:cNvPr id="883" name="Google Shape;883;p26"/>
          <p:cNvGrpSpPr/>
          <p:nvPr/>
        </p:nvGrpSpPr>
        <p:grpSpPr>
          <a:xfrm>
            <a:off x="0" y="0"/>
            <a:ext cx="9144000" cy="5143500"/>
            <a:chOff x="0" y="0"/>
            <a:chExt cx="9144000" cy="5143500"/>
          </a:xfrm>
        </p:grpSpPr>
        <p:pic>
          <p:nvPicPr>
            <p:cNvPr id="884" name="Google Shape;884;p26"/>
            <p:cNvPicPr preferRelativeResize="0"/>
            <p:nvPr/>
          </p:nvPicPr>
          <p:blipFill rotWithShape="1">
            <a:blip r:embed="rId5">
              <a:alphaModFix/>
            </a:blip>
            <a:srcRect b="0" l="0" r="0" t="0"/>
            <a:stretch/>
          </p:blipFill>
          <p:spPr>
            <a:xfrm>
              <a:off x="0" y="338138"/>
              <a:ext cx="9144000" cy="9600"/>
            </a:xfrm>
            <a:prstGeom prst="rect">
              <a:avLst/>
            </a:prstGeom>
            <a:noFill/>
            <a:ln>
              <a:noFill/>
            </a:ln>
          </p:spPr>
        </p:pic>
        <p:pic>
          <p:nvPicPr>
            <p:cNvPr id="885" name="Google Shape;885;p26"/>
            <p:cNvPicPr preferRelativeResize="0"/>
            <p:nvPr/>
          </p:nvPicPr>
          <p:blipFill rotWithShape="1">
            <a:blip r:embed="rId5">
              <a:alphaModFix/>
            </a:blip>
            <a:srcRect b="0" l="0" r="0" t="0"/>
            <a:stretch/>
          </p:blipFill>
          <p:spPr>
            <a:xfrm>
              <a:off x="0" y="681038"/>
              <a:ext cx="9144000" cy="9600"/>
            </a:xfrm>
            <a:prstGeom prst="rect">
              <a:avLst/>
            </a:prstGeom>
            <a:noFill/>
            <a:ln>
              <a:noFill/>
            </a:ln>
          </p:spPr>
        </p:pic>
        <p:pic>
          <p:nvPicPr>
            <p:cNvPr id="886" name="Google Shape;886;p26"/>
            <p:cNvPicPr preferRelativeResize="0"/>
            <p:nvPr/>
          </p:nvPicPr>
          <p:blipFill rotWithShape="1">
            <a:blip r:embed="rId5">
              <a:alphaModFix/>
            </a:blip>
            <a:srcRect b="0" l="0" r="0" t="0"/>
            <a:stretch/>
          </p:blipFill>
          <p:spPr>
            <a:xfrm>
              <a:off x="0" y="1023938"/>
              <a:ext cx="9144000" cy="9600"/>
            </a:xfrm>
            <a:prstGeom prst="rect">
              <a:avLst/>
            </a:prstGeom>
            <a:noFill/>
            <a:ln>
              <a:noFill/>
            </a:ln>
          </p:spPr>
        </p:pic>
        <p:pic>
          <p:nvPicPr>
            <p:cNvPr id="887" name="Google Shape;887;p26"/>
            <p:cNvPicPr preferRelativeResize="0"/>
            <p:nvPr/>
          </p:nvPicPr>
          <p:blipFill rotWithShape="1">
            <a:blip r:embed="rId5">
              <a:alphaModFix/>
            </a:blip>
            <a:srcRect b="0" l="0" r="0" t="0"/>
            <a:stretch/>
          </p:blipFill>
          <p:spPr>
            <a:xfrm>
              <a:off x="0" y="1366838"/>
              <a:ext cx="9144000" cy="9600"/>
            </a:xfrm>
            <a:prstGeom prst="rect">
              <a:avLst/>
            </a:prstGeom>
            <a:noFill/>
            <a:ln>
              <a:noFill/>
            </a:ln>
          </p:spPr>
        </p:pic>
        <p:pic>
          <p:nvPicPr>
            <p:cNvPr id="888" name="Google Shape;888;p26"/>
            <p:cNvPicPr preferRelativeResize="0"/>
            <p:nvPr/>
          </p:nvPicPr>
          <p:blipFill rotWithShape="1">
            <a:blip r:embed="rId5">
              <a:alphaModFix/>
            </a:blip>
            <a:srcRect b="0" l="0" r="0" t="0"/>
            <a:stretch/>
          </p:blipFill>
          <p:spPr>
            <a:xfrm>
              <a:off x="0" y="1709738"/>
              <a:ext cx="9144000" cy="9600"/>
            </a:xfrm>
            <a:prstGeom prst="rect">
              <a:avLst/>
            </a:prstGeom>
            <a:noFill/>
            <a:ln>
              <a:noFill/>
            </a:ln>
          </p:spPr>
        </p:pic>
        <p:pic>
          <p:nvPicPr>
            <p:cNvPr id="889" name="Google Shape;889;p26"/>
            <p:cNvPicPr preferRelativeResize="0"/>
            <p:nvPr/>
          </p:nvPicPr>
          <p:blipFill rotWithShape="1">
            <a:blip r:embed="rId5">
              <a:alphaModFix/>
            </a:blip>
            <a:srcRect b="0" l="0" r="0" t="0"/>
            <a:stretch/>
          </p:blipFill>
          <p:spPr>
            <a:xfrm>
              <a:off x="0" y="2052638"/>
              <a:ext cx="9144000" cy="9600"/>
            </a:xfrm>
            <a:prstGeom prst="rect">
              <a:avLst/>
            </a:prstGeom>
            <a:noFill/>
            <a:ln>
              <a:noFill/>
            </a:ln>
          </p:spPr>
        </p:pic>
        <p:pic>
          <p:nvPicPr>
            <p:cNvPr id="890" name="Google Shape;890;p26"/>
            <p:cNvPicPr preferRelativeResize="0"/>
            <p:nvPr/>
          </p:nvPicPr>
          <p:blipFill rotWithShape="1">
            <a:blip r:embed="rId5">
              <a:alphaModFix/>
            </a:blip>
            <a:srcRect b="0" l="0" r="0" t="0"/>
            <a:stretch/>
          </p:blipFill>
          <p:spPr>
            <a:xfrm>
              <a:off x="0" y="2395538"/>
              <a:ext cx="9144000" cy="9600"/>
            </a:xfrm>
            <a:prstGeom prst="rect">
              <a:avLst/>
            </a:prstGeom>
            <a:noFill/>
            <a:ln>
              <a:noFill/>
            </a:ln>
          </p:spPr>
        </p:pic>
        <p:pic>
          <p:nvPicPr>
            <p:cNvPr id="891" name="Google Shape;891;p26"/>
            <p:cNvPicPr preferRelativeResize="0"/>
            <p:nvPr/>
          </p:nvPicPr>
          <p:blipFill rotWithShape="1">
            <a:blip r:embed="rId5">
              <a:alphaModFix/>
            </a:blip>
            <a:srcRect b="0" l="0" r="0" t="0"/>
            <a:stretch/>
          </p:blipFill>
          <p:spPr>
            <a:xfrm>
              <a:off x="0" y="2738438"/>
              <a:ext cx="9144000" cy="9600"/>
            </a:xfrm>
            <a:prstGeom prst="rect">
              <a:avLst/>
            </a:prstGeom>
            <a:noFill/>
            <a:ln>
              <a:noFill/>
            </a:ln>
          </p:spPr>
        </p:pic>
        <p:pic>
          <p:nvPicPr>
            <p:cNvPr id="892" name="Google Shape;892;p26"/>
            <p:cNvPicPr preferRelativeResize="0"/>
            <p:nvPr/>
          </p:nvPicPr>
          <p:blipFill rotWithShape="1">
            <a:blip r:embed="rId5">
              <a:alphaModFix/>
            </a:blip>
            <a:srcRect b="0" l="0" r="0" t="0"/>
            <a:stretch/>
          </p:blipFill>
          <p:spPr>
            <a:xfrm>
              <a:off x="0" y="3081338"/>
              <a:ext cx="9144000" cy="9600"/>
            </a:xfrm>
            <a:prstGeom prst="rect">
              <a:avLst/>
            </a:prstGeom>
            <a:noFill/>
            <a:ln>
              <a:noFill/>
            </a:ln>
          </p:spPr>
        </p:pic>
        <p:pic>
          <p:nvPicPr>
            <p:cNvPr id="893" name="Google Shape;893;p26"/>
            <p:cNvPicPr preferRelativeResize="0"/>
            <p:nvPr/>
          </p:nvPicPr>
          <p:blipFill rotWithShape="1">
            <a:blip r:embed="rId5">
              <a:alphaModFix/>
            </a:blip>
            <a:srcRect b="0" l="0" r="0" t="0"/>
            <a:stretch/>
          </p:blipFill>
          <p:spPr>
            <a:xfrm>
              <a:off x="0" y="3424238"/>
              <a:ext cx="9144000" cy="9600"/>
            </a:xfrm>
            <a:prstGeom prst="rect">
              <a:avLst/>
            </a:prstGeom>
            <a:noFill/>
            <a:ln>
              <a:noFill/>
            </a:ln>
          </p:spPr>
        </p:pic>
        <p:pic>
          <p:nvPicPr>
            <p:cNvPr id="894" name="Google Shape;894;p26"/>
            <p:cNvPicPr preferRelativeResize="0"/>
            <p:nvPr/>
          </p:nvPicPr>
          <p:blipFill rotWithShape="1">
            <a:blip r:embed="rId5">
              <a:alphaModFix/>
            </a:blip>
            <a:srcRect b="0" l="0" r="0" t="0"/>
            <a:stretch/>
          </p:blipFill>
          <p:spPr>
            <a:xfrm>
              <a:off x="0" y="3767138"/>
              <a:ext cx="9144000" cy="9600"/>
            </a:xfrm>
            <a:prstGeom prst="rect">
              <a:avLst/>
            </a:prstGeom>
            <a:noFill/>
            <a:ln>
              <a:noFill/>
            </a:ln>
          </p:spPr>
        </p:pic>
        <p:pic>
          <p:nvPicPr>
            <p:cNvPr id="895" name="Google Shape;895;p26"/>
            <p:cNvPicPr preferRelativeResize="0"/>
            <p:nvPr/>
          </p:nvPicPr>
          <p:blipFill rotWithShape="1">
            <a:blip r:embed="rId5">
              <a:alphaModFix/>
            </a:blip>
            <a:srcRect b="0" l="0" r="0" t="0"/>
            <a:stretch/>
          </p:blipFill>
          <p:spPr>
            <a:xfrm>
              <a:off x="0" y="4110038"/>
              <a:ext cx="9144000" cy="9600"/>
            </a:xfrm>
            <a:prstGeom prst="rect">
              <a:avLst/>
            </a:prstGeom>
            <a:noFill/>
            <a:ln>
              <a:noFill/>
            </a:ln>
          </p:spPr>
        </p:pic>
        <p:pic>
          <p:nvPicPr>
            <p:cNvPr id="896" name="Google Shape;896;p26"/>
            <p:cNvPicPr preferRelativeResize="0"/>
            <p:nvPr/>
          </p:nvPicPr>
          <p:blipFill rotWithShape="1">
            <a:blip r:embed="rId5">
              <a:alphaModFix/>
            </a:blip>
            <a:srcRect b="0" l="0" r="0" t="0"/>
            <a:stretch/>
          </p:blipFill>
          <p:spPr>
            <a:xfrm>
              <a:off x="0" y="4452938"/>
              <a:ext cx="9144000" cy="9600"/>
            </a:xfrm>
            <a:prstGeom prst="rect">
              <a:avLst/>
            </a:prstGeom>
            <a:noFill/>
            <a:ln>
              <a:noFill/>
            </a:ln>
          </p:spPr>
        </p:pic>
        <p:pic>
          <p:nvPicPr>
            <p:cNvPr id="897" name="Google Shape;897;p26"/>
            <p:cNvPicPr preferRelativeResize="0"/>
            <p:nvPr/>
          </p:nvPicPr>
          <p:blipFill rotWithShape="1">
            <a:blip r:embed="rId5">
              <a:alphaModFix/>
            </a:blip>
            <a:srcRect b="0" l="0" r="0" t="0"/>
            <a:stretch/>
          </p:blipFill>
          <p:spPr>
            <a:xfrm>
              <a:off x="0" y="4795838"/>
              <a:ext cx="9144000" cy="9600"/>
            </a:xfrm>
            <a:prstGeom prst="rect">
              <a:avLst/>
            </a:prstGeom>
            <a:noFill/>
            <a:ln>
              <a:noFill/>
            </a:ln>
          </p:spPr>
        </p:pic>
        <p:pic>
          <p:nvPicPr>
            <p:cNvPr id="898" name="Google Shape;898;p26"/>
            <p:cNvPicPr preferRelativeResize="0"/>
            <p:nvPr/>
          </p:nvPicPr>
          <p:blipFill rotWithShape="1">
            <a:blip r:embed="rId6">
              <a:alphaModFix/>
            </a:blip>
            <a:srcRect b="0" l="0" r="0" t="0"/>
            <a:stretch/>
          </p:blipFill>
          <p:spPr>
            <a:xfrm>
              <a:off x="338138" y="0"/>
              <a:ext cx="9600" cy="5143500"/>
            </a:xfrm>
            <a:prstGeom prst="rect">
              <a:avLst/>
            </a:prstGeom>
            <a:noFill/>
            <a:ln>
              <a:noFill/>
            </a:ln>
          </p:spPr>
        </p:pic>
        <p:pic>
          <p:nvPicPr>
            <p:cNvPr id="899" name="Google Shape;899;p26"/>
            <p:cNvPicPr preferRelativeResize="0"/>
            <p:nvPr/>
          </p:nvPicPr>
          <p:blipFill rotWithShape="1">
            <a:blip r:embed="rId6">
              <a:alphaModFix/>
            </a:blip>
            <a:srcRect b="0" l="0" r="0" t="0"/>
            <a:stretch/>
          </p:blipFill>
          <p:spPr>
            <a:xfrm>
              <a:off x="681038" y="0"/>
              <a:ext cx="9600" cy="5143500"/>
            </a:xfrm>
            <a:prstGeom prst="rect">
              <a:avLst/>
            </a:prstGeom>
            <a:noFill/>
            <a:ln>
              <a:noFill/>
            </a:ln>
          </p:spPr>
        </p:pic>
        <p:pic>
          <p:nvPicPr>
            <p:cNvPr id="900" name="Google Shape;900;p26"/>
            <p:cNvPicPr preferRelativeResize="0"/>
            <p:nvPr/>
          </p:nvPicPr>
          <p:blipFill rotWithShape="1">
            <a:blip r:embed="rId6">
              <a:alphaModFix/>
            </a:blip>
            <a:srcRect b="0" l="0" r="0" t="0"/>
            <a:stretch/>
          </p:blipFill>
          <p:spPr>
            <a:xfrm>
              <a:off x="1023938" y="0"/>
              <a:ext cx="9600" cy="5143500"/>
            </a:xfrm>
            <a:prstGeom prst="rect">
              <a:avLst/>
            </a:prstGeom>
            <a:noFill/>
            <a:ln>
              <a:noFill/>
            </a:ln>
          </p:spPr>
        </p:pic>
        <p:pic>
          <p:nvPicPr>
            <p:cNvPr id="901" name="Google Shape;901;p26"/>
            <p:cNvPicPr preferRelativeResize="0"/>
            <p:nvPr/>
          </p:nvPicPr>
          <p:blipFill rotWithShape="1">
            <a:blip r:embed="rId6">
              <a:alphaModFix/>
            </a:blip>
            <a:srcRect b="0" l="0" r="0" t="0"/>
            <a:stretch/>
          </p:blipFill>
          <p:spPr>
            <a:xfrm>
              <a:off x="1366838" y="0"/>
              <a:ext cx="9600" cy="5143500"/>
            </a:xfrm>
            <a:prstGeom prst="rect">
              <a:avLst/>
            </a:prstGeom>
            <a:noFill/>
            <a:ln>
              <a:noFill/>
            </a:ln>
          </p:spPr>
        </p:pic>
        <p:pic>
          <p:nvPicPr>
            <p:cNvPr id="902" name="Google Shape;902;p26"/>
            <p:cNvPicPr preferRelativeResize="0"/>
            <p:nvPr/>
          </p:nvPicPr>
          <p:blipFill rotWithShape="1">
            <a:blip r:embed="rId6">
              <a:alphaModFix/>
            </a:blip>
            <a:srcRect b="0" l="0" r="0" t="0"/>
            <a:stretch/>
          </p:blipFill>
          <p:spPr>
            <a:xfrm>
              <a:off x="1709738" y="0"/>
              <a:ext cx="9600" cy="5143500"/>
            </a:xfrm>
            <a:prstGeom prst="rect">
              <a:avLst/>
            </a:prstGeom>
            <a:noFill/>
            <a:ln>
              <a:noFill/>
            </a:ln>
          </p:spPr>
        </p:pic>
        <p:pic>
          <p:nvPicPr>
            <p:cNvPr id="903" name="Google Shape;903;p26"/>
            <p:cNvPicPr preferRelativeResize="0"/>
            <p:nvPr/>
          </p:nvPicPr>
          <p:blipFill rotWithShape="1">
            <a:blip r:embed="rId6">
              <a:alphaModFix/>
            </a:blip>
            <a:srcRect b="0" l="0" r="0" t="0"/>
            <a:stretch/>
          </p:blipFill>
          <p:spPr>
            <a:xfrm>
              <a:off x="2052638" y="0"/>
              <a:ext cx="9600" cy="5143500"/>
            </a:xfrm>
            <a:prstGeom prst="rect">
              <a:avLst/>
            </a:prstGeom>
            <a:noFill/>
            <a:ln>
              <a:noFill/>
            </a:ln>
          </p:spPr>
        </p:pic>
        <p:pic>
          <p:nvPicPr>
            <p:cNvPr id="904" name="Google Shape;904;p26"/>
            <p:cNvPicPr preferRelativeResize="0"/>
            <p:nvPr/>
          </p:nvPicPr>
          <p:blipFill rotWithShape="1">
            <a:blip r:embed="rId6">
              <a:alphaModFix/>
            </a:blip>
            <a:srcRect b="0" l="0" r="0" t="0"/>
            <a:stretch/>
          </p:blipFill>
          <p:spPr>
            <a:xfrm>
              <a:off x="2395538" y="0"/>
              <a:ext cx="9600" cy="5143500"/>
            </a:xfrm>
            <a:prstGeom prst="rect">
              <a:avLst/>
            </a:prstGeom>
            <a:noFill/>
            <a:ln>
              <a:noFill/>
            </a:ln>
          </p:spPr>
        </p:pic>
        <p:pic>
          <p:nvPicPr>
            <p:cNvPr id="905" name="Google Shape;905;p26"/>
            <p:cNvPicPr preferRelativeResize="0"/>
            <p:nvPr/>
          </p:nvPicPr>
          <p:blipFill rotWithShape="1">
            <a:blip r:embed="rId6">
              <a:alphaModFix/>
            </a:blip>
            <a:srcRect b="0" l="0" r="0" t="0"/>
            <a:stretch/>
          </p:blipFill>
          <p:spPr>
            <a:xfrm>
              <a:off x="2738438" y="0"/>
              <a:ext cx="9600" cy="5143500"/>
            </a:xfrm>
            <a:prstGeom prst="rect">
              <a:avLst/>
            </a:prstGeom>
            <a:noFill/>
            <a:ln>
              <a:noFill/>
            </a:ln>
          </p:spPr>
        </p:pic>
        <p:pic>
          <p:nvPicPr>
            <p:cNvPr id="906" name="Google Shape;906;p26"/>
            <p:cNvPicPr preferRelativeResize="0"/>
            <p:nvPr/>
          </p:nvPicPr>
          <p:blipFill rotWithShape="1">
            <a:blip r:embed="rId6">
              <a:alphaModFix/>
            </a:blip>
            <a:srcRect b="0" l="0" r="0" t="0"/>
            <a:stretch/>
          </p:blipFill>
          <p:spPr>
            <a:xfrm>
              <a:off x="3081338" y="0"/>
              <a:ext cx="9600" cy="5143500"/>
            </a:xfrm>
            <a:prstGeom prst="rect">
              <a:avLst/>
            </a:prstGeom>
            <a:noFill/>
            <a:ln>
              <a:noFill/>
            </a:ln>
          </p:spPr>
        </p:pic>
        <p:pic>
          <p:nvPicPr>
            <p:cNvPr id="907" name="Google Shape;907;p26"/>
            <p:cNvPicPr preferRelativeResize="0"/>
            <p:nvPr/>
          </p:nvPicPr>
          <p:blipFill rotWithShape="1">
            <a:blip r:embed="rId6">
              <a:alphaModFix/>
            </a:blip>
            <a:srcRect b="0" l="0" r="0" t="0"/>
            <a:stretch/>
          </p:blipFill>
          <p:spPr>
            <a:xfrm>
              <a:off x="3424238" y="0"/>
              <a:ext cx="9600" cy="5143500"/>
            </a:xfrm>
            <a:prstGeom prst="rect">
              <a:avLst/>
            </a:prstGeom>
            <a:noFill/>
            <a:ln>
              <a:noFill/>
            </a:ln>
          </p:spPr>
        </p:pic>
        <p:pic>
          <p:nvPicPr>
            <p:cNvPr id="908" name="Google Shape;908;p26"/>
            <p:cNvPicPr preferRelativeResize="0"/>
            <p:nvPr/>
          </p:nvPicPr>
          <p:blipFill rotWithShape="1">
            <a:blip r:embed="rId6">
              <a:alphaModFix/>
            </a:blip>
            <a:srcRect b="0" l="0" r="0" t="0"/>
            <a:stretch/>
          </p:blipFill>
          <p:spPr>
            <a:xfrm>
              <a:off x="3767138" y="0"/>
              <a:ext cx="9600" cy="5143500"/>
            </a:xfrm>
            <a:prstGeom prst="rect">
              <a:avLst/>
            </a:prstGeom>
            <a:noFill/>
            <a:ln>
              <a:noFill/>
            </a:ln>
          </p:spPr>
        </p:pic>
        <p:pic>
          <p:nvPicPr>
            <p:cNvPr id="909" name="Google Shape;909;p26"/>
            <p:cNvPicPr preferRelativeResize="0"/>
            <p:nvPr/>
          </p:nvPicPr>
          <p:blipFill rotWithShape="1">
            <a:blip r:embed="rId6">
              <a:alphaModFix/>
            </a:blip>
            <a:srcRect b="0" l="0" r="0" t="0"/>
            <a:stretch/>
          </p:blipFill>
          <p:spPr>
            <a:xfrm>
              <a:off x="4110038" y="0"/>
              <a:ext cx="9600" cy="5143500"/>
            </a:xfrm>
            <a:prstGeom prst="rect">
              <a:avLst/>
            </a:prstGeom>
            <a:noFill/>
            <a:ln>
              <a:noFill/>
            </a:ln>
          </p:spPr>
        </p:pic>
        <p:pic>
          <p:nvPicPr>
            <p:cNvPr id="910" name="Google Shape;910;p26"/>
            <p:cNvPicPr preferRelativeResize="0"/>
            <p:nvPr/>
          </p:nvPicPr>
          <p:blipFill rotWithShape="1">
            <a:blip r:embed="rId6">
              <a:alphaModFix/>
            </a:blip>
            <a:srcRect b="0" l="0" r="0" t="0"/>
            <a:stretch/>
          </p:blipFill>
          <p:spPr>
            <a:xfrm>
              <a:off x="4452938" y="0"/>
              <a:ext cx="9600" cy="5143500"/>
            </a:xfrm>
            <a:prstGeom prst="rect">
              <a:avLst/>
            </a:prstGeom>
            <a:noFill/>
            <a:ln>
              <a:noFill/>
            </a:ln>
          </p:spPr>
        </p:pic>
        <p:pic>
          <p:nvPicPr>
            <p:cNvPr id="911" name="Google Shape;911;p26"/>
            <p:cNvPicPr preferRelativeResize="0"/>
            <p:nvPr/>
          </p:nvPicPr>
          <p:blipFill rotWithShape="1">
            <a:blip r:embed="rId6">
              <a:alphaModFix/>
            </a:blip>
            <a:srcRect b="0" l="0" r="0" t="0"/>
            <a:stretch/>
          </p:blipFill>
          <p:spPr>
            <a:xfrm>
              <a:off x="4795838" y="0"/>
              <a:ext cx="9600" cy="5143500"/>
            </a:xfrm>
            <a:prstGeom prst="rect">
              <a:avLst/>
            </a:prstGeom>
            <a:noFill/>
            <a:ln>
              <a:noFill/>
            </a:ln>
          </p:spPr>
        </p:pic>
        <p:pic>
          <p:nvPicPr>
            <p:cNvPr id="912" name="Google Shape;912;p26"/>
            <p:cNvPicPr preferRelativeResize="0"/>
            <p:nvPr/>
          </p:nvPicPr>
          <p:blipFill rotWithShape="1">
            <a:blip r:embed="rId6">
              <a:alphaModFix/>
            </a:blip>
            <a:srcRect b="0" l="0" r="0" t="0"/>
            <a:stretch/>
          </p:blipFill>
          <p:spPr>
            <a:xfrm>
              <a:off x="5138738" y="0"/>
              <a:ext cx="9600" cy="5143500"/>
            </a:xfrm>
            <a:prstGeom prst="rect">
              <a:avLst/>
            </a:prstGeom>
            <a:noFill/>
            <a:ln>
              <a:noFill/>
            </a:ln>
          </p:spPr>
        </p:pic>
        <p:pic>
          <p:nvPicPr>
            <p:cNvPr id="913" name="Google Shape;913;p26"/>
            <p:cNvPicPr preferRelativeResize="0"/>
            <p:nvPr/>
          </p:nvPicPr>
          <p:blipFill rotWithShape="1">
            <a:blip r:embed="rId6">
              <a:alphaModFix/>
            </a:blip>
            <a:srcRect b="0" l="0" r="0" t="0"/>
            <a:stretch/>
          </p:blipFill>
          <p:spPr>
            <a:xfrm>
              <a:off x="5481638" y="0"/>
              <a:ext cx="9600" cy="5143500"/>
            </a:xfrm>
            <a:prstGeom prst="rect">
              <a:avLst/>
            </a:prstGeom>
            <a:noFill/>
            <a:ln>
              <a:noFill/>
            </a:ln>
          </p:spPr>
        </p:pic>
        <p:pic>
          <p:nvPicPr>
            <p:cNvPr id="914" name="Google Shape;914;p26"/>
            <p:cNvPicPr preferRelativeResize="0"/>
            <p:nvPr/>
          </p:nvPicPr>
          <p:blipFill rotWithShape="1">
            <a:blip r:embed="rId6">
              <a:alphaModFix/>
            </a:blip>
            <a:srcRect b="0" l="0" r="0" t="0"/>
            <a:stretch/>
          </p:blipFill>
          <p:spPr>
            <a:xfrm>
              <a:off x="5824538" y="0"/>
              <a:ext cx="9600" cy="5143500"/>
            </a:xfrm>
            <a:prstGeom prst="rect">
              <a:avLst/>
            </a:prstGeom>
            <a:noFill/>
            <a:ln>
              <a:noFill/>
            </a:ln>
          </p:spPr>
        </p:pic>
        <p:pic>
          <p:nvPicPr>
            <p:cNvPr id="915" name="Google Shape;915;p26"/>
            <p:cNvPicPr preferRelativeResize="0"/>
            <p:nvPr/>
          </p:nvPicPr>
          <p:blipFill rotWithShape="1">
            <a:blip r:embed="rId6">
              <a:alphaModFix/>
            </a:blip>
            <a:srcRect b="0" l="0" r="0" t="0"/>
            <a:stretch/>
          </p:blipFill>
          <p:spPr>
            <a:xfrm>
              <a:off x="6167438" y="0"/>
              <a:ext cx="9600" cy="5143500"/>
            </a:xfrm>
            <a:prstGeom prst="rect">
              <a:avLst/>
            </a:prstGeom>
            <a:noFill/>
            <a:ln>
              <a:noFill/>
            </a:ln>
          </p:spPr>
        </p:pic>
        <p:pic>
          <p:nvPicPr>
            <p:cNvPr id="916" name="Google Shape;916;p26"/>
            <p:cNvPicPr preferRelativeResize="0"/>
            <p:nvPr/>
          </p:nvPicPr>
          <p:blipFill rotWithShape="1">
            <a:blip r:embed="rId6">
              <a:alphaModFix/>
            </a:blip>
            <a:srcRect b="0" l="0" r="0" t="0"/>
            <a:stretch/>
          </p:blipFill>
          <p:spPr>
            <a:xfrm>
              <a:off x="6510338" y="0"/>
              <a:ext cx="9600" cy="5143500"/>
            </a:xfrm>
            <a:prstGeom prst="rect">
              <a:avLst/>
            </a:prstGeom>
            <a:noFill/>
            <a:ln>
              <a:noFill/>
            </a:ln>
          </p:spPr>
        </p:pic>
        <p:pic>
          <p:nvPicPr>
            <p:cNvPr id="917" name="Google Shape;917;p26"/>
            <p:cNvPicPr preferRelativeResize="0"/>
            <p:nvPr/>
          </p:nvPicPr>
          <p:blipFill rotWithShape="1">
            <a:blip r:embed="rId6">
              <a:alphaModFix/>
            </a:blip>
            <a:srcRect b="0" l="0" r="0" t="0"/>
            <a:stretch/>
          </p:blipFill>
          <p:spPr>
            <a:xfrm>
              <a:off x="6853238" y="0"/>
              <a:ext cx="9600" cy="5143500"/>
            </a:xfrm>
            <a:prstGeom prst="rect">
              <a:avLst/>
            </a:prstGeom>
            <a:noFill/>
            <a:ln>
              <a:noFill/>
            </a:ln>
          </p:spPr>
        </p:pic>
        <p:pic>
          <p:nvPicPr>
            <p:cNvPr id="918" name="Google Shape;918;p26"/>
            <p:cNvPicPr preferRelativeResize="0"/>
            <p:nvPr/>
          </p:nvPicPr>
          <p:blipFill rotWithShape="1">
            <a:blip r:embed="rId6">
              <a:alphaModFix/>
            </a:blip>
            <a:srcRect b="0" l="0" r="0" t="0"/>
            <a:stretch/>
          </p:blipFill>
          <p:spPr>
            <a:xfrm>
              <a:off x="7196138" y="0"/>
              <a:ext cx="9600" cy="5143500"/>
            </a:xfrm>
            <a:prstGeom prst="rect">
              <a:avLst/>
            </a:prstGeom>
            <a:noFill/>
            <a:ln>
              <a:noFill/>
            </a:ln>
          </p:spPr>
        </p:pic>
        <p:pic>
          <p:nvPicPr>
            <p:cNvPr id="919" name="Google Shape;919;p26"/>
            <p:cNvPicPr preferRelativeResize="0"/>
            <p:nvPr/>
          </p:nvPicPr>
          <p:blipFill rotWithShape="1">
            <a:blip r:embed="rId6">
              <a:alphaModFix/>
            </a:blip>
            <a:srcRect b="0" l="0" r="0" t="0"/>
            <a:stretch/>
          </p:blipFill>
          <p:spPr>
            <a:xfrm>
              <a:off x="7539038" y="0"/>
              <a:ext cx="9600" cy="5143500"/>
            </a:xfrm>
            <a:prstGeom prst="rect">
              <a:avLst/>
            </a:prstGeom>
            <a:noFill/>
            <a:ln>
              <a:noFill/>
            </a:ln>
          </p:spPr>
        </p:pic>
        <p:pic>
          <p:nvPicPr>
            <p:cNvPr id="920" name="Google Shape;920;p26"/>
            <p:cNvPicPr preferRelativeResize="0"/>
            <p:nvPr/>
          </p:nvPicPr>
          <p:blipFill rotWithShape="1">
            <a:blip r:embed="rId6">
              <a:alphaModFix/>
            </a:blip>
            <a:srcRect b="0" l="0" r="0" t="0"/>
            <a:stretch/>
          </p:blipFill>
          <p:spPr>
            <a:xfrm>
              <a:off x="7881938" y="0"/>
              <a:ext cx="9600" cy="5143500"/>
            </a:xfrm>
            <a:prstGeom prst="rect">
              <a:avLst/>
            </a:prstGeom>
            <a:noFill/>
            <a:ln>
              <a:noFill/>
            </a:ln>
          </p:spPr>
        </p:pic>
        <p:pic>
          <p:nvPicPr>
            <p:cNvPr id="921" name="Google Shape;921;p26"/>
            <p:cNvPicPr preferRelativeResize="0"/>
            <p:nvPr/>
          </p:nvPicPr>
          <p:blipFill rotWithShape="1">
            <a:blip r:embed="rId6">
              <a:alphaModFix/>
            </a:blip>
            <a:srcRect b="0" l="0" r="0" t="0"/>
            <a:stretch/>
          </p:blipFill>
          <p:spPr>
            <a:xfrm>
              <a:off x="8224838" y="0"/>
              <a:ext cx="9600" cy="5143500"/>
            </a:xfrm>
            <a:prstGeom prst="rect">
              <a:avLst/>
            </a:prstGeom>
            <a:noFill/>
            <a:ln>
              <a:noFill/>
            </a:ln>
          </p:spPr>
        </p:pic>
        <p:pic>
          <p:nvPicPr>
            <p:cNvPr id="922" name="Google Shape;922;p26"/>
            <p:cNvPicPr preferRelativeResize="0"/>
            <p:nvPr/>
          </p:nvPicPr>
          <p:blipFill rotWithShape="1">
            <a:blip r:embed="rId6">
              <a:alphaModFix/>
            </a:blip>
            <a:srcRect b="0" l="0" r="0" t="0"/>
            <a:stretch/>
          </p:blipFill>
          <p:spPr>
            <a:xfrm>
              <a:off x="8567738" y="0"/>
              <a:ext cx="9600" cy="5143500"/>
            </a:xfrm>
            <a:prstGeom prst="rect">
              <a:avLst/>
            </a:prstGeom>
            <a:noFill/>
            <a:ln>
              <a:noFill/>
            </a:ln>
          </p:spPr>
        </p:pic>
        <p:pic>
          <p:nvPicPr>
            <p:cNvPr id="923" name="Google Shape;923;p26"/>
            <p:cNvPicPr preferRelativeResize="0"/>
            <p:nvPr/>
          </p:nvPicPr>
          <p:blipFill rotWithShape="1">
            <a:blip r:embed="rId6">
              <a:alphaModFix/>
            </a:blip>
            <a:srcRect b="0" l="0" r="0" t="0"/>
            <a:stretch/>
          </p:blipFill>
          <p:spPr>
            <a:xfrm>
              <a:off x="8910638" y="0"/>
              <a:ext cx="9600" cy="5143500"/>
            </a:xfrm>
            <a:prstGeom prst="rect">
              <a:avLst/>
            </a:prstGeom>
            <a:noFill/>
            <a:ln>
              <a:noFill/>
            </a:ln>
          </p:spPr>
        </p:pic>
      </p:grpSp>
      <p:sp>
        <p:nvSpPr>
          <p:cNvPr id="924" name="Google Shape;924;p26"/>
          <p:cNvSpPr txBox="1"/>
          <p:nvPr/>
        </p:nvSpPr>
        <p:spPr>
          <a:xfrm>
            <a:off x="381000" y="285750"/>
            <a:ext cx="8382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380">
                <a:solidFill>
                  <a:srgbClr val="F3F6FB"/>
                </a:solidFill>
                <a:latin typeface="Inter"/>
                <a:ea typeface="Inter"/>
                <a:cs typeface="Inter"/>
                <a:sym typeface="Inter"/>
              </a:rPr>
              <a:t>Challenge-Group Vulnerabilities</a:t>
            </a:r>
            <a:endParaRPr b="1" sz="2380">
              <a:solidFill>
                <a:srgbClr val="F3F6FB"/>
              </a:solidFill>
              <a:latin typeface="Inter"/>
              <a:ea typeface="Inter"/>
              <a:cs typeface="Inter"/>
              <a:sym typeface="Inter"/>
            </a:endParaRPr>
          </a:p>
        </p:txBody>
      </p:sp>
      <p:sp>
        <p:nvSpPr>
          <p:cNvPr id="925" name="Google Shape;925;p26"/>
          <p:cNvSpPr txBox="1"/>
          <p:nvPr/>
        </p:nvSpPr>
        <p:spPr>
          <a:xfrm>
            <a:off x="381000" y="714375"/>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1100">
                <a:solidFill>
                  <a:srgbClr val="55B6FF"/>
                </a:solidFill>
                <a:latin typeface="Inter"/>
                <a:ea typeface="Inter"/>
                <a:cs typeface="Inter"/>
                <a:sym typeface="Inter"/>
              </a:rPr>
              <a:t>Average scores hide material-specific and embodiment-specific failures.</a:t>
            </a:r>
            <a:endParaRPr b="0" i="1" sz="1100">
              <a:solidFill>
                <a:srgbClr val="55B6FF"/>
              </a:solidFill>
              <a:latin typeface="Inter"/>
              <a:ea typeface="Inter"/>
              <a:cs typeface="Inter"/>
              <a:sym typeface="Inter"/>
            </a:endParaRPr>
          </a:p>
        </p:txBody>
      </p:sp>
      <p:grpSp>
        <p:nvGrpSpPr>
          <p:cNvPr id="926" name="Google Shape;926;p26"/>
          <p:cNvGrpSpPr/>
          <p:nvPr/>
        </p:nvGrpSpPr>
        <p:grpSpPr>
          <a:xfrm>
            <a:off x="475302" y="1087429"/>
            <a:ext cx="4286400" cy="3120300"/>
            <a:chOff x="0" y="0"/>
            <a:chExt cx="4286400" cy="3120300"/>
          </a:xfrm>
        </p:grpSpPr>
        <p:sp>
          <p:nvSpPr>
            <p:cNvPr id="927" name="Google Shape;927;p26"/>
            <p:cNvSpPr/>
            <p:nvPr/>
          </p:nvSpPr>
          <p:spPr>
            <a:xfrm>
              <a:off x="0" y="0"/>
              <a:ext cx="4286400" cy="3120300"/>
            </a:xfrm>
            <a:prstGeom prst="roundRect">
              <a:avLst>
                <a:gd fmla="val 1318" name="adj"/>
              </a:avLst>
            </a:prstGeom>
            <a:solidFill>
              <a:srgbClr val="111827"/>
            </a:solidFill>
            <a:ln cap="flat" cmpd="sng" w="10150">
              <a:solidFill>
                <a:srgbClr val="F5A623">
                  <a:alpha val="87999"/>
                </a:srgbClr>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8" name="Google Shape;928;p26"/>
            <p:cNvSpPr/>
            <p:nvPr/>
          </p:nvSpPr>
          <p:spPr>
            <a:xfrm>
              <a:off x="137160" y="545897"/>
              <a:ext cx="4011900" cy="1925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929" name="Google Shape;929;p26"/>
          <p:cNvPicPr preferRelativeResize="0"/>
          <p:nvPr/>
        </p:nvPicPr>
        <p:blipFill rotWithShape="1">
          <a:blip r:embed="rId7">
            <a:alphaModFix/>
          </a:blip>
          <a:srcRect b="0" l="0" r="0" t="0"/>
          <a:stretch/>
        </p:blipFill>
        <p:spPr>
          <a:xfrm>
            <a:off x="568750" y="1585175"/>
            <a:ext cx="4099500" cy="1968000"/>
          </a:xfrm>
          <a:prstGeom prst="rect">
            <a:avLst/>
          </a:prstGeom>
          <a:noFill/>
          <a:ln>
            <a:noFill/>
          </a:ln>
        </p:spPr>
      </p:pic>
      <p:grpSp>
        <p:nvGrpSpPr>
          <p:cNvPr id="930" name="Google Shape;930;p26"/>
          <p:cNvGrpSpPr/>
          <p:nvPr/>
        </p:nvGrpSpPr>
        <p:grpSpPr>
          <a:xfrm>
            <a:off x="5619750" y="1095375"/>
            <a:ext cx="3143400" cy="2781300"/>
            <a:chOff x="0" y="0"/>
            <a:chExt cx="3143400" cy="2781300"/>
          </a:xfrm>
        </p:grpSpPr>
        <p:grpSp>
          <p:nvGrpSpPr>
            <p:cNvPr id="931" name="Google Shape;931;p26"/>
            <p:cNvGrpSpPr/>
            <p:nvPr/>
          </p:nvGrpSpPr>
          <p:grpSpPr>
            <a:xfrm>
              <a:off x="0" y="0"/>
              <a:ext cx="3143400" cy="495300"/>
              <a:chOff x="0" y="0"/>
              <a:chExt cx="3143400" cy="495300"/>
            </a:xfrm>
          </p:grpSpPr>
          <p:sp>
            <p:nvSpPr>
              <p:cNvPr id="932" name="Google Shape;932;p26"/>
              <p:cNvSpPr/>
              <p:nvPr/>
            </p:nvSpPr>
            <p:spPr>
              <a:xfrm>
                <a:off x="0" y="0"/>
                <a:ext cx="3143400" cy="495300"/>
              </a:xfrm>
              <a:prstGeom prst="roundRect">
                <a:avLst>
                  <a:gd fmla="val 11538" name="adj"/>
                </a:avLst>
              </a:prstGeom>
              <a:solidFill>
                <a:srgbClr val="1E293B"/>
              </a:solidFill>
              <a:ln cap="flat" cmpd="sng" w="9525">
                <a:solidFill>
                  <a:srgbClr val="F5A62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3" name="Google Shape;933;p26"/>
              <p:cNvSpPr txBox="1"/>
              <p:nvPr/>
            </p:nvSpPr>
            <p:spPr>
              <a:xfrm>
                <a:off x="114300" y="0"/>
                <a:ext cx="29148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5A623"/>
                    </a:solidFill>
                    <a:latin typeface="Inter"/>
                    <a:ea typeface="Inter"/>
                    <a:cs typeface="Inter"/>
                    <a:sym typeface="Inter"/>
                  </a:rPr>
                  <a:t>Transparent Objects</a:t>
                </a:r>
                <a:endParaRPr b="1" sz="900">
                  <a:solidFill>
                    <a:srgbClr val="F5A623"/>
                  </a:solidFill>
                  <a:latin typeface="Inter"/>
                  <a:ea typeface="Inter"/>
                  <a:cs typeface="Inter"/>
                  <a:sym typeface="Inter"/>
                </a:endParaRPr>
              </a:p>
              <a:p>
                <a:pPr indent="0" lvl="0" marL="0" rtl="0" algn="l">
                  <a:spcBef>
                    <a:spcPts val="0"/>
                  </a:spcBef>
                  <a:spcAft>
                    <a:spcPts val="0"/>
                  </a:spcAft>
                  <a:buNone/>
                </a:pPr>
                <a:r>
                  <a:rPr lang="en" sz="800">
                    <a:solidFill>
                      <a:srgbClr val="F3F6FB"/>
                    </a:solidFill>
                    <a:latin typeface="Inter"/>
                    <a:ea typeface="Inter"/>
                    <a:cs typeface="Inter"/>
                    <a:sym typeface="Inter"/>
                  </a:rPr>
                  <a:t>Weak/missing boundaries → unreliable grasp estimation</a:t>
                </a:r>
                <a:endParaRPr sz="800">
                  <a:solidFill>
                    <a:srgbClr val="F3F6FB"/>
                  </a:solidFill>
                  <a:latin typeface="Inter"/>
                  <a:ea typeface="Inter"/>
                  <a:cs typeface="Inter"/>
                  <a:sym typeface="Inter"/>
                </a:endParaRPr>
              </a:p>
            </p:txBody>
          </p:sp>
        </p:grpSp>
        <p:grpSp>
          <p:nvGrpSpPr>
            <p:cNvPr id="934" name="Google Shape;934;p26"/>
            <p:cNvGrpSpPr/>
            <p:nvPr/>
          </p:nvGrpSpPr>
          <p:grpSpPr>
            <a:xfrm>
              <a:off x="0" y="571500"/>
              <a:ext cx="3143400" cy="495300"/>
              <a:chOff x="0" y="0"/>
              <a:chExt cx="3143400" cy="495300"/>
            </a:xfrm>
          </p:grpSpPr>
          <p:sp>
            <p:nvSpPr>
              <p:cNvPr id="935" name="Google Shape;935;p26"/>
              <p:cNvSpPr/>
              <p:nvPr/>
            </p:nvSpPr>
            <p:spPr>
              <a:xfrm>
                <a:off x="0" y="0"/>
                <a:ext cx="3143400" cy="495300"/>
              </a:xfrm>
              <a:prstGeom prst="roundRect">
                <a:avLst>
                  <a:gd fmla="val 11538" name="adj"/>
                </a:avLst>
              </a:prstGeom>
              <a:solidFill>
                <a:srgbClr val="1E293B"/>
              </a:solidFill>
              <a:ln cap="flat" cmpd="sng" w="9525">
                <a:solidFill>
                  <a:srgbClr val="4A90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6" name="Google Shape;936;p26"/>
              <p:cNvSpPr txBox="1"/>
              <p:nvPr/>
            </p:nvSpPr>
            <p:spPr>
              <a:xfrm>
                <a:off x="114300" y="0"/>
                <a:ext cx="29148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A90E2"/>
                    </a:solidFill>
                    <a:latin typeface="Inter"/>
                    <a:ea typeface="Inter"/>
                    <a:cs typeface="Inter"/>
                    <a:sym typeface="Inter"/>
                  </a:rPr>
                  <a:t>Reflective Surfaces</a:t>
                </a:r>
                <a:endParaRPr b="1" sz="900">
                  <a:solidFill>
                    <a:srgbClr val="4A90E2"/>
                  </a:solidFill>
                  <a:latin typeface="Inter"/>
                  <a:ea typeface="Inter"/>
                  <a:cs typeface="Inter"/>
                  <a:sym typeface="Inter"/>
                </a:endParaRPr>
              </a:p>
              <a:p>
                <a:pPr indent="0" lvl="0" marL="0" rtl="0" algn="l">
                  <a:spcBef>
                    <a:spcPts val="0"/>
                  </a:spcBef>
                  <a:spcAft>
                    <a:spcPts val="0"/>
                  </a:spcAft>
                  <a:buNone/>
                </a:pPr>
                <a:r>
                  <a:rPr lang="en" sz="800">
                    <a:solidFill>
                      <a:srgbClr val="F3F6FB"/>
                    </a:solidFill>
                    <a:latin typeface="Inter"/>
                    <a:ea typeface="Inter"/>
                    <a:cs typeface="Inter"/>
                    <a:sym typeface="Inter"/>
                  </a:rPr>
                  <a:t>Highlight-edge confusion → false object edges</a:t>
                </a:r>
                <a:endParaRPr sz="800">
                  <a:solidFill>
                    <a:srgbClr val="F3F6FB"/>
                  </a:solidFill>
                  <a:latin typeface="Inter"/>
                  <a:ea typeface="Inter"/>
                  <a:cs typeface="Inter"/>
                  <a:sym typeface="Inter"/>
                </a:endParaRPr>
              </a:p>
            </p:txBody>
          </p:sp>
        </p:grpSp>
        <p:grpSp>
          <p:nvGrpSpPr>
            <p:cNvPr id="937" name="Google Shape;937;p26"/>
            <p:cNvGrpSpPr/>
            <p:nvPr/>
          </p:nvGrpSpPr>
          <p:grpSpPr>
            <a:xfrm>
              <a:off x="0" y="1143000"/>
              <a:ext cx="3143400" cy="495300"/>
              <a:chOff x="0" y="0"/>
              <a:chExt cx="3143400" cy="495300"/>
            </a:xfrm>
          </p:grpSpPr>
          <p:sp>
            <p:nvSpPr>
              <p:cNvPr id="938" name="Google Shape;938;p26"/>
              <p:cNvSpPr/>
              <p:nvPr/>
            </p:nvSpPr>
            <p:spPr>
              <a:xfrm>
                <a:off x="0" y="0"/>
                <a:ext cx="3143400" cy="495300"/>
              </a:xfrm>
              <a:prstGeom prst="roundRect">
                <a:avLst>
                  <a:gd fmla="val 11538" name="adj"/>
                </a:avLst>
              </a:prstGeom>
              <a:solidFill>
                <a:srgbClr val="1E293B"/>
              </a:solidFill>
              <a:ln cap="flat" cmpd="sng" w="9525">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9" name="Google Shape;939;p26"/>
              <p:cNvSpPr txBox="1"/>
              <p:nvPr/>
            </p:nvSpPr>
            <p:spPr>
              <a:xfrm>
                <a:off x="114300" y="0"/>
                <a:ext cx="29148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472B6"/>
                    </a:solidFill>
                    <a:latin typeface="Inter"/>
                    <a:ea typeface="Inter"/>
                    <a:cs typeface="Inter"/>
                    <a:sym typeface="Inter"/>
                  </a:rPr>
                  <a:t>Small Parts</a:t>
                </a:r>
                <a:endParaRPr b="1" sz="900">
                  <a:solidFill>
                    <a:srgbClr val="F472B6"/>
                  </a:solidFill>
                  <a:latin typeface="Inter"/>
                  <a:ea typeface="Inter"/>
                  <a:cs typeface="Inter"/>
                  <a:sym typeface="Inter"/>
                </a:endParaRPr>
              </a:p>
              <a:p>
                <a:pPr indent="0" lvl="0" marL="0" rtl="0" algn="l">
                  <a:spcBef>
                    <a:spcPts val="0"/>
                  </a:spcBef>
                  <a:spcAft>
                    <a:spcPts val="0"/>
                  </a:spcAft>
                  <a:buNone/>
                </a:pPr>
                <a:r>
                  <a:rPr lang="en" sz="800">
                    <a:solidFill>
                      <a:srgbClr val="F3F6FB"/>
                    </a:solidFill>
                    <a:latin typeface="Inter"/>
                    <a:ea typeface="Inter"/>
                    <a:cs typeface="Inter"/>
                    <a:sym typeface="Inter"/>
                  </a:rPr>
                  <a:t>Missed regions → target disappears from system</a:t>
                </a:r>
                <a:endParaRPr sz="800">
                  <a:solidFill>
                    <a:srgbClr val="F3F6FB"/>
                  </a:solidFill>
                  <a:latin typeface="Inter"/>
                  <a:ea typeface="Inter"/>
                  <a:cs typeface="Inter"/>
                  <a:sym typeface="Inter"/>
                </a:endParaRPr>
              </a:p>
            </p:txBody>
          </p:sp>
        </p:grpSp>
        <p:grpSp>
          <p:nvGrpSpPr>
            <p:cNvPr id="940" name="Google Shape;940;p26"/>
            <p:cNvGrpSpPr/>
            <p:nvPr/>
          </p:nvGrpSpPr>
          <p:grpSpPr>
            <a:xfrm>
              <a:off x="0" y="1714500"/>
              <a:ext cx="3143400" cy="495300"/>
              <a:chOff x="0" y="0"/>
              <a:chExt cx="3143400" cy="495300"/>
            </a:xfrm>
          </p:grpSpPr>
          <p:sp>
            <p:nvSpPr>
              <p:cNvPr id="941" name="Google Shape;941;p26"/>
              <p:cNvSpPr/>
              <p:nvPr/>
            </p:nvSpPr>
            <p:spPr>
              <a:xfrm>
                <a:off x="0" y="0"/>
                <a:ext cx="3143400" cy="495300"/>
              </a:xfrm>
              <a:prstGeom prst="roundRect">
                <a:avLst>
                  <a:gd fmla="val 11538" name="adj"/>
                </a:avLst>
              </a:prstGeom>
              <a:solidFill>
                <a:srgbClr val="1E293B"/>
              </a:solidFill>
              <a:ln cap="flat" cmpd="sng" w="9525">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2" name="Google Shape;942;p26"/>
              <p:cNvSpPr txBox="1"/>
              <p:nvPr/>
            </p:nvSpPr>
            <p:spPr>
              <a:xfrm>
                <a:off x="114300" y="0"/>
                <a:ext cx="29148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4FD1C5"/>
                    </a:solidFill>
                    <a:latin typeface="Inter"/>
                    <a:ea typeface="Inter"/>
                    <a:cs typeface="Inter"/>
                    <a:sym typeface="Inter"/>
                  </a:rPr>
                  <a:t>Occlusion</a:t>
                </a:r>
                <a:endParaRPr b="1" sz="900">
                  <a:solidFill>
                    <a:srgbClr val="4FD1C5"/>
                  </a:solidFill>
                  <a:latin typeface="Inter"/>
                  <a:ea typeface="Inter"/>
                  <a:cs typeface="Inter"/>
                  <a:sym typeface="Inter"/>
                </a:endParaRPr>
              </a:p>
              <a:p>
                <a:pPr indent="0" lvl="0" marL="0" rtl="0" algn="l">
                  <a:spcBef>
                    <a:spcPts val="0"/>
                  </a:spcBef>
                  <a:spcAft>
                    <a:spcPts val="0"/>
                  </a:spcAft>
                  <a:buNone/>
                </a:pPr>
                <a:r>
                  <a:rPr lang="en" sz="800">
                    <a:solidFill>
                      <a:srgbClr val="F3F6FB"/>
                    </a:solidFill>
                    <a:latin typeface="Inter"/>
                    <a:ea typeface="Inter"/>
                    <a:cs typeface="Inter"/>
                    <a:sym typeface="Inter"/>
                  </a:rPr>
                  <a:t>Incomplete masks → unstable tracking</a:t>
                </a:r>
                <a:endParaRPr sz="800">
                  <a:solidFill>
                    <a:srgbClr val="F3F6FB"/>
                  </a:solidFill>
                  <a:latin typeface="Inter"/>
                  <a:ea typeface="Inter"/>
                  <a:cs typeface="Inter"/>
                  <a:sym typeface="Inter"/>
                </a:endParaRPr>
              </a:p>
            </p:txBody>
          </p:sp>
        </p:grpSp>
        <p:grpSp>
          <p:nvGrpSpPr>
            <p:cNvPr id="943" name="Google Shape;943;p26"/>
            <p:cNvGrpSpPr/>
            <p:nvPr/>
          </p:nvGrpSpPr>
          <p:grpSpPr>
            <a:xfrm>
              <a:off x="0" y="2286000"/>
              <a:ext cx="3143400" cy="495300"/>
              <a:chOff x="0" y="0"/>
              <a:chExt cx="3143400" cy="495300"/>
            </a:xfrm>
          </p:grpSpPr>
          <p:sp>
            <p:nvSpPr>
              <p:cNvPr id="944" name="Google Shape;944;p26"/>
              <p:cNvSpPr/>
              <p:nvPr/>
            </p:nvSpPr>
            <p:spPr>
              <a:xfrm>
                <a:off x="0" y="0"/>
                <a:ext cx="3143400" cy="495300"/>
              </a:xfrm>
              <a:prstGeom prst="roundRect">
                <a:avLst>
                  <a:gd fmla="val 11538" name="adj"/>
                </a:avLst>
              </a:prstGeom>
              <a:solidFill>
                <a:srgbClr val="1E293B"/>
              </a:solidFill>
              <a:ln cap="flat" cmpd="sng" w="9525">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5" name="Google Shape;945;p26"/>
              <p:cNvSpPr txBox="1"/>
              <p:nvPr/>
            </p:nvSpPr>
            <p:spPr>
              <a:xfrm>
                <a:off x="114300" y="0"/>
                <a:ext cx="29148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00">
                    <a:solidFill>
                      <a:srgbClr val="F87171"/>
                    </a:solidFill>
                    <a:latin typeface="Inter"/>
                    <a:ea typeface="Inter"/>
                    <a:cs typeface="Inter"/>
                    <a:sym typeface="Inter"/>
                  </a:rPr>
                  <a:t>Dynamic Body</a:t>
                </a:r>
                <a:endParaRPr b="1" sz="900">
                  <a:solidFill>
                    <a:srgbClr val="F87171"/>
                  </a:solidFill>
                  <a:latin typeface="Inter"/>
                  <a:ea typeface="Inter"/>
                  <a:cs typeface="Inter"/>
                  <a:sym typeface="Inter"/>
                </a:endParaRPr>
              </a:p>
              <a:p>
                <a:pPr indent="0" lvl="0" marL="0" rtl="0" algn="l">
                  <a:spcBef>
                    <a:spcPts val="0"/>
                  </a:spcBef>
                  <a:spcAft>
                    <a:spcPts val="0"/>
                  </a:spcAft>
                  <a:buNone/>
                </a:pPr>
                <a:r>
                  <a:rPr lang="en" sz="800">
                    <a:solidFill>
                      <a:srgbClr val="F3F6FB"/>
                    </a:solidFill>
                    <a:latin typeface="Inter"/>
                    <a:ea typeface="Inter"/>
                    <a:cs typeface="Inter"/>
                    <a:sym typeface="Inter"/>
                  </a:rPr>
                  <a:t>Self-scene confusion → robot body confused with target</a:t>
                </a:r>
                <a:endParaRPr sz="800">
                  <a:solidFill>
                    <a:srgbClr val="F3F6FB"/>
                  </a:solidFill>
                  <a:latin typeface="Inter"/>
                  <a:ea typeface="Inter"/>
                  <a:cs typeface="Inter"/>
                  <a:sym typeface="Inter"/>
                </a:endParaRPr>
              </a:p>
            </p:txBody>
          </p:sp>
        </p:grpSp>
      </p:grpSp>
      <p:grpSp>
        <p:nvGrpSpPr>
          <p:cNvPr id="946" name="Google Shape;946;p26"/>
          <p:cNvGrpSpPr/>
          <p:nvPr/>
        </p:nvGrpSpPr>
        <p:grpSpPr>
          <a:xfrm>
            <a:off x="475310" y="4233482"/>
            <a:ext cx="8205900" cy="504900"/>
            <a:chOff x="-4762" y="-4762"/>
            <a:chExt cx="8205900" cy="504900"/>
          </a:xfrm>
        </p:grpSpPr>
        <p:pic>
          <p:nvPicPr>
            <p:cNvPr id="947" name="Google Shape;947;p26"/>
            <p:cNvPicPr preferRelativeResize="0"/>
            <p:nvPr/>
          </p:nvPicPr>
          <p:blipFill rotWithShape="1">
            <a:blip r:embed="rId8">
              <a:alphaModFix/>
            </a:blip>
            <a:srcRect b="0" l="0" r="0" t="0"/>
            <a:stretch/>
          </p:blipFill>
          <p:spPr>
            <a:xfrm>
              <a:off x="-4762" y="-4762"/>
              <a:ext cx="8205900" cy="504900"/>
            </a:xfrm>
            <a:prstGeom prst="rect">
              <a:avLst/>
            </a:prstGeom>
            <a:noFill/>
            <a:ln>
              <a:noFill/>
            </a:ln>
          </p:spPr>
        </p:pic>
        <p:sp>
          <p:nvSpPr>
            <p:cNvPr id="948" name="Google Shape;948;p26"/>
            <p:cNvSpPr txBox="1"/>
            <p:nvPr/>
          </p:nvSpPr>
          <p:spPr>
            <a:xfrm>
              <a:off x="171450" y="0"/>
              <a:ext cx="7852500" cy="493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3F6FB"/>
                  </a:solidFill>
                  <a:latin typeface="Inter"/>
                  <a:ea typeface="Inter"/>
                  <a:cs typeface="Inter"/>
                  <a:sym typeface="Inter"/>
                </a:rPr>
                <a:t>The failure category can matter more than the average leaderboard rank. Per-condition evaluation reveals dangerous robotic failures hidden in average scores.</a:t>
              </a:r>
              <a:endParaRPr b="1" sz="800">
                <a:solidFill>
                  <a:srgbClr val="F3F6FB"/>
                </a:solidFill>
                <a:latin typeface="Inter"/>
                <a:ea typeface="Inter"/>
                <a:cs typeface="Inter"/>
                <a:sym typeface="Inter"/>
              </a:endParaRPr>
            </a:p>
          </p:txBody>
        </p:sp>
      </p:grpSp>
      <p:grpSp>
        <p:nvGrpSpPr>
          <p:cNvPr id="949" name="Google Shape;949;p26"/>
          <p:cNvGrpSpPr/>
          <p:nvPr/>
        </p:nvGrpSpPr>
        <p:grpSpPr>
          <a:xfrm>
            <a:off x="308619" y="4903470"/>
            <a:ext cx="8401165" cy="109800"/>
            <a:chOff x="308619" y="4903470"/>
            <a:chExt cx="8401165" cy="109800"/>
          </a:xfrm>
        </p:grpSpPr>
        <p:sp>
          <p:nvSpPr>
            <p:cNvPr id="950" name="Google Shape;950;p26"/>
            <p:cNvSpPr txBox="1"/>
            <p:nvPr/>
          </p:nvSpPr>
          <p:spPr>
            <a:xfrm>
              <a:off x="308619" y="4903470"/>
              <a:ext cx="3771900" cy="109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500">
                  <a:solidFill>
                    <a:srgbClr val="94A3B8"/>
                  </a:solidFill>
                  <a:latin typeface="Inter"/>
                  <a:ea typeface="Inter"/>
                  <a:cs typeface="Inter"/>
                  <a:sym typeface="Inter"/>
                </a:rPr>
                <a:t>Challenge robustness</a:t>
              </a:r>
              <a:endParaRPr b="0" sz="500">
                <a:solidFill>
                  <a:srgbClr val="94A3B8"/>
                </a:solidFill>
                <a:latin typeface="Inter"/>
                <a:ea typeface="Inter"/>
                <a:cs typeface="Inter"/>
                <a:sym typeface="Inter"/>
              </a:endParaRPr>
            </a:p>
          </p:txBody>
        </p:sp>
        <p:sp>
          <p:nvSpPr>
            <p:cNvPr id="951" name="Google Shape;951;p26"/>
            <p:cNvSpPr txBox="1"/>
            <p:nvPr/>
          </p:nvSpPr>
          <p:spPr>
            <a:xfrm>
              <a:off x="4594984" y="4903470"/>
              <a:ext cx="4114800" cy="1098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500">
                  <a:solidFill>
                    <a:srgbClr val="94A3B8"/>
                  </a:solidFill>
                  <a:latin typeface="Inter"/>
                  <a:ea typeface="Inter"/>
                  <a:cs typeface="Inter"/>
                  <a:sym typeface="Inter"/>
                </a:rPr>
                <a:t>Project figure: challenge_group_weighted_iou.png</a:t>
              </a:r>
              <a:endParaRPr b="0" sz="500">
                <a:solidFill>
                  <a:srgbClr val="94A3B8"/>
                </a:solidFill>
                <a:latin typeface="Inter"/>
                <a:ea typeface="Inter"/>
                <a:cs typeface="Inter"/>
                <a:sym typeface="Inte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6" name="Shape 956"/>
        <p:cNvGrpSpPr/>
        <p:nvPr/>
      </p:nvGrpSpPr>
      <p:grpSpPr>
        <a:xfrm>
          <a:off x="0" y="0"/>
          <a:ext cx="0" cy="0"/>
          <a:chOff x="0" y="0"/>
          <a:chExt cx="0" cy="0"/>
        </a:xfrm>
      </p:grpSpPr>
      <p:cxnSp>
        <p:nvCxnSpPr>
          <p:cNvPr id="957" name="Google Shape;957;p27"/>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958" name="Google Shape;958;p27"/>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sp>
        <p:nvSpPr>
          <p:cNvPr id="959" name="Google Shape;959;p27"/>
          <p:cNvSpPr/>
          <p:nvPr/>
        </p:nvSpPr>
        <p:spPr>
          <a:xfrm>
            <a:off x="381000" y="285750"/>
            <a:ext cx="8382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3F6FB"/>
                </a:solidFill>
                <a:latin typeface="Inter"/>
                <a:ea typeface="Inter"/>
                <a:cs typeface="Inter"/>
                <a:sym typeface="Inter"/>
              </a:rPr>
              <a:t>Failure Mode Analysis: Where Models Break</a:t>
            </a:r>
            <a:endParaRPr b="1" sz="2800">
              <a:solidFill>
                <a:srgbClr val="F3F6FB"/>
              </a:solidFill>
              <a:latin typeface="Inter"/>
              <a:ea typeface="Inter"/>
              <a:cs typeface="Inter"/>
              <a:sym typeface="Inter"/>
            </a:endParaRPr>
          </a:p>
        </p:txBody>
      </p:sp>
      <p:cxnSp>
        <p:nvCxnSpPr>
          <p:cNvPr id="960" name="Google Shape;960;p27"/>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sp>
        <p:nvSpPr>
          <p:cNvPr id="961" name="Google Shape;961;p27"/>
          <p:cNvSpPr/>
          <p:nvPr/>
        </p:nvSpPr>
        <p:spPr>
          <a:xfrm>
            <a:off x="381000" y="714375"/>
            <a:ext cx="83820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1100">
                <a:solidFill>
                  <a:srgbClr val="55B6FF"/>
                </a:solidFill>
                <a:latin typeface="Inter"/>
                <a:ea typeface="Inter"/>
                <a:cs typeface="Inter"/>
                <a:sym typeface="Inter"/>
              </a:rPr>
              <a:t>Qualitative failures explain the robotic risk behind the metrics.</a:t>
            </a:r>
            <a:endParaRPr b="0" i="1" sz="1100">
              <a:solidFill>
                <a:srgbClr val="55B6FF"/>
              </a:solidFill>
              <a:latin typeface="Inter"/>
              <a:ea typeface="Inter"/>
              <a:cs typeface="Inter"/>
              <a:sym typeface="Inter"/>
            </a:endParaRPr>
          </a:p>
        </p:txBody>
      </p:sp>
      <p:cxnSp>
        <p:nvCxnSpPr>
          <p:cNvPr id="962" name="Google Shape;962;p27"/>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963" name="Google Shape;963;p27"/>
          <p:cNvGrpSpPr/>
          <p:nvPr/>
        </p:nvGrpSpPr>
        <p:grpSpPr>
          <a:xfrm>
            <a:off x="381000" y="1143000"/>
            <a:ext cx="4095900" cy="1428900"/>
            <a:chOff x="0" y="0"/>
            <a:chExt cx="4095900" cy="1428900"/>
          </a:xfrm>
        </p:grpSpPr>
        <p:sp>
          <p:nvSpPr>
            <p:cNvPr id="964" name="Google Shape;964;p27"/>
            <p:cNvSpPr/>
            <p:nvPr/>
          </p:nvSpPr>
          <p:spPr>
            <a:xfrm>
              <a:off x="0" y="0"/>
              <a:ext cx="4095900" cy="1428900"/>
            </a:xfrm>
            <a:prstGeom prst="roundRect">
              <a:avLst>
                <a:gd fmla="val 5333" name="adj"/>
              </a:avLst>
            </a:prstGeom>
            <a:solidFill>
              <a:srgbClr val="111827"/>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65" name="Google Shape;965;p27"/>
            <p:cNvGrpSpPr/>
            <p:nvPr/>
          </p:nvGrpSpPr>
          <p:grpSpPr>
            <a:xfrm>
              <a:off x="95250" y="95250"/>
              <a:ext cx="1714500" cy="1238400"/>
              <a:chOff x="0" y="0"/>
              <a:chExt cx="1714500" cy="1238400"/>
            </a:xfrm>
          </p:grpSpPr>
          <p:pic>
            <p:nvPicPr>
              <p:cNvPr id="966" name="Google Shape;966;p27"/>
              <p:cNvPicPr preferRelativeResize="0"/>
              <p:nvPr/>
            </p:nvPicPr>
            <p:blipFill rotWithShape="1">
              <a:blip r:embed="rId4">
                <a:alphaModFix/>
              </a:blip>
              <a:srcRect b="1858" l="0" r="0" t="1849"/>
              <a:stretch/>
            </p:blipFill>
            <p:spPr>
              <a:xfrm>
                <a:off x="0" y="0"/>
                <a:ext cx="1714500" cy="1238400"/>
              </a:xfrm>
              <a:prstGeom prst="rect">
                <a:avLst/>
              </a:prstGeom>
              <a:noFill/>
              <a:ln>
                <a:noFill/>
              </a:ln>
            </p:spPr>
          </p:pic>
          <p:sp>
            <p:nvSpPr>
              <p:cNvPr id="967" name="Google Shape;967;p27"/>
              <p:cNvSpPr/>
              <p:nvPr/>
            </p:nvSpPr>
            <p:spPr>
              <a:xfrm>
                <a:off x="809625" y="476250"/>
                <a:ext cx="285900" cy="285900"/>
              </a:xfrm>
              <a:prstGeom prst="ellipse">
                <a:avLst/>
              </a:prstGeom>
              <a:solidFill>
                <a:srgbClr val="000000">
                  <a:alpha val="0"/>
                </a:srgbClr>
              </a:solidFill>
              <a:ln cap="flat" cmpd="sng" w="19050">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8" name="Google Shape;968;p27"/>
              <p:cNvSpPr/>
              <p:nvPr/>
            </p:nvSpPr>
            <p:spPr>
              <a:xfrm>
                <a:off x="47625" y="47625"/>
                <a:ext cx="762000" cy="152400"/>
              </a:xfrm>
              <a:prstGeom prst="roundRect">
                <a:avLst>
                  <a:gd fmla="val 12500" name="adj"/>
                </a:avLst>
              </a:prstGeom>
              <a:solidFill>
                <a:srgbClr val="F87171">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9" name="Google Shape;969;p27"/>
              <p:cNvSpPr txBox="1"/>
              <p:nvPr/>
            </p:nvSpPr>
            <p:spPr>
              <a:xfrm>
                <a:off x="47625" y="47625"/>
                <a:ext cx="7620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FFFFFF"/>
                    </a:solidFill>
                    <a:latin typeface="Inter"/>
                    <a:ea typeface="Inter"/>
                    <a:cs typeface="Inter"/>
                    <a:sym typeface="Inter"/>
                  </a:rPr>
                  <a:t>MISSED TARGET</a:t>
                </a:r>
                <a:endParaRPr b="1" sz="700">
                  <a:solidFill>
                    <a:srgbClr val="FFFFFF"/>
                  </a:solidFill>
                  <a:latin typeface="Inter"/>
                  <a:ea typeface="Inter"/>
                  <a:cs typeface="Inter"/>
                  <a:sym typeface="Inter"/>
                </a:endParaRPr>
              </a:p>
            </p:txBody>
          </p:sp>
        </p:grpSp>
        <p:sp>
          <p:nvSpPr>
            <p:cNvPr id="970" name="Google Shape;970;p27"/>
            <p:cNvSpPr txBox="1"/>
            <p:nvPr/>
          </p:nvSpPr>
          <p:spPr>
            <a:xfrm>
              <a:off x="1905000" y="95250"/>
              <a:ext cx="2095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87171"/>
                  </a:solidFill>
                  <a:latin typeface="Inter"/>
                  <a:ea typeface="Inter"/>
                  <a:cs typeface="Inter"/>
                  <a:sym typeface="Inter"/>
                </a:rPr>
                <a:t>Small part failure</a:t>
              </a:r>
              <a:endParaRPr b="1" sz="1200">
                <a:solidFill>
                  <a:srgbClr val="F87171"/>
                </a:solidFill>
                <a:latin typeface="Inter"/>
                <a:ea typeface="Inter"/>
                <a:cs typeface="Inter"/>
                <a:sym typeface="Inter"/>
              </a:endParaRPr>
            </a:p>
            <a:p>
              <a:pPr indent="0" lvl="0" marL="0" rtl="0" algn="l">
                <a:spcBef>
                  <a:spcPts val="300"/>
                </a:spcBef>
                <a:spcAft>
                  <a:spcPts val="0"/>
                </a:spcAft>
                <a:buNone/>
              </a:pPr>
              <a:r>
                <a:rPr b="1" lang="en" sz="900">
                  <a:solidFill>
                    <a:srgbClr val="94A3B8"/>
                  </a:solidFill>
                  <a:latin typeface="Inter"/>
                  <a:ea typeface="Inter"/>
                  <a:cs typeface="Inter"/>
                  <a:sym typeface="Inter"/>
                </a:rPr>
                <a:t>Failure:</a:t>
              </a:r>
              <a:r>
                <a:rPr lang="en" sz="900">
                  <a:solidFill>
                    <a:srgbClr val="94A3B8"/>
                  </a:solidFill>
                  <a:latin typeface="Inter"/>
                  <a:ea typeface="Inter"/>
                  <a:cs typeface="Inter"/>
                  <a:sym typeface="Inter"/>
                </a:rPr>
                <a:t> tiny screw / connector missed</a:t>
              </a:r>
              <a:endParaRPr sz="900">
                <a:solidFill>
                  <a:srgbClr val="94A3B8"/>
                </a:solidFill>
                <a:latin typeface="Inter"/>
                <a:ea typeface="Inter"/>
                <a:cs typeface="Inter"/>
                <a:sym typeface="Inter"/>
              </a:endParaRPr>
            </a:p>
            <a:p>
              <a:pPr indent="0" lvl="0" marL="0" rtl="0" algn="l">
                <a:spcBef>
                  <a:spcPts val="600"/>
                </a:spcBef>
                <a:spcAft>
                  <a:spcPts val="0"/>
                </a:spcAft>
                <a:buNone/>
              </a:pPr>
              <a:r>
                <a:rPr b="1" lang="en" sz="900">
                  <a:solidFill>
                    <a:srgbClr val="F3F6FB"/>
                  </a:solidFill>
                  <a:latin typeface="Inter"/>
                  <a:ea typeface="Inter"/>
                  <a:cs typeface="Inter"/>
                  <a:sym typeface="Inter"/>
                </a:rPr>
                <a:t>Risk:</a:t>
              </a:r>
              <a:r>
                <a:rPr lang="en" sz="900">
                  <a:solidFill>
                    <a:srgbClr val="CBD5E1"/>
                  </a:solidFill>
                  <a:latin typeface="Inter"/>
                  <a:ea typeface="Inter"/>
                  <a:cs typeface="Inter"/>
                  <a:sym typeface="Inter"/>
                </a:rPr>
                <a:t> target may disappear from object representation</a:t>
              </a:r>
              <a:endParaRPr sz="900">
                <a:solidFill>
                  <a:srgbClr val="CBD5E1"/>
                </a:solidFill>
                <a:latin typeface="Inter"/>
                <a:ea typeface="Inter"/>
                <a:cs typeface="Inter"/>
                <a:sym typeface="Inter"/>
              </a:endParaRPr>
            </a:p>
          </p:txBody>
        </p:sp>
      </p:grpSp>
      <p:cxnSp>
        <p:nvCxnSpPr>
          <p:cNvPr id="971" name="Google Shape;971;p27"/>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972" name="Google Shape;972;p27"/>
          <p:cNvGrpSpPr/>
          <p:nvPr/>
        </p:nvGrpSpPr>
        <p:grpSpPr>
          <a:xfrm>
            <a:off x="4667250" y="1143000"/>
            <a:ext cx="4095900" cy="1428900"/>
            <a:chOff x="0" y="0"/>
            <a:chExt cx="4095900" cy="1428900"/>
          </a:xfrm>
        </p:grpSpPr>
        <p:sp>
          <p:nvSpPr>
            <p:cNvPr id="973" name="Google Shape;973;p27"/>
            <p:cNvSpPr/>
            <p:nvPr/>
          </p:nvSpPr>
          <p:spPr>
            <a:xfrm>
              <a:off x="0" y="0"/>
              <a:ext cx="4095900" cy="1428900"/>
            </a:xfrm>
            <a:prstGeom prst="roundRect">
              <a:avLst>
                <a:gd fmla="val 5333" name="adj"/>
              </a:avLst>
            </a:prstGeom>
            <a:solidFill>
              <a:srgbClr val="111827"/>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74" name="Google Shape;974;p27"/>
            <p:cNvGrpSpPr/>
            <p:nvPr/>
          </p:nvGrpSpPr>
          <p:grpSpPr>
            <a:xfrm>
              <a:off x="95250" y="95250"/>
              <a:ext cx="1714500" cy="1238400"/>
              <a:chOff x="0" y="0"/>
              <a:chExt cx="1714500" cy="1238400"/>
            </a:xfrm>
          </p:grpSpPr>
          <p:pic>
            <p:nvPicPr>
              <p:cNvPr id="975" name="Google Shape;975;p27"/>
              <p:cNvPicPr preferRelativeResize="0"/>
              <p:nvPr/>
            </p:nvPicPr>
            <p:blipFill rotWithShape="1">
              <a:blip r:embed="rId5">
                <a:alphaModFix/>
              </a:blip>
              <a:srcRect b="1858" l="0" r="0" t="1849"/>
              <a:stretch/>
            </p:blipFill>
            <p:spPr>
              <a:xfrm>
                <a:off x="0" y="0"/>
                <a:ext cx="1714500" cy="1238400"/>
              </a:xfrm>
              <a:prstGeom prst="rect">
                <a:avLst/>
              </a:prstGeom>
              <a:noFill/>
              <a:ln>
                <a:noFill/>
              </a:ln>
            </p:spPr>
          </p:pic>
          <p:pic>
            <p:nvPicPr>
              <p:cNvPr id="976" name="Google Shape;976;p27"/>
              <p:cNvPicPr preferRelativeResize="0"/>
              <p:nvPr/>
            </p:nvPicPr>
            <p:blipFill rotWithShape="1">
              <a:blip r:embed="rId6">
                <a:alphaModFix/>
              </a:blip>
              <a:srcRect b="0" l="0" r="0" t="0"/>
              <a:stretch/>
            </p:blipFill>
            <p:spPr>
              <a:xfrm>
                <a:off x="1133475" y="371475"/>
                <a:ext cx="209700" cy="209700"/>
              </a:xfrm>
              <a:prstGeom prst="rect">
                <a:avLst/>
              </a:prstGeom>
              <a:noFill/>
              <a:ln>
                <a:noFill/>
              </a:ln>
            </p:spPr>
          </p:pic>
          <p:sp>
            <p:nvSpPr>
              <p:cNvPr id="977" name="Google Shape;977;p27"/>
              <p:cNvSpPr/>
              <p:nvPr/>
            </p:nvSpPr>
            <p:spPr>
              <a:xfrm>
                <a:off x="47625" y="47625"/>
                <a:ext cx="857400" cy="152400"/>
              </a:xfrm>
              <a:prstGeom prst="roundRect">
                <a:avLst>
                  <a:gd fmla="val 12500" name="adj"/>
                </a:avLst>
              </a:prstGeom>
              <a:solidFill>
                <a:srgbClr val="F87171">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8" name="Google Shape;978;p27"/>
              <p:cNvSpPr txBox="1"/>
              <p:nvPr/>
            </p:nvSpPr>
            <p:spPr>
              <a:xfrm>
                <a:off x="47625" y="47625"/>
                <a:ext cx="8574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FFFFFF"/>
                    </a:solidFill>
                    <a:latin typeface="Inter"/>
                    <a:ea typeface="Inter"/>
                    <a:cs typeface="Inter"/>
                    <a:sym typeface="Inter"/>
                  </a:rPr>
                  <a:t>WEAK BOUNDARY</a:t>
                </a:r>
                <a:endParaRPr b="1" sz="700">
                  <a:solidFill>
                    <a:srgbClr val="FFFFFF"/>
                  </a:solidFill>
                  <a:latin typeface="Inter"/>
                  <a:ea typeface="Inter"/>
                  <a:cs typeface="Inter"/>
                  <a:sym typeface="Inter"/>
                </a:endParaRPr>
              </a:p>
            </p:txBody>
          </p:sp>
        </p:grpSp>
        <p:sp>
          <p:nvSpPr>
            <p:cNvPr id="979" name="Google Shape;979;p27"/>
            <p:cNvSpPr txBox="1"/>
            <p:nvPr/>
          </p:nvSpPr>
          <p:spPr>
            <a:xfrm>
              <a:off x="1905000" y="95250"/>
              <a:ext cx="2095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87171"/>
                  </a:solidFill>
                  <a:latin typeface="Inter"/>
                  <a:ea typeface="Inter"/>
                  <a:cs typeface="Inter"/>
                  <a:sym typeface="Inter"/>
                </a:rPr>
                <a:t>Transparent object failure</a:t>
              </a:r>
              <a:endParaRPr b="1" sz="1200">
                <a:solidFill>
                  <a:srgbClr val="F87171"/>
                </a:solidFill>
                <a:latin typeface="Inter"/>
                <a:ea typeface="Inter"/>
                <a:cs typeface="Inter"/>
                <a:sym typeface="Inter"/>
              </a:endParaRPr>
            </a:p>
            <a:p>
              <a:pPr indent="0" lvl="0" marL="0" rtl="0" algn="l">
                <a:spcBef>
                  <a:spcPts val="300"/>
                </a:spcBef>
                <a:spcAft>
                  <a:spcPts val="0"/>
                </a:spcAft>
                <a:buNone/>
              </a:pPr>
              <a:r>
                <a:rPr b="1" lang="en" sz="900">
                  <a:solidFill>
                    <a:srgbClr val="94A3B8"/>
                  </a:solidFill>
                  <a:latin typeface="Inter"/>
                  <a:ea typeface="Inter"/>
                  <a:cs typeface="Inter"/>
                  <a:sym typeface="Inter"/>
                </a:rPr>
                <a:t>Failure:</a:t>
              </a:r>
              <a:r>
                <a:rPr lang="en" sz="900">
                  <a:solidFill>
                    <a:srgbClr val="94A3B8"/>
                  </a:solidFill>
                  <a:latin typeface="Inter"/>
                  <a:ea typeface="Inter"/>
                  <a:cs typeface="Inter"/>
                  <a:sym typeface="Inter"/>
                </a:rPr>
                <a:t> weak boundary; background bleed</a:t>
              </a:r>
              <a:endParaRPr sz="900">
                <a:solidFill>
                  <a:srgbClr val="94A3B8"/>
                </a:solidFill>
                <a:latin typeface="Inter"/>
                <a:ea typeface="Inter"/>
                <a:cs typeface="Inter"/>
                <a:sym typeface="Inter"/>
              </a:endParaRPr>
            </a:p>
            <a:p>
              <a:pPr indent="0" lvl="0" marL="0" rtl="0" algn="l">
                <a:spcBef>
                  <a:spcPts val="600"/>
                </a:spcBef>
                <a:spcAft>
                  <a:spcPts val="0"/>
                </a:spcAft>
                <a:buNone/>
              </a:pPr>
              <a:r>
                <a:rPr b="1" lang="en" sz="900">
                  <a:solidFill>
                    <a:srgbClr val="F3F6FB"/>
                  </a:solidFill>
                  <a:latin typeface="Inter"/>
                  <a:ea typeface="Inter"/>
                  <a:cs typeface="Inter"/>
                  <a:sym typeface="Inter"/>
                </a:rPr>
                <a:t>Risk:</a:t>
              </a:r>
              <a:r>
                <a:rPr lang="en" sz="900">
                  <a:solidFill>
                    <a:srgbClr val="CBD5E1"/>
                  </a:solidFill>
                  <a:latin typeface="Inter"/>
                  <a:ea typeface="Inter"/>
                  <a:cs typeface="Inter"/>
                  <a:sym typeface="Inter"/>
                </a:rPr>
                <a:t> unreliable grasping or collision estimation</a:t>
              </a:r>
              <a:endParaRPr sz="900">
                <a:solidFill>
                  <a:srgbClr val="CBD5E1"/>
                </a:solidFill>
                <a:latin typeface="Inter"/>
                <a:ea typeface="Inter"/>
                <a:cs typeface="Inter"/>
                <a:sym typeface="Inter"/>
              </a:endParaRPr>
            </a:p>
          </p:txBody>
        </p:sp>
      </p:grpSp>
      <p:cxnSp>
        <p:nvCxnSpPr>
          <p:cNvPr id="980" name="Google Shape;980;p27"/>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981" name="Google Shape;981;p27"/>
          <p:cNvGrpSpPr/>
          <p:nvPr/>
        </p:nvGrpSpPr>
        <p:grpSpPr>
          <a:xfrm>
            <a:off x="381000" y="2714625"/>
            <a:ext cx="4095900" cy="1428900"/>
            <a:chOff x="0" y="0"/>
            <a:chExt cx="4095900" cy="1428900"/>
          </a:xfrm>
        </p:grpSpPr>
        <p:sp>
          <p:nvSpPr>
            <p:cNvPr id="982" name="Google Shape;982;p27"/>
            <p:cNvSpPr/>
            <p:nvPr/>
          </p:nvSpPr>
          <p:spPr>
            <a:xfrm>
              <a:off x="0" y="0"/>
              <a:ext cx="4095900" cy="1428900"/>
            </a:xfrm>
            <a:prstGeom prst="roundRect">
              <a:avLst>
                <a:gd fmla="val 5333" name="adj"/>
              </a:avLst>
            </a:prstGeom>
            <a:solidFill>
              <a:srgbClr val="111827"/>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3" name="Google Shape;983;p27"/>
            <p:cNvGrpSpPr/>
            <p:nvPr/>
          </p:nvGrpSpPr>
          <p:grpSpPr>
            <a:xfrm>
              <a:off x="95250" y="95250"/>
              <a:ext cx="1714500" cy="1238400"/>
              <a:chOff x="0" y="0"/>
              <a:chExt cx="1714500" cy="1238400"/>
            </a:xfrm>
          </p:grpSpPr>
          <p:pic>
            <p:nvPicPr>
              <p:cNvPr id="984" name="Google Shape;984;p27"/>
              <p:cNvPicPr preferRelativeResize="0"/>
              <p:nvPr/>
            </p:nvPicPr>
            <p:blipFill rotWithShape="1">
              <a:blip r:embed="rId7">
                <a:alphaModFix/>
              </a:blip>
              <a:srcRect b="1858" l="0" r="0" t="1849"/>
              <a:stretch/>
            </p:blipFill>
            <p:spPr>
              <a:xfrm>
                <a:off x="0" y="0"/>
                <a:ext cx="1714500" cy="1238400"/>
              </a:xfrm>
              <a:prstGeom prst="rect">
                <a:avLst/>
              </a:prstGeom>
              <a:noFill/>
              <a:ln>
                <a:noFill/>
              </a:ln>
            </p:spPr>
          </p:pic>
          <p:pic>
            <p:nvPicPr>
              <p:cNvPr id="985" name="Google Shape;985;p27"/>
              <p:cNvPicPr preferRelativeResize="0"/>
              <p:nvPr/>
            </p:nvPicPr>
            <p:blipFill rotWithShape="1">
              <a:blip r:embed="rId8">
                <a:alphaModFix/>
              </a:blip>
              <a:srcRect b="0" l="0" r="0" t="0"/>
              <a:stretch/>
            </p:blipFill>
            <p:spPr>
              <a:xfrm>
                <a:off x="371475" y="466725"/>
                <a:ext cx="590700" cy="400200"/>
              </a:xfrm>
              <a:prstGeom prst="rect">
                <a:avLst/>
              </a:prstGeom>
              <a:noFill/>
              <a:ln>
                <a:noFill/>
              </a:ln>
            </p:spPr>
          </p:pic>
          <p:sp>
            <p:nvSpPr>
              <p:cNvPr id="986" name="Google Shape;986;p27"/>
              <p:cNvSpPr/>
              <p:nvPr/>
            </p:nvSpPr>
            <p:spPr>
              <a:xfrm>
                <a:off x="47625" y="47625"/>
                <a:ext cx="1047900" cy="152400"/>
              </a:xfrm>
              <a:prstGeom prst="roundRect">
                <a:avLst>
                  <a:gd fmla="val 12500" name="adj"/>
                </a:avLst>
              </a:prstGeom>
              <a:solidFill>
                <a:srgbClr val="F87171">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7" name="Google Shape;987;p27"/>
              <p:cNvSpPr txBox="1"/>
              <p:nvPr/>
            </p:nvSpPr>
            <p:spPr>
              <a:xfrm>
                <a:off x="47625" y="47625"/>
                <a:ext cx="10479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FFFFFF"/>
                    </a:solidFill>
                    <a:latin typeface="Inter"/>
                    <a:ea typeface="Inter"/>
                    <a:cs typeface="Inter"/>
                    <a:sym typeface="Inter"/>
                  </a:rPr>
                  <a:t>SELF-OBJECT MERGE</a:t>
                </a:r>
                <a:endParaRPr b="1" sz="700">
                  <a:solidFill>
                    <a:srgbClr val="FFFFFF"/>
                  </a:solidFill>
                  <a:latin typeface="Inter"/>
                  <a:ea typeface="Inter"/>
                  <a:cs typeface="Inter"/>
                  <a:sym typeface="Inter"/>
                </a:endParaRPr>
              </a:p>
            </p:txBody>
          </p:sp>
        </p:grpSp>
        <p:sp>
          <p:nvSpPr>
            <p:cNvPr id="988" name="Google Shape;988;p27"/>
            <p:cNvSpPr txBox="1"/>
            <p:nvPr/>
          </p:nvSpPr>
          <p:spPr>
            <a:xfrm>
              <a:off x="1905000" y="95250"/>
              <a:ext cx="2095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87171"/>
                  </a:solidFill>
                  <a:latin typeface="Inter"/>
                  <a:ea typeface="Inter"/>
                  <a:cs typeface="Inter"/>
                  <a:sym typeface="Inter"/>
                </a:rPr>
                <a:t>Robot-body interference</a:t>
              </a:r>
              <a:endParaRPr b="1" sz="1200">
                <a:solidFill>
                  <a:srgbClr val="F87171"/>
                </a:solidFill>
                <a:latin typeface="Inter"/>
                <a:ea typeface="Inter"/>
                <a:cs typeface="Inter"/>
                <a:sym typeface="Inter"/>
              </a:endParaRPr>
            </a:p>
            <a:p>
              <a:pPr indent="0" lvl="0" marL="0" rtl="0" algn="l">
                <a:spcBef>
                  <a:spcPts val="300"/>
                </a:spcBef>
                <a:spcAft>
                  <a:spcPts val="0"/>
                </a:spcAft>
                <a:buNone/>
              </a:pPr>
              <a:r>
                <a:rPr b="1" lang="en" sz="900">
                  <a:solidFill>
                    <a:srgbClr val="94A3B8"/>
                  </a:solidFill>
                  <a:latin typeface="Inter"/>
                  <a:ea typeface="Inter"/>
                  <a:cs typeface="Inter"/>
                  <a:sym typeface="Inter"/>
                </a:rPr>
                <a:t>Failure:</a:t>
              </a:r>
              <a:r>
                <a:rPr lang="en" sz="900">
                  <a:solidFill>
                    <a:srgbClr val="94A3B8"/>
                  </a:solidFill>
                  <a:latin typeface="Inter"/>
                  <a:ea typeface="Inter"/>
                  <a:cs typeface="Inter"/>
                  <a:sym typeface="Inter"/>
                </a:rPr>
                <a:t> self-robot pixels merge with scene</a:t>
              </a:r>
              <a:endParaRPr sz="900">
                <a:solidFill>
                  <a:srgbClr val="94A3B8"/>
                </a:solidFill>
                <a:latin typeface="Inter"/>
                <a:ea typeface="Inter"/>
                <a:cs typeface="Inter"/>
                <a:sym typeface="Inter"/>
              </a:endParaRPr>
            </a:p>
            <a:p>
              <a:pPr indent="0" lvl="0" marL="0" rtl="0" algn="l">
                <a:spcBef>
                  <a:spcPts val="600"/>
                </a:spcBef>
                <a:spcAft>
                  <a:spcPts val="0"/>
                </a:spcAft>
                <a:buNone/>
              </a:pPr>
              <a:r>
                <a:rPr b="1" lang="en" sz="900">
                  <a:solidFill>
                    <a:srgbClr val="F3F6FB"/>
                  </a:solidFill>
                  <a:latin typeface="Inter"/>
                  <a:ea typeface="Inter"/>
                  <a:cs typeface="Inter"/>
                  <a:sym typeface="Inter"/>
                </a:rPr>
                <a:t>Risk:</a:t>
              </a:r>
              <a:r>
                <a:rPr lang="en" sz="900">
                  <a:solidFill>
                    <a:srgbClr val="CBD5E1"/>
                  </a:solidFill>
                  <a:latin typeface="Inter"/>
                  <a:ea typeface="Inter"/>
                  <a:cs typeface="Inter"/>
                  <a:sym typeface="Inter"/>
                </a:rPr>
                <a:t> robot confuses own body with targets</a:t>
              </a:r>
              <a:endParaRPr sz="900">
                <a:solidFill>
                  <a:srgbClr val="CBD5E1"/>
                </a:solidFill>
                <a:latin typeface="Inter"/>
                <a:ea typeface="Inter"/>
                <a:cs typeface="Inter"/>
                <a:sym typeface="Inter"/>
              </a:endParaRPr>
            </a:p>
          </p:txBody>
        </p:sp>
      </p:grpSp>
      <p:cxnSp>
        <p:nvCxnSpPr>
          <p:cNvPr id="989" name="Google Shape;989;p27"/>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990" name="Google Shape;990;p27"/>
          <p:cNvGrpSpPr/>
          <p:nvPr/>
        </p:nvGrpSpPr>
        <p:grpSpPr>
          <a:xfrm>
            <a:off x="4667250" y="2714625"/>
            <a:ext cx="4095900" cy="1428900"/>
            <a:chOff x="0" y="0"/>
            <a:chExt cx="4095900" cy="1428900"/>
          </a:xfrm>
        </p:grpSpPr>
        <p:sp>
          <p:nvSpPr>
            <p:cNvPr id="991" name="Google Shape;991;p27"/>
            <p:cNvSpPr/>
            <p:nvPr/>
          </p:nvSpPr>
          <p:spPr>
            <a:xfrm>
              <a:off x="0" y="0"/>
              <a:ext cx="4095900" cy="1428900"/>
            </a:xfrm>
            <a:prstGeom prst="roundRect">
              <a:avLst>
                <a:gd fmla="val 5333" name="adj"/>
              </a:avLst>
            </a:prstGeom>
            <a:solidFill>
              <a:srgbClr val="111827"/>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92" name="Google Shape;992;p27"/>
            <p:cNvGrpSpPr/>
            <p:nvPr/>
          </p:nvGrpSpPr>
          <p:grpSpPr>
            <a:xfrm>
              <a:off x="95250" y="95250"/>
              <a:ext cx="1714500" cy="1238400"/>
              <a:chOff x="0" y="0"/>
              <a:chExt cx="1714500" cy="1238400"/>
            </a:xfrm>
          </p:grpSpPr>
          <p:pic>
            <p:nvPicPr>
              <p:cNvPr id="993" name="Google Shape;993;p27"/>
              <p:cNvPicPr preferRelativeResize="0"/>
              <p:nvPr/>
            </p:nvPicPr>
            <p:blipFill rotWithShape="1">
              <a:blip r:embed="rId9">
                <a:alphaModFix/>
              </a:blip>
              <a:srcRect b="1858" l="0" r="0" t="1849"/>
              <a:stretch/>
            </p:blipFill>
            <p:spPr>
              <a:xfrm>
                <a:off x="0" y="0"/>
                <a:ext cx="1714500" cy="1238400"/>
              </a:xfrm>
              <a:prstGeom prst="rect">
                <a:avLst/>
              </a:prstGeom>
              <a:noFill/>
              <a:ln>
                <a:noFill/>
              </a:ln>
            </p:spPr>
          </p:pic>
          <p:sp>
            <p:nvSpPr>
              <p:cNvPr id="994" name="Google Shape;994;p27"/>
              <p:cNvSpPr/>
              <p:nvPr/>
            </p:nvSpPr>
            <p:spPr>
              <a:xfrm>
                <a:off x="666750" y="571500"/>
                <a:ext cx="381000" cy="381000"/>
              </a:xfrm>
              <a:prstGeom prst="rect">
                <a:avLst/>
              </a:prstGeom>
              <a:solidFill>
                <a:srgbClr val="000000">
                  <a:alpha val="0"/>
                </a:srgbClr>
              </a:solidFill>
              <a:ln cap="flat" cmpd="sng" w="19050">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5" name="Google Shape;995;p27"/>
              <p:cNvSpPr/>
              <p:nvPr/>
            </p:nvSpPr>
            <p:spPr>
              <a:xfrm>
                <a:off x="47625" y="47625"/>
                <a:ext cx="809700" cy="152400"/>
              </a:xfrm>
              <a:prstGeom prst="roundRect">
                <a:avLst>
                  <a:gd fmla="val 12500" name="adj"/>
                </a:avLst>
              </a:prstGeom>
              <a:solidFill>
                <a:srgbClr val="F87171">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6" name="Google Shape;996;p27"/>
              <p:cNvSpPr txBox="1"/>
              <p:nvPr/>
            </p:nvSpPr>
            <p:spPr>
              <a:xfrm>
                <a:off x="47625" y="47625"/>
                <a:ext cx="8097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rgbClr val="FFFFFF"/>
                    </a:solidFill>
                    <a:latin typeface="Inter"/>
                    <a:ea typeface="Inter"/>
                    <a:cs typeface="Inter"/>
                    <a:sym typeface="Inter"/>
                  </a:rPr>
                  <a:t>OBJECT MERGE</a:t>
                </a:r>
                <a:endParaRPr b="1" sz="700">
                  <a:solidFill>
                    <a:srgbClr val="FFFFFF"/>
                  </a:solidFill>
                  <a:latin typeface="Inter"/>
                  <a:ea typeface="Inter"/>
                  <a:cs typeface="Inter"/>
                  <a:sym typeface="Inter"/>
                </a:endParaRPr>
              </a:p>
            </p:txBody>
          </p:sp>
        </p:grpSp>
        <p:sp>
          <p:nvSpPr>
            <p:cNvPr id="997" name="Google Shape;997;p27"/>
            <p:cNvSpPr txBox="1"/>
            <p:nvPr/>
          </p:nvSpPr>
          <p:spPr>
            <a:xfrm>
              <a:off x="1905000" y="95250"/>
              <a:ext cx="2095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87171"/>
                  </a:solidFill>
                  <a:latin typeface="Inter"/>
                  <a:ea typeface="Inter"/>
                  <a:cs typeface="Inter"/>
                  <a:sym typeface="Inter"/>
                </a:rPr>
                <a:t>Real clutter and occlusion</a:t>
              </a:r>
              <a:endParaRPr b="1" sz="1200">
                <a:solidFill>
                  <a:srgbClr val="F87171"/>
                </a:solidFill>
                <a:latin typeface="Inter"/>
                <a:ea typeface="Inter"/>
                <a:cs typeface="Inter"/>
                <a:sym typeface="Inter"/>
              </a:endParaRPr>
            </a:p>
            <a:p>
              <a:pPr indent="0" lvl="0" marL="0" rtl="0" algn="l">
                <a:spcBef>
                  <a:spcPts val="300"/>
                </a:spcBef>
                <a:spcAft>
                  <a:spcPts val="0"/>
                </a:spcAft>
                <a:buNone/>
              </a:pPr>
              <a:r>
                <a:rPr b="1" lang="en" sz="900">
                  <a:solidFill>
                    <a:srgbClr val="94A3B8"/>
                  </a:solidFill>
                  <a:latin typeface="Inter"/>
                  <a:ea typeface="Inter"/>
                  <a:cs typeface="Inter"/>
                  <a:sym typeface="Inter"/>
                </a:rPr>
                <a:t>Failure:</a:t>
              </a:r>
              <a:r>
                <a:rPr lang="en" sz="900">
                  <a:solidFill>
                    <a:srgbClr val="94A3B8"/>
                  </a:solidFill>
                  <a:latin typeface="Inter"/>
                  <a:ea typeface="Inter"/>
                  <a:cs typeface="Inter"/>
                  <a:sym typeface="Inter"/>
                </a:rPr>
                <a:t> nearby objects merge; incomplete masks</a:t>
              </a:r>
              <a:endParaRPr sz="900">
                <a:solidFill>
                  <a:srgbClr val="94A3B8"/>
                </a:solidFill>
                <a:latin typeface="Inter"/>
                <a:ea typeface="Inter"/>
                <a:cs typeface="Inter"/>
                <a:sym typeface="Inter"/>
              </a:endParaRPr>
            </a:p>
            <a:p>
              <a:pPr indent="0" lvl="0" marL="0" rtl="0" algn="l">
                <a:spcBef>
                  <a:spcPts val="600"/>
                </a:spcBef>
                <a:spcAft>
                  <a:spcPts val="0"/>
                </a:spcAft>
                <a:buNone/>
              </a:pPr>
              <a:r>
                <a:rPr b="1" lang="en" sz="900">
                  <a:solidFill>
                    <a:srgbClr val="F3F6FB"/>
                  </a:solidFill>
                  <a:latin typeface="Inter"/>
                  <a:ea typeface="Inter"/>
                  <a:cs typeface="Inter"/>
                  <a:sym typeface="Inter"/>
                </a:rPr>
                <a:t>Risk:</a:t>
              </a:r>
              <a:r>
                <a:rPr lang="en" sz="900">
                  <a:solidFill>
                    <a:srgbClr val="CBD5E1"/>
                  </a:solidFill>
                  <a:latin typeface="Inter"/>
                  <a:ea typeface="Inter"/>
                  <a:cs typeface="Inter"/>
                  <a:sym typeface="Inter"/>
                </a:rPr>
                <a:t> tracking, grasping, or counting failure</a:t>
              </a:r>
              <a:endParaRPr sz="900">
                <a:solidFill>
                  <a:srgbClr val="CBD5E1"/>
                </a:solidFill>
                <a:latin typeface="Inter"/>
                <a:ea typeface="Inter"/>
                <a:cs typeface="Inter"/>
                <a:sym typeface="Inter"/>
              </a:endParaRPr>
            </a:p>
          </p:txBody>
        </p:sp>
      </p:grpSp>
      <p:cxnSp>
        <p:nvCxnSpPr>
          <p:cNvPr id="998" name="Google Shape;998;p27"/>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999" name="Google Shape;999;p27"/>
          <p:cNvGrpSpPr/>
          <p:nvPr/>
        </p:nvGrpSpPr>
        <p:grpSpPr>
          <a:xfrm>
            <a:off x="381000" y="4333875"/>
            <a:ext cx="8382000" cy="571500"/>
            <a:chOff x="0" y="0"/>
            <a:chExt cx="8382000" cy="571500"/>
          </a:xfrm>
        </p:grpSpPr>
        <p:sp>
          <p:nvSpPr>
            <p:cNvPr id="1000" name="Google Shape;1000;p27"/>
            <p:cNvSpPr/>
            <p:nvPr/>
          </p:nvSpPr>
          <p:spPr>
            <a:xfrm>
              <a:off x="0" y="0"/>
              <a:ext cx="8382000" cy="571500"/>
            </a:xfrm>
            <a:prstGeom prst="roundRect">
              <a:avLst>
                <a:gd fmla="val 13333" name="adj"/>
              </a:avLst>
            </a:prstGeom>
            <a:solidFill>
              <a:srgbClr val="1E3A8A"/>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1" name="Google Shape;1001;p27"/>
            <p:cNvSpPr txBox="1"/>
            <p:nvPr/>
          </p:nvSpPr>
          <p:spPr>
            <a:xfrm>
              <a:off x="0" y="0"/>
              <a:ext cx="8382000" cy="571500"/>
            </a:xfrm>
            <a:prstGeom prst="rect">
              <a:avLst/>
            </a:prstGeom>
            <a:noFill/>
            <a:ln>
              <a:noFill/>
            </a:ln>
          </p:spPr>
          <p:txBody>
            <a:bodyPr anchorCtr="0" anchor="ctr" bIns="0" lIns="381000" spcFirstLastPara="1" rIns="381000" wrap="square" tIns="0">
              <a:noAutofit/>
            </a:bodyPr>
            <a:lstStyle/>
            <a:p>
              <a:pPr indent="0" lvl="0" marL="0" rtl="0" algn="ctr">
                <a:spcBef>
                  <a:spcPts val="0"/>
                </a:spcBef>
                <a:spcAft>
                  <a:spcPts val="0"/>
                </a:spcAft>
                <a:buNone/>
              </a:pPr>
              <a:r>
                <a:rPr b="1" lang="en" sz="1200">
                  <a:solidFill>
                    <a:srgbClr val="FFFFFF"/>
                  </a:solidFill>
                  <a:latin typeface="Inter"/>
                  <a:ea typeface="Inter"/>
                  <a:cs typeface="Inter"/>
                  <a:sym typeface="Inter"/>
                </a:rPr>
                <a:t>Small mask errors can become large robotic errors: missed grasps, unsafe motion, broken tracking, or incorrect object memory.</a:t>
              </a:r>
              <a:endParaRPr b="1" sz="1200">
                <a:solidFill>
                  <a:srgbClr val="FFFFFF"/>
                </a:solidFill>
                <a:latin typeface="Inter"/>
                <a:ea typeface="Inter"/>
                <a:cs typeface="Inter"/>
                <a:sym typeface="Inter"/>
              </a:endParaRPr>
            </a:p>
          </p:txBody>
        </p:sp>
      </p:grpSp>
      <p:cxnSp>
        <p:nvCxnSpPr>
          <p:cNvPr id="1002" name="Google Shape;1002;p27"/>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03" name="Google Shape;1003;p27"/>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04" name="Google Shape;1004;p27"/>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05" name="Google Shape;1005;p27"/>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06" name="Google Shape;1006;p27"/>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07" name="Google Shape;1007;p27"/>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08" name="Google Shape;1008;p27"/>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09" name="Google Shape;1009;p27"/>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0" name="Google Shape;1010;p27"/>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1" name="Google Shape;1011;p27"/>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2" name="Google Shape;1012;p27"/>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3" name="Google Shape;1013;p27"/>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4" name="Google Shape;1014;p27"/>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5" name="Google Shape;1015;p27"/>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6" name="Google Shape;1016;p27"/>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7" name="Google Shape;1017;p27"/>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8" name="Google Shape;1018;p27"/>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19" name="Google Shape;1019;p27"/>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0" name="Google Shape;1020;p27"/>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1" name="Google Shape;1021;p27"/>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2" name="Google Shape;1022;p27"/>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3" name="Google Shape;1023;p27"/>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4" name="Google Shape;1024;p27"/>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5" name="Google Shape;1025;p27"/>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6" name="Google Shape;1026;p27"/>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7" name="Google Shape;1027;p27"/>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8" name="Google Shape;1028;p27"/>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29" name="Google Shape;1029;p27"/>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30" name="Google Shape;1030;p27"/>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31" name="Google Shape;1031;p27"/>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32" name="Google Shape;1032;p27"/>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33" name="Google Shape;1033;p27"/>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34" name="Google Shape;1034;p27"/>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35" name="Google Shape;1035;p27"/>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36" name="Google Shape;1036;p27"/>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1" name="Shape 1041"/>
        <p:cNvGrpSpPr/>
        <p:nvPr/>
      </p:nvGrpSpPr>
      <p:grpSpPr>
        <a:xfrm>
          <a:off x="0" y="0"/>
          <a:ext cx="0" cy="0"/>
          <a:chOff x="0" y="0"/>
          <a:chExt cx="0" cy="0"/>
        </a:xfrm>
      </p:grpSpPr>
      <p:cxnSp>
        <p:nvCxnSpPr>
          <p:cNvPr id="1042" name="Google Shape;1042;p28"/>
          <p:cNvCxnSpPr/>
          <p:nvPr/>
        </p:nvCxnSpPr>
        <p:spPr>
          <a:xfrm>
            <a:off x="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43" name="Google Shape;1043;p28"/>
          <p:cNvCxnSpPr/>
          <p:nvPr/>
        </p:nvCxnSpPr>
        <p:spPr>
          <a:xfrm>
            <a:off x="34290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1044" name="Google Shape;1044;p28"/>
          <p:cNvGrpSpPr/>
          <p:nvPr/>
        </p:nvGrpSpPr>
        <p:grpSpPr>
          <a:xfrm>
            <a:off x="381000" y="285750"/>
            <a:ext cx="8382000" cy="809625"/>
            <a:chOff x="0" y="0"/>
            <a:chExt cx="8382000" cy="809625"/>
          </a:xfrm>
        </p:grpSpPr>
        <p:sp>
          <p:nvSpPr>
            <p:cNvPr id="1045" name="Google Shape;1045;p28"/>
            <p:cNvSpPr txBox="1"/>
            <p:nvPr/>
          </p:nvSpPr>
          <p:spPr>
            <a:xfrm>
              <a:off x="0" y="0"/>
              <a:ext cx="8382000" cy="428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 sz="2220">
                  <a:solidFill>
                    <a:srgbClr val="F3F6FB"/>
                  </a:solidFill>
                  <a:latin typeface="Inter"/>
                  <a:ea typeface="Inter"/>
                  <a:cs typeface="Inter"/>
                  <a:sym typeface="Inter"/>
                </a:rPr>
                <a:t>Cognitive Approach: Segmentation as a Perception Module</a:t>
              </a:r>
              <a:endParaRPr b="1" sz="2220">
                <a:solidFill>
                  <a:srgbClr val="F3F6FB"/>
                </a:solidFill>
                <a:latin typeface="Inter"/>
                <a:ea typeface="Inter"/>
                <a:cs typeface="Inter"/>
                <a:sym typeface="Inter"/>
              </a:endParaRPr>
            </a:p>
          </p:txBody>
        </p:sp>
        <p:sp>
          <p:nvSpPr>
            <p:cNvPr id="1046" name="Google Shape;1046;p28"/>
            <p:cNvSpPr txBox="1"/>
            <p:nvPr/>
          </p:nvSpPr>
          <p:spPr>
            <a:xfrm>
              <a:off x="0" y="476250"/>
              <a:ext cx="8382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55B6FF"/>
                  </a:solidFill>
                  <a:latin typeface="Inter"/>
                  <a:ea typeface="Inter"/>
                  <a:cs typeface="Inter"/>
                  <a:sym typeface="Inter"/>
                </a:rPr>
                <a:t>Segmentation links visual input, attention, object representation, and action selection.</a:t>
              </a:r>
              <a:endParaRPr b="0" i="1" sz="1100">
                <a:solidFill>
                  <a:srgbClr val="55B6FF"/>
                </a:solidFill>
                <a:latin typeface="Inter"/>
                <a:ea typeface="Inter"/>
                <a:cs typeface="Inter"/>
                <a:sym typeface="Inter"/>
              </a:endParaRPr>
            </a:p>
          </p:txBody>
        </p:sp>
        <p:cxnSp>
          <p:nvCxnSpPr>
            <p:cNvPr id="1047" name="Google Shape;1047;p28"/>
            <p:cNvCxnSpPr/>
            <p:nvPr/>
          </p:nvCxnSpPr>
          <p:spPr>
            <a:xfrm>
              <a:off x="0" y="809625"/>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grpSp>
      <p:cxnSp>
        <p:nvCxnSpPr>
          <p:cNvPr id="1048" name="Google Shape;1048;p28"/>
          <p:cNvCxnSpPr/>
          <p:nvPr/>
        </p:nvCxnSpPr>
        <p:spPr>
          <a:xfrm>
            <a:off x="68581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sp>
        <p:nvSpPr>
          <p:cNvPr id="1049" name="Google Shape;1049;p28"/>
          <p:cNvSpPr txBox="1"/>
          <p:nvPr/>
        </p:nvSpPr>
        <p:spPr>
          <a:xfrm>
            <a:off x="381000" y="1238250"/>
            <a:ext cx="190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94A3B8"/>
                </a:solidFill>
                <a:latin typeface="Inter"/>
                <a:ea typeface="Inter"/>
                <a:cs typeface="Inter"/>
                <a:sym typeface="Inter"/>
              </a:rPr>
              <a:t>Perception-to-action flow</a:t>
            </a:r>
            <a:endParaRPr b="1" sz="800">
              <a:solidFill>
                <a:srgbClr val="94A3B8"/>
              </a:solidFill>
              <a:latin typeface="Inter"/>
              <a:ea typeface="Inter"/>
              <a:cs typeface="Inter"/>
              <a:sym typeface="Inter"/>
            </a:endParaRPr>
          </a:p>
        </p:txBody>
      </p:sp>
      <p:cxnSp>
        <p:nvCxnSpPr>
          <p:cNvPr id="1050" name="Google Shape;1050;p28"/>
          <p:cNvCxnSpPr/>
          <p:nvPr/>
        </p:nvCxnSpPr>
        <p:spPr>
          <a:xfrm>
            <a:off x="102872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1" name="Google Shape;1051;p28"/>
          <p:cNvCxnSpPr/>
          <p:nvPr/>
        </p:nvCxnSpPr>
        <p:spPr>
          <a:xfrm>
            <a:off x="1371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2" name="Google Shape;1052;p28"/>
          <p:cNvCxnSpPr/>
          <p:nvPr/>
        </p:nvCxnSpPr>
        <p:spPr>
          <a:xfrm>
            <a:off x="1714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3" name="Google Shape;1053;p28"/>
          <p:cNvCxnSpPr/>
          <p:nvPr/>
        </p:nvCxnSpPr>
        <p:spPr>
          <a:xfrm>
            <a:off x="2057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4" name="Google Shape;1054;p28"/>
          <p:cNvCxnSpPr/>
          <p:nvPr/>
        </p:nvCxnSpPr>
        <p:spPr>
          <a:xfrm>
            <a:off x="240036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5" name="Google Shape;1055;p28"/>
          <p:cNvCxnSpPr/>
          <p:nvPr/>
        </p:nvCxnSpPr>
        <p:spPr>
          <a:xfrm>
            <a:off x="274327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6" name="Google Shape;1056;p28"/>
          <p:cNvCxnSpPr/>
          <p:nvPr/>
        </p:nvCxnSpPr>
        <p:spPr>
          <a:xfrm>
            <a:off x="308618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7" name="Google Shape;1057;p28"/>
          <p:cNvCxnSpPr/>
          <p:nvPr/>
        </p:nvCxnSpPr>
        <p:spPr>
          <a:xfrm>
            <a:off x="342909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8" name="Google Shape;1058;p28"/>
          <p:cNvCxnSpPr/>
          <p:nvPr/>
        </p:nvCxnSpPr>
        <p:spPr>
          <a:xfrm>
            <a:off x="3772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59" name="Google Shape;1059;p28"/>
          <p:cNvCxnSpPr/>
          <p:nvPr/>
        </p:nvCxnSpPr>
        <p:spPr>
          <a:xfrm>
            <a:off x="4114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0" name="Google Shape;1060;p28"/>
          <p:cNvCxnSpPr/>
          <p:nvPr/>
        </p:nvCxnSpPr>
        <p:spPr>
          <a:xfrm>
            <a:off x="4457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1" name="Google Shape;1061;p28"/>
          <p:cNvCxnSpPr/>
          <p:nvPr/>
        </p:nvCxnSpPr>
        <p:spPr>
          <a:xfrm>
            <a:off x="480072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2" name="Google Shape;1062;p28"/>
          <p:cNvCxnSpPr/>
          <p:nvPr/>
        </p:nvCxnSpPr>
        <p:spPr>
          <a:xfrm>
            <a:off x="5143637"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3" name="Google Shape;1063;p28"/>
          <p:cNvCxnSpPr/>
          <p:nvPr/>
        </p:nvCxnSpPr>
        <p:spPr>
          <a:xfrm>
            <a:off x="5486546"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4" name="Google Shape;1064;p28"/>
          <p:cNvCxnSpPr/>
          <p:nvPr/>
        </p:nvCxnSpPr>
        <p:spPr>
          <a:xfrm>
            <a:off x="582945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5" name="Google Shape;1065;p28"/>
          <p:cNvCxnSpPr/>
          <p:nvPr/>
        </p:nvCxnSpPr>
        <p:spPr>
          <a:xfrm>
            <a:off x="6172365"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6" name="Google Shape;1066;p28"/>
          <p:cNvCxnSpPr/>
          <p:nvPr/>
        </p:nvCxnSpPr>
        <p:spPr>
          <a:xfrm>
            <a:off x="6515274"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7" name="Google Shape;1067;p28"/>
          <p:cNvCxnSpPr/>
          <p:nvPr/>
        </p:nvCxnSpPr>
        <p:spPr>
          <a:xfrm>
            <a:off x="6858183"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8" name="Google Shape;1068;p28"/>
          <p:cNvCxnSpPr/>
          <p:nvPr/>
        </p:nvCxnSpPr>
        <p:spPr>
          <a:xfrm>
            <a:off x="7201092"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69" name="Google Shape;1069;p28"/>
          <p:cNvCxnSpPr/>
          <p:nvPr/>
        </p:nvCxnSpPr>
        <p:spPr>
          <a:xfrm>
            <a:off x="7544001"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0" name="Google Shape;1070;p28"/>
          <p:cNvCxnSpPr/>
          <p:nvPr/>
        </p:nvCxnSpPr>
        <p:spPr>
          <a:xfrm>
            <a:off x="7886910"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1" name="Google Shape;1071;p28"/>
          <p:cNvCxnSpPr/>
          <p:nvPr/>
        </p:nvCxnSpPr>
        <p:spPr>
          <a:xfrm>
            <a:off x="822981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2" name="Google Shape;1072;p28"/>
          <p:cNvCxnSpPr/>
          <p:nvPr/>
        </p:nvCxnSpPr>
        <p:spPr>
          <a:xfrm>
            <a:off x="8572729"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3" name="Google Shape;1073;p28"/>
          <p:cNvCxnSpPr/>
          <p:nvPr/>
        </p:nvCxnSpPr>
        <p:spPr>
          <a:xfrm>
            <a:off x="8915638" y="0"/>
            <a:ext cx="0" cy="514350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4" name="Google Shape;1074;p28"/>
          <p:cNvCxnSpPr/>
          <p:nvPr/>
        </p:nvCxnSpPr>
        <p:spPr>
          <a:xfrm>
            <a:off x="0" y="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5" name="Google Shape;1075;p28"/>
          <p:cNvCxnSpPr/>
          <p:nvPr/>
        </p:nvCxnSpPr>
        <p:spPr>
          <a:xfrm>
            <a:off x="0" y="342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6" name="Google Shape;1076;p28"/>
          <p:cNvCxnSpPr/>
          <p:nvPr/>
        </p:nvCxnSpPr>
        <p:spPr>
          <a:xfrm>
            <a:off x="0" y="685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7" name="Google Shape;1077;p28"/>
          <p:cNvCxnSpPr/>
          <p:nvPr/>
        </p:nvCxnSpPr>
        <p:spPr>
          <a:xfrm>
            <a:off x="0" y="1028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8" name="Google Shape;1078;p28"/>
          <p:cNvCxnSpPr/>
          <p:nvPr/>
        </p:nvCxnSpPr>
        <p:spPr>
          <a:xfrm>
            <a:off x="0" y="1371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79" name="Google Shape;1079;p28"/>
          <p:cNvCxnSpPr/>
          <p:nvPr/>
        </p:nvCxnSpPr>
        <p:spPr>
          <a:xfrm>
            <a:off x="0" y="17145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0" name="Google Shape;1080;p28"/>
          <p:cNvCxnSpPr/>
          <p:nvPr/>
        </p:nvCxnSpPr>
        <p:spPr>
          <a:xfrm>
            <a:off x="0" y="20574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1" name="Google Shape;1081;p28"/>
          <p:cNvCxnSpPr/>
          <p:nvPr/>
        </p:nvCxnSpPr>
        <p:spPr>
          <a:xfrm>
            <a:off x="0" y="24003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2" name="Google Shape;1082;p28"/>
          <p:cNvCxnSpPr/>
          <p:nvPr/>
        </p:nvCxnSpPr>
        <p:spPr>
          <a:xfrm>
            <a:off x="0" y="27432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3" name="Google Shape;1083;p28"/>
          <p:cNvCxnSpPr/>
          <p:nvPr/>
        </p:nvCxnSpPr>
        <p:spPr>
          <a:xfrm>
            <a:off x="0" y="30861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4" name="Google Shape;1084;p28"/>
          <p:cNvCxnSpPr/>
          <p:nvPr/>
        </p:nvCxnSpPr>
        <p:spPr>
          <a:xfrm>
            <a:off x="0" y="34290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5" name="Google Shape;1085;p28"/>
          <p:cNvCxnSpPr/>
          <p:nvPr/>
        </p:nvCxnSpPr>
        <p:spPr>
          <a:xfrm>
            <a:off x="0" y="37719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6" name="Google Shape;1086;p28"/>
          <p:cNvCxnSpPr/>
          <p:nvPr/>
        </p:nvCxnSpPr>
        <p:spPr>
          <a:xfrm>
            <a:off x="0" y="41148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7" name="Google Shape;1087;p28"/>
          <p:cNvCxnSpPr/>
          <p:nvPr/>
        </p:nvCxnSpPr>
        <p:spPr>
          <a:xfrm>
            <a:off x="0" y="44577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8" name="Google Shape;1088;p28"/>
          <p:cNvCxnSpPr/>
          <p:nvPr/>
        </p:nvCxnSpPr>
        <p:spPr>
          <a:xfrm>
            <a:off x="0" y="4800600"/>
            <a:ext cx="9144000" cy="0"/>
          </a:xfrm>
          <a:prstGeom prst="straightConnector1">
            <a:avLst/>
          </a:prstGeom>
          <a:noFill/>
          <a:ln cap="flat" cmpd="sng" w="9525">
            <a:solidFill>
              <a:srgbClr val="334155">
                <a:alpha val="14901"/>
              </a:srgbClr>
            </a:solidFill>
            <a:prstDash val="solid"/>
            <a:round/>
            <a:headEnd len="sm" w="sm" type="none"/>
            <a:tailEnd len="sm" w="sm" type="none"/>
          </a:ln>
        </p:spPr>
      </p:cxnSp>
      <p:cxnSp>
        <p:nvCxnSpPr>
          <p:cNvPr id="1089" name="Google Shape;1089;p28"/>
          <p:cNvCxnSpPr/>
          <p:nvPr/>
        </p:nvCxnSpPr>
        <p:spPr>
          <a:xfrm>
            <a:off x="0" y="5143500"/>
            <a:ext cx="9144000" cy="0"/>
          </a:xfrm>
          <a:prstGeom prst="straightConnector1">
            <a:avLst/>
          </a:prstGeom>
          <a:noFill/>
          <a:ln cap="flat" cmpd="sng" w="9525">
            <a:solidFill>
              <a:srgbClr val="334155">
                <a:alpha val="14901"/>
              </a:srgbClr>
            </a:solidFill>
            <a:prstDash val="solid"/>
            <a:round/>
            <a:headEnd len="sm" w="sm" type="none"/>
            <a:tailEnd len="sm" w="sm" type="none"/>
          </a:ln>
        </p:spPr>
      </p:cxnSp>
      <p:grpSp>
        <p:nvGrpSpPr>
          <p:cNvPr id="1090" name="Google Shape;1090;p28"/>
          <p:cNvGrpSpPr/>
          <p:nvPr/>
        </p:nvGrpSpPr>
        <p:grpSpPr>
          <a:xfrm>
            <a:off x="381000" y="1714500"/>
            <a:ext cx="8172450" cy="1905000"/>
            <a:chOff x="381000" y="1714500"/>
            <a:chExt cx="8172450" cy="1905000"/>
          </a:xfrm>
        </p:grpSpPr>
        <p:grpSp>
          <p:nvGrpSpPr>
            <p:cNvPr id="1091" name="Google Shape;1091;p28"/>
            <p:cNvGrpSpPr/>
            <p:nvPr/>
          </p:nvGrpSpPr>
          <p:grpSpPr>
            <a:xfrm>
              <a:off x="381000" y="1714500"/>
              <a:ext cx="1714500" cy="1905000"/>
              <a:chOff x="0" y="0"/>
              <a:chExt cx="1714500" cy="1905000"/>
            </a:xfrm>
          </p:grpSpPr>
          <p:sp>
            <p:nvSpPr>
              <p:cNvPr id="1092" name="Google Shape;1092;p28"/>
              <p:cNvSpPr/>
              <p:nvPr/>
            </p:nvSpPr>
            <p:spPr>
              <a:xfrm>
                <a:off x="0" y="0"/>
                <a:ext cx="1714500" cy="1905000"/>
              </a:xfrm>
              <a:prstGeom prst="roundRect">
                <a:avLst>
                  <a:gd fmla="val 6666" name="adj"/>
                </a:avLst>
              </a:prstGeom>
              <a:solidFill>
                <a:srgbClr val="111827"/>
              </a:solidFill>
              <a:ln cap="flat" cmpd="sng" w="1905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3" name="Google Shape;1093;p28"/>
              <p:cNvSpPr txBox="1"/>
              <p:nvPr/>
            </p:nvSpPr>
            <p:spPr>
              <a:xfrm>
                <a:off x="95250" y="95250"/>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55B6FF"/>
                    </a:solidFill>
                    <a:latin typeface="Inter"/>
                    <a:ea typeface="Inter"/>
                    <a:cs typeface="Inter"/>
                    <a:sym typeface="Inter"/>
                  </a:rPr>
                  <a:t>Embodiment</a:t>
                </a:r>
                <a:endParaRPr b="1" sz="1400">
                  <a:solidFill>
                    <a:srgbClr val="55B6FF"/>
                  </a:solidFill>
                  <a:latin typeface="Inter"/>
                  <a:ea typeface="Inter"/>
                  <a:cs typeface="Inter"/>
                  <a:sym typeface="Inter"/>
                </a:endParaRPr>
              </a:p>
            </p:txBody>
          </p:sp>
          <p:pic>
            <p:nvPicPr>
              <p:cNvPr descr="A high-tech humanoid robot Unitree G1 standing in a minimalist laboratory, robot-centered scene, cinematic lighting, 8k resolution." id="1094" name="Google Shape;1094;p28"/>
              <p:cNvPicPr preferRelativeResize="0"/>
              <p:nvPr/>
            </p:nvPicPr>
            <p:blipFill rotWithShape="1">
              <a:blip r:embed="rId4">
                <a:alphaModFix/>
              </a:blip>
              <a:srcRect b="0" l="778" r="787" t="0"/>
              <a:stretch/>
            </p:blipFill>
            <p:spPr>
              <a:xfrm>
                <a:off x="190500" y="571500"/>
                <a:ext cx="1333500" cy="762000"/>
              </a:xfrm>
              <a:prstGeom prst="roundRect">
                <a:avLst>
                  <a:gd fmla="val 10000" name="adj"/>
                </a:avLst>
              </a:prstGeom>
              <a:noFill/>
              <a:ln>
                <a:noFill/>
              </a:ln>
            </p:spPr>
          </p:pic>
          <p:sp>
            <p:nvSpPr>
              <p:cNvPr id="1095" name="Google Shape;1095;p28"/>
              <p:cNvSpPr txBox="1"/>
              <p:nvPr/>
            </p:nvSpPr>
            <p:spPr>
              <a:xfrm>
                <a:off x="95250" y="1428750"/>
                <a:ext cx="1524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00">
                    <a:solidFill>
                      <a:srgbClr val="CBD5E1"/>
                    </a:solidFill>
                    <a:latin typeface="Inter"/>
                    <a:ea typeface="Inter"/>
                    <a:cs typeface="Inter"/>
                    <a:sym typeface="Inter"/>
                  </a:rPr>
                  <a:t>Robot-centered scene</a:t>
                </a:r>
                <a:endParaRPr b="0" sz="1000">
                  <a:solidFill>
                    <a:srgbClr val="CBD5E1"/>
                  </a:solidFill>
                  <a:latin typeface="Inter"/>
                  <a:ea typeface="Inter"/>
                  <a:cs typeface="Inter"/>
                  <a:sym typeface="Inter"/>
                </a:endParaRPr>
              </a:p>
            </p:txBody>
          </p:sp>
        </p:grpSp>
        <p:sp>
          <p:nvSpPr>
            <p:cNvPr id="1096" name="Google Shape;1096;p28"/>
            <p:cNvSpPr/>
            <p:nvPr/>
          </p:nvSpPr>
          <p:spPr>
            <a:xfrm>
              <a:off x="2095500" y="2667000"/>
              <a:ext cx="362100" cy="0"/>
            </a:xfrm>
            <a:custGeom>
              <a:rect b="b" l="l" r="r" t="t"/>
              <a:pathLst>
                <a:path extrusionOk="0" h="120000" w="120000">
                  <a:moveTo>
                    <a:pt x="0" y="0"/>
                  </a:moveTo>
                  <a:lnTo>
                    <a:pt x="94737" y="0"/>
                  </a:lnTo>
                  <a:lnTo>
                    <a:pt x="94737" y="0"/>
                  </a:lnTo>
                  <a:lnTo>
                    <a:pt x="120000" y="0"/>
                  </a:lnTo>
                </a:path>
              </a:pathLst>
            </a:custGeom>
            <a:solidFill>
              <a:srgbClr val="000000">
                <a:alpha val="0"/>
              </a:srgbClr>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7" name="Google Shape;1097;p28"/>
            <p:cNvSpPr/>
            <p:nvPr/>
          </p:nvSpPr>
          <p:spPr>
            <a:xfrm>
              <a:off x="2457450" y="2628900"/>
              <a:ext cx="76200" cy="76200"/>
            </a:xfrm>
            <a:custGeom>
              <a:rect b="b" l="l" r="r" t="t"/>
              <a:pathLst>
                <a:path extrusionOk="0" h="120000" w="120000">
                  <a:moveTo>
                    <a:pt x="0" y="0"/>
                  </a:moveTo>
                  <a:lnTo>
                    <a:pt x="120000" y="60000"/>
                  </a:lnTo>
                  <a:lnTo>
                    <a:pt x="0" y="120000"/>
                  </a:lnTo>
                  <a:close/>
                </a:path>
              </a:pathLst>
            </a:cu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98" name="Google Shape;1098;p28"/>
            <p:cNvGrpSpPr/>
            <p:nvPr/>
          </p:nvGrpSpPr>
          <p:grpSpPr>
            <a:xfrm>
              <a:off x="2533650" y="1714500"/>
              <a:ext cx="1714500" cy="1905000"/>
              <a:chOff x="0" y="0"/>
              <a:chExt cx="1714500" cy="1905000"/>
            </a:xfrm>
          </p:grpSpPr>
          <p:sp>
            <p:nvSpPr>
              <p:cNvPr id="1099" name="Google Shape;1099;p28"/>
              <p:cNvSpPr/>
              <p:nvPr/>
            </p:nvSpPr>
            <p:spPr>
              <a:xfrm>
                <a:off x="0" y="0"/>
                <a:ext cx="1714500" cy="1905000"/>
              </a:xfrm>
              <a:prstGeom prst="roundRect">
                <a:avLst>
                  <a:gd fmla="val 6666" name="adj"/>
                </a:avLst>
              </a:prstGeom>
              <a:solidFill>
                <a:srgbClr val="111827"/>
              </a:solidFill>
              <a:ln cap="flat" cmpd="sng" w="19050">
                <a:solidFill>
                  <a:srgbClr val="FF9B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0" name="Google Shape;1100;p28"/>
              <p:cNvSpPr txBox="1"/>
              <p:nvPr/>
            </p:nvSpPr>
            <p:spPr>
              <a:xfrm>
                <a:off x="95250" y="95250"/>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9B5E"/>
                    </a:solidFill>
                    <a:latin typeface="Inter"/>
                    <a:ea typeface="Inter"/>
                    <a:cs typeface="Inter"/>
                    <a:sym typeface="Inter"/>
                  </a:rPr>
                  <a:t>Attention</a:t>
                </a:r>
                <a:endParaRPr b="1" sz="1400">
                  <a:solidFill>
                    <a:srgbClr val="FF9B5E"/>
                  </a:solidFill>
                  <a:latin typeface="Inter"/>
                  <a:ea typeface="Inter"/>
                  <a:cs typeface="Inter"/>
                  <a:sym typeface="Inter"/>
                </a:endParaRPr>
              </a:p>
            </p:txBody>
          </p:sp>
          <p:pic>
            <p:nvPicPr>
              <p:cNvPr descr="A close-up of a digital sensor feed from a robot, showing a point and box cue highlighting an object on a table, technical overlay, blue and orange accents." id="1101" name="Google Shape;1101;p28"/>
              <p:cNvPicPr preferRelativeResize="0"/>
              <p:nvPr/>
            </p:nvPicPr>
            <p:blipFill rotWithShape="1">
              <a:blip r:embed="rId5">
                <a:alphaModFix/>
              </a:blip>
              <a:srcRect b="0" l="778" r="787" t="0"/>
              <a:stretch/>
            </p:blipFill>
            <p:spPr>
              <a:xfrm>
                <a:off x="190500" y="571500"/>
                <a:ext cx="1333500" cy="762000"/>
              </a:xfrm>
              <a:prstGeom prst="roundRect">
                <a:avLst>
                  <a:gd fmla="val 10000" name="adj"/>
                </a:avLst>
              </a:prstGeom>
              <a:noFill/>
              <a:ln>
                <a:noFill/>
              </a:ln>
            </p:spPr>
          </p:pic>
          <p:sp>
            <p:nvSpPr>
              <p:cNvPr id="1102" name="Google Shape;1102;p28"/>
              <p:cNvSpPr txBox="1"/>
              <p:nvPr/>
            </p:nvSpPr>
            <p:spPr>
              <a:xfrm>
                <a:off x="95250" y="1428750"/>
                <a:ext cx="1524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00">
                    <a:solidFill>
                      <a:srgbClr val="CBD5E1"/>
                    </a:solidFill>
                    <a:latin typeface="Inter"/>
                    <a:ea typeface="Inter"/>
                    <a:cs typeface="Inter"/>
                    <a:sym typeface="Inter"/>
                  </a:rPr>
                  <a:t>Point / box cue</a:t>
                </a:r>
                <a:endParaRPr b="0" sz="1000">
                  <a:solidFill>
                    <a:srgbClr val="CBD5E1"/>
                  </a:solidFill>
                  <a:latin typeface="Inter"/>
                  <a:ea typeface="Inter"/>
                  <a:cs typeface="Inter"/>
                  <a:sym typeface="Inter"/>
                </a:endParaRPr>
              </a:p>
            </p:txBody>
          </p:sp>
        </p:grpSp>
        <p:sp>
          <p:nvSpPr>
            <p:cNvPr id="1103" name="Google Shape;1103;p28"/>
            <p:cNvSpPr/>
            <p:nvPr/>
          </p:nvSpPr>
          <p:spPr>
            <a:xfrm>
              <a:off x="4248150" y="2667000"/>
              <a:ext cx="362100" cy="0"/>
            </a:xfrm>
            <a:custGeom>
              <a:rect b="b" l="l" r="r" t="t"/>
              <a:pathLst>
                <a:path extrusionOk="0" h="120000" w="120000">
                  <a:moveTo>
                    <a:pt x="0" y="0"/>
                  </a:moveTo>
                  <a:lnTo>
                    <a:pt x="94737" y="0"/>
                  </a:lnTo>
                  <a:lnTo>
                    <a:pt x="94737" y="0"/>
                  </a:lnTo>
                  <a:lnTo>
                    <a:pt x="120000" y="0"/>
                  </a:lnTo>
                </a:path>
              </a:pathLst>
            </a:custGeom>
            <a:solidFill>
              <a:srgbClr val="000000">
                <a:alpha val="0"/>
              </a:srgbClr>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4" name="Google Shape;1104;p28"/>
            <p:cNvSpPr/>
            <p:nvPr/>
          </p:nvSpPr>
          <p:spPr>
            <a:xfrm>
              <a:off x="4610100" y="2628900"/>
              <a:ext cx="76200" cy="76200"/>
            </a:xfrm>
            <a:custGeom>
              <a:rect b="b" l="l" r="r" t="t"/>
              <a:pathLst>
                <a:path extrusionOk="0" h="120000" w="120000">
                  <a:moveTo>
                    <a:pt x="0" y="0"/>
                  </a:moveTo>
                  <a:lnTo>
                    <a:pt x="120000" y="60000"/>
                  </a:lnTo>
                  <a:lnTo>
                    <a:pt x="0" y="120000"/>
                  </a:lnTo>
                  <a:close/>
                </a:path>
              </a:pathLst>
            </a:cu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05" name="Google Shape;1105;p28"/>
            <p:cNvGrpSpPr/>
            <p:nvPr/>
          </p:nvGrpSpPr>
          <p:grpSpPr>
            <a:xfrm>
              <a:off x="4686300" y="1714500"/>
              <a:ext cx="1714500" cy="1905000"/>
              <a:chOff x="0" y="0"/>
              <a:chExt cx="1714500" cy="1905000"/>
            </a:xfrm>
          </p:grpSpPr>
          <p:sp>
            <p:nvSpPr>
              <p:cNvPr id="1106" name="Google Shape;1106;p28"/>
              <p:cNvSpPr/>
              <p:nvPr/>
            </p:nvSpPr>
            <p:spPr>
              <a:xfrm>
                <a:off x="0" y="0"/>
                <a:ext cx="1714500" cy="1905000"/>
              </a:xfrm>
              <a:prstGeom prst="roundRect">
                <a:avLst>
                  <a:gd fmla="val 6666" name="adj"/>
                </a:avLst>
              </a:prstGeom>
              <a:solidFill>
                <a:srgbClr val="111827"/>
              </a:solidFill>
              <a:ln cap="flat" cmpd="sng" w="1905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7" name="Google Shape;1107;p28"/>
              <p:cNvSpPr txBox="1"/>
              <p:nvPr/>
            </p:nvSpPr>
            <p:spPr>
              <a:xfrm>
                <a:off x="95250" y="95250"/>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4FD1C5"/>
                    </a:solidFill>
                    <a:latin typeface="Inter"/>
                    <a:ea typeface="Inter"/>
                    <a:cs typeface="Inter"/>
                    <a:sym typeface="Inter"/>
                  </a:rPr>
                  <a:t>Representation</a:t>
                </a:r>
                <a:endParaRPr b="1" sz="1400">
                  <a:solidFill>
                    <a:srgbClr val="4FD1C5"/>
                  </a:solidFill>
                  <a:latin typeface="Inter"/>
                  <a:ea typeface="Inter"/>
                  <a:cs typeface="Inter"/>
                  <a:sym typeface="Inter"/>
                </a:endParaRPr>
              </a:p>
            </p:txBody>
          </p:sp>
          <p:pic>
            <p:nvPicPr>
              <p:cNvPr descr="A segmentation mask generated by AI, showing clear object regions in vibrant colors against a dark background, inspired by Meta SAM 2 output." id="1108" name="Google Shape;1108;p28"/>
              <p:cNvPicPr preferRelativeResize="0"/>
              <p:nvPr/>
            </p:nvPicPr>
            <p:blipFill rotWithShape="1">
              <a:blip r:embed="rId6">
                <a:alphaModFix/>
              </a:blip>
              <a:srcRect b="0" l="778" r="787" t="0"/>
              <a:stretch/>
            </p:blipFill>
            <p:spPr>
              <a:xfrm>
                <a:off x="190500" y="571500"/>
                <a:ext cx="1333500" cy="762000"/>
              </a:xfrm>
              <a:prstGeom prst="roundRect">
                <a:avLst>
                  <a:gd fmla="val 10000" name="adj"/>
                </a:avLst>
              </a:prstGeom>
              <a:noFill/>
              <a:ln>
                <a:noFill/>
              </a:ln>
            </p:spPr>
          </p:pic>
          <p:sp>
            <p:nvSpPr>
              <p:cNvPr id="1109" name="Google Shape;1109;p28"/>
              <p:cNvSpPr txBox="1"/>
              <p:nvPr/>
            </p:nvSpPr>
            <p:spPr>
              <a:xfrm>
                <a:off x="95250" y="1428750"/>
                <a:ext cx="1524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00">
                    <a:solidFill>
                      <a:srgbClr val="CBD5E1"/>
                    </a:solidFill>
                    <a:latin typeface="Inter"/>
                    <a:ea typeface="Inter"/>
                    <a:cs typeface="Inter"/>
                    <a:sym typeface="Inter"/>
                  </a:rPr>
                  <a:t>Mask → object region</a:t>
                </a:r>
                <a:endParaRPr b="0" sz="1000">
                  <a:solidFill>
                    <a:srgbClr val="CBD5E1"/>
                  </a:solidFill>
                  <a:latin typeface="Inter"/>
                  <a:ea typeface="Inter"/>
                  <a:cs typeface="Inter"/>
                  <a:sym typeface="Inter"/>
                </a:endParaRPr>
              </a:p>
            </p:txBody>
          </p:sp>
        </p:grpSp>
        <p:sp>
          <p:nvSpPr>
            <p:cNvPr id="1110" name="Google Shape;1110;p28"/>
            <p:cNvSpPr/>
            <p:nvPr/>
          </p:nvSpPr>
          <p:spPr>
            <a:xfrm>
              <a:off x="6400800" y="2667000"/>
              <a:ext cx="362100" cy="0"/>
            </a:xfrm>
            <a:custGeom>
              <a:rect b="b" l="l" r="r" t="t"/>
              <a:pathLst>
                <a:path extrusionOk="0" h="120000" w="120000">
                  <a:moveTo>
                    <a:pt x="0" y="0"/>
                  </a:moveTo>
                  <a:lnTo>
                    <a:pt x="94737" y="0"/>
                  </a:lnTo>
                  <a:lnTo>
                    <a:pt x="94737" y="0"/>
                  </a:lnTo>
                  <a:lnTo>
                    <a:pt x="120000" y="0"/>
                  </a:lnTo>
                </a:path>
              </a:pathLst>
            </a:custGeom>
            <a:solidFill>
              <a:srgbClr val="000000">
                <a:alpha val="0"/>
              </a:srgbClr>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1" name="Google Shape;1111;p28"/>
            <p:cNvSpPr/>
            <p:nvPr/>
          </p:nvSpPr>
          <p:spPr>
            <a:xfrm>
              <a:off x="6762750" y="2628900"/>
              <a:ext cx="76200" cy="76200"/>
            </a:xfrm>
            <a:custGeom>
              <a:rect b="b" l="l" r="r" t="t"/>
              <a:pathLst>
                <a:path extrusionOk="0" h="120000" w="120000">
                  <a:moveTo>
                    <a:pt x="0" y="0"/>
                  </a:moveTo>
                  <a:lnTo>
                    <a:pt x="120000" y="60000"/>
                  </a:lnTo>
                  <a:lnTo>
                    <a:pt x="0" y="120000"/>
                  </a:lnTo>
                  <a:close/>
                </a:path>
              </a:pathLst>
            </a:cu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12" name="Google Shape;1112;p28"/>
            <p:cNvGrpSpPr/>
            <p:nvPr/>
          </p:nvGrpSpPr>
          <p:grpSpPr>
            <a:xfrm>
              <a:off x="6838950" y="1714500"/>
              <a:ext cx="1714500" cy="1905000"/>
              <a:chOff x="0" y="0"/>
              <a:chExt cx="1714500" cy="1905000"/>
            </a:xfrm>
          </p:grpSpPr>
          <p:sp>
            <p:nvSpPr>
              <p:cNvPr id="1113" name="Google Shape;1113;p28"/>
              <p:cNvSpPr/>
              <p:nvPr/>
            </p:nvSpPr>
            <p:spPr>
              <a:xfrm>
                <a:off x="0" y="0"/>
                <a:ext cx="1714500" cy="1905000"/>
              </a:xfrm>
              <a:prstGeom prst="roundRect">
                <a:avLst>
                  <a:gd fmla="val 6666" name="adj"/>
                </a:avLst>
              </a:prstGeom>
              <a:solidFill>
                <a:srgbClr val="111827"/>
              </a:solidFill>
              <a:ln cap="flat" cmpd="sng" w="19050">
                <a:solidFill>
                  <a:srgbClr val="F472B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4" name="Google Shape;1114;p28"/>
              <p:cNvSpPr txBox="1"/>
              <p:nvPr/>
            </p:nvSpPr>
            <p:spPr>
              <a:xfrm>
                <a:off x="95250" y="95250"/>
                <a:ext cx="152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472B6"/>
                    </a:solidFill>
                    <a:latin typeface="Inter"/>
                    <a:ea typeface="Inter"/>
                    <a:cs typeface="Inter"/>
                    <a:sym typeface="Inter"/>
                  </a:rPr>
                  <a:t>Action Loop</a:t>
                </a:r>
                <a:endParaRPr b="1" sz="1400">
                  <a:solidFill>
                    <a:srgbClr val="F472B6"/>
                  </a:solidFill>
                  <a:latin typeface="Inter"/>
                  <a:ea typeface="Inter"/>
                  <a:cs typeface="Inter"/>
                  <a:sym typeface="Inter"/>
                </a:endParaRPr>
              </a:p>
            </p:txBody>
          </p:sp>
          <p:pic>
            <p:nvPicPr>
              <p:cNvPr descr="A robotic hand reaching out to grasp a labeled object, showing motion paths and tracking vectors, Isaac Sim style simulation, technical blueprint aesthetic." id="1115" name="Google Shape;1115;p28"/>
              <p:cNvPicPr preferRelativeResize="0"/>
              <p:nvPr/>
            </p:nvPicPr>
            <p:blipFill rotWithShape="1">
              <a:blip r:embed="rId7">
                <a:alphaModFix/>
              </a:blip>
              <a:srcRect b="0" l="778" r="787" t="0"/>
              <a:stretch/>
            </p:blipFill>
            <p:spPr>
              <a:xfrm>
                <a:off x="190500" y="571500"/>
                <a:ext cx="1333500" cy="762000"/>
              </a:xfrm>
              <a:prstGeom prst="roundRect">
                <a:avLst>
                  <a:gd fmla="val 10000" name="adj"/>
                </a:avLst>
              </a:prstGeom>
              <a:noFill/>
              <a:ln>
                <a:noFill/>
              </a:ln>
            </p:spPr>
          </p:pic>
          <p:sp>
            <p:nvSpPr>
              <p:cNvPr id="1116" name="Google Shape;1116;p28"/>
              <p:cNvSpPr txBox="1"/>
              <p:nvPr/>
            </p:nvSpPr>
            <p:spPr>
              <a:xfrm>
                <a:off x="95250" y="1428750"/>
                <a:ext cx="1524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000">
                    <a:solidFill>
                      <a:srgbClr val="CBD5E1"/>
                    </a:solidFill>
                    <a:latin typeface="Inter"/>
                    <a:ea typeface="Inter"/>
                    <a:cs typeface="Inter"/>
                    <a:sym typeface="Inter"/>
                  </a:rPr>
                  <a:t>Grasp · track · navigate</a:t>
                </a:r>
                <a:endParaRPr b="0" sz="1000">
                  <a:solidFill>
                    <a:srgbClr val="CBD5E1"/>
                  </a:solidFill>
                  <a:latin typeface="Inter"/>
                  <a:ea typeface="Inter"/>
                  <a:cs typeface="Inter"/>
                  <a:sym typeface="Inter"/>
                </a:endParaRPr>
              </a:p>
            </p:txBody>
          </p:sp>
        </p:grpSp>
      </p:grpSp>
      <p:grpSp>
        <p:nvGrpSpPr>
          <p:cNvPr id="1117" name="Google Shape;1117;p28"/>
          <p:cNvGrpSpPr/>
          <p:nvPr/>
        </p:nvGrpSpPr>
        <p:grpSpPr>
          <a:xfrm>
            <a:off x="381000" y="4000500"/>
            <a:ext cx="8382000" cy="666900"/>
            <a:chOff x="0" y="0"/>
            <a:chExt cx="8382000" cy="666900"/>
          </a:xfrm>
        </p:grpSpPr>
        <p:sp>
          <p:nvSpPr>
            <p:cNvPr id="1118" name="Google Shape;1118;p28"/>
            <p:cNvSpPr/>
            <p:nvPr/>
          </p:nvSpPr>
          <p:spPr>
            <a:xfrm>
              <a:off x="0" y="0"/>
              <a:ext cx="8382000" cy="666900"/>
            </a:xfrm>
            <a:prstGeom prst="roundRect">
              <a:avLst>
                <a:gd fmla="val 14285" name="adj"/>
              </a:avLst>
            </a:prstGeom>
            <a:solidFill>
              <a:srgbClr val="1E3A8A">
                <a:alpha val="89999"/>
              </a:srgbClr>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9" name="Google Shape;1119;p28"/>
            <p:cNvSpPr txBox="1"/>
            <p:nvPr/>
          </p:nvSpPr>
          <p:spPr>
            <a:xfrm>
              <a:off x="190500" y="0"/>
              <a:ext cx="80010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300">
                  <a:solidFill>
                    <a:srgbClr val="F3F6FB"/>
                  </a:solidFill>
                  <a:latin typeface="Inter"/>
                  <a:ea typeface="Inter"/>
                  <a:cs typeface="Inter"/>
                  <a:sym typeface="Inter"/>
                </a:rPr>
                <a:t>COGAR link: Masks act as perceptual structures for attention, memory, object reasoning, and action selection.</a:t>
              </a:r>
              <a:endParaRPr b="1" sz="1300">
                <a:solidFill>
                  <a:srgbClr val="F3F6FB"/>
                </a:solidFill>
                <a:latin typeface="Inter"/>
                <a:ea typeface="Inter"/>
                <a:cs typeface="Inter"/>
                <a:sym typeface="Inte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4" name="Shape 1124"/>
        <p:cNvGrpSpPr/>
        <p:nvPr/>
      </p:nvGrpSpPr>
      <p:grpSpPr>
        <a:xfrm>
          <a:off x="0" y="0"/>
          <a:ext cx="0" cy="0"/>
          <a:chOff x="0" y="0"/>
          <a:chExt cx="0" cy="0"/>
        </a:xfrm>
      </p:grpSpPr>
      <p:grpSp>
        <p:nvGrpSpPr>
          <p:cNvPr id="1125" name="Google Shape;1125;p29"/>
          <p:cNvGrpSpPr/>
          <p:nvPr/>
        </p:nvGrpSpPr>
        <p:grpSpPr>
          <a:xfrm>
            <a:off x="381000" y="285750"/>
            <a:ext cx="8382000" cy="857250"/>
            <a:chOff x="0" y="0"/>
            <a:chExt cx="8382000" cy="857250"/>
          </a:xfrm>
        </p:grpSpPr>
        <p:sp>
          <p:nvSpPr>
            <p:cNvPr id="1126" name="Google Shape;1126;p29"/>
            <p:cNvSpPr txBox="1"/>
            <p:nvPr/>
          </p:nvSpPr>
          <p:spPr>
            <a:xfrm>
              <a:off x="0" y="0"/>
              <a:ext cx="8382000" cy="4764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 sz="2800">
                  <a:solidFill>
                    <a:srgbClr val="F3F6FB"/>
                  </a:solidFill>
                  <a:latin typeface="Inter"/>
                  <a:ea typeface="Inter"/>
                  <a:cs typeface="Inter"/>
                  <a:sym typeface="Inter"/>
                </a:rPr>
                <a:t>Conclusions &amp; Model-Selection Blueprint</a:t>
              </a:r>
              <a:endParaRPr b="1" sz="2800">
                <a:solidFill>
                  <a:srgbClr val="F3F6FB"/>
                </a:solidFill>
                <a:latin typeface="Inter"/>
                <a:ea typeface="Inter"/>
                <a:cs typeface="Inter"/>
                <a:sym typeface="Inter"/>
              </a:endParaRPr>
            </a:p>
          </p:txBody>
        </p:sp>
        <p:sp>
          <p:nvSpPr>
            <p:cNvPr id="1127" name="Google Shape;1127;p29"/>
            <p:cNvSpPr txBox="1"/>
            <p:nvPr/>
          </p:nvSpPr>
          <p:spPr>
            <a:xfrm>
              <a:off x="0" y="523875"/>
              <a:ext cx="8382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10">
                  <a:solidFill>
                    <a:srgbClr val="55B6FF"/>
                  </a:solidFill>
                  <a:latin typeface="Inter"/>
                  <a:ea typeface="Inter"/>
                  <a:cs typeface="Inter"/>
                  <a:sym typeface="Inter"/>
                </a:rPr>
                <a:t>The best segmentation model depends on the robotic task, prompt availability, robustness requirement, and latency budget.</a:t>
              </a:r>
              <a:endParaRPr b="0" i="1" sz="1110">
                <a:solidFill>
                  <a:srgbClr val="55B6FF"/>
                </a:solidFill>
                <a:latin typeface="Inter"/>
                <a:ea typeface="Inter"/>
                <a:cs typeface="Inter"/>
                <a:sym typeface="Inter"/>
              </a:endParaRPr>
            </a:p>
          </p:txBody>
        </p:sp>
        <p:cxnSp>
          <p:nvCxnSpPr>
            <p:cNvPr id="1128" name="Google Shape;1128;p29"/>
            <p:cNvCxnSpPr/>
            <p:nvPr/>
          </p:nvCxnSpPr>
          <p:spPr>
            <a:xfrm>
              <a:off x="0" y="857250"/>
              <a:ext cx="8382000" cy="0"/>
            </a:xfrm>
            <a:prstGeom prst="straightConnector1">
              <a:avLst/>
            </a:prstGeom>
            <a:solidFill>
              <a:srgbClr val="FFFFFF"/>
            </a:solidFill>
            <a:ln cap="flat" cmpd="sng" w="9525">
              <a:solidFill>
                <a:srgbClr val="334155"/>
              </a:solidFill>
              <a:prstDash val="solid"/>
              <a:round/>
              <a:headEnd len="sm" w="sm" type="none"/>
              <a:tailEnd len="sm" w="sm" type="none"/>
            </a:ln>
          </p:spPr>
        </p:cxnSp>
      </p:grpSp>
      <p:grpSp>
        <p:nvGrpSpPr>
          <p:cNvPr id="1129" name="Google Shape;1129;p29"/>
          <p:cNvGrpSpPr/>
          <p:nvPr/>
        </p:nvGrpSpPr>
        <p:grpSpPr>
          <a:xfrm>
            <a:off x="381000" y="1095375"/>
            <a:ext cx="8382000" cy="2047875"/>
            <a:chOff x="0" y="0"/>
            <a:chExt cx="8382000" cy="2047875"/>
          </a:xfrm>
        </p:grpSpPr>
        <p:sp>
          <p:nvSpPr>
            <p:cNvPr id="1130" name="Google Shape;1130;p29"/>
            <p:cNvSpPr/>
            <p:nvPr/>
          </p:nvSpPr>
          <p:spPr>
            <a:xfrm>
              <a:off x="0" y="0"/>
              <a:ext cx="8382000" cy="333300"/>
            </a:xfrm>
            <a:prstGeom prst="roundRect">
              <a:avLst>
                <a:gd fmla="val 17142"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1" name="Google Shape;1131;p29"/>
            <p:cNvSpPr txBox="1"/>
            <p:nvPr/>
          </p:nvSpPr>
          <p:spPr>
            <a:xfrm>
              <a:off x="0" y="0"/>
              <a:ext cx="8382000" cy="3333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 sz="1000">
                  <a:solidFill>
                    <a:srgbClr val="94A3B8"/>
                  </a:solidFill>
                  <a:latin typeface="Inter"/>
                  <a:ea typeface="Inter"/>
                  <a:cs typeface="Inter"/>
                  <a:sym typeface="Inter"/>
                </a:rPr>
                <a:t>Robotic </a:t>
              </a:r>
              <a:r>
                <a:rPr b="1" lang="en" sz="1000">
                  <a:solidFill>
                    <a:srgbClr val="94A3B8"/>
                  </a:solidFill>
                  <a:latin typeface="Inter"/>
                  <a:ea typeface="Inter"/>
                  <a:cs typeface="Inter"/>
                  <a:sym typeface="Inter"/>
                </a:rPr>
                <a:t>Scenario Recommended</a:t>
              </a:r>
              <a:r>
                <a:rPr b="1" lang="en" sz="1000">
                  <a:solidFill>
                    <a:srgbClr val="94A3B8"/>
                  </a:solidFill>
                  <a:latin typeface="Inter"/>
                  <a:ea typeface="Inter"/>
                  <a:cs typeface="Inter"/>
                  <a:sym typeface="Inter"/>
                </a:rPr>
                <a:t> </a:t>
              </a:r>
              <a:r>
                <a:rPr b="1" lang="en" sz="1000">
                  <a:solidFill>
                    <a:srgbClr val="94A3B8"/>
                  </a:solidFill>
                  <a:latin typeface="Inter"/>
                  <a:ea typeface="Inter"/>
                  <a:cs typeface="Inter"/>
                  <a:sym typeface="Inter"/>
                </a:rPr>
                <a:t>Direction </a:t>
              </a:r>
              <a:r>
                <a:rPr b="1" lang="en" sz="1000">
                  <a:solidFill>
                    <a:srgbClr val="94A3B8"/>
                  </a:solidFill>
                  <a:latin typeface="Inter"/>
                  <a:ea typeface="Inter"/>
                  <a:cs typeface="Inter"/>
                  <a:sym typeface="Inter"/>
                </a:rPr>
                <a:t>Why </a:t>
              </a:r>
              <a:r>
                <a:rPr b="1" lang="en" sz="1000">
                  <a:solidFill>
                    <a:srgbClr val="94A3B8"/>
                  </a:solidFill>
                  <a:latin typeface="Inter"/>
                  <a:ea typeface="Inter"/>
                  <a:cs typeface="Inter"/>
                  <a:sym typeface="Inter"/>
                </a:rPr>
                <a:t>It Works: Required</a:t>
              </a:r>
              <a:r>
                <a:rPr b="1" lang="en" sz="1000">
                  <a:solidFill>
                    <a:srgbClr val="94A3B8"/>
                  </a:solidFill>
                  <a:latin typeface="Inter"/>
                  <a:ea typeface="Inter"/>
                  <a:cs typeface="Inter"/>
                  <a:sym typeface="Inter"/>
                </a:rPr>
                <a:t> Caution</a:t>
              </a:r>
              <a:endParaRPr b="1" sz="1000">
                <a:solidFill>
                  <a:srgbClr val="94A3B8"/>
                </a:solidFill>
                <a:latin typeface="Inter"/>
                <a:ea typeface="Inter"/>
                <a:cs typeface="Inter"/>
                <a:sym typeface="Inter"/>
              </a:endParaRPr>
            </a:p>
          </p:txBody>
        </p:sp>
        <p:grpSp>
          <p:nvGrpSpPr>
            <p:cNvPr id="1132" name="Google Shape;1132;p29"/>
            <p:cNvGrpSpPr/>
            <p:nvPr/>
          </p:nvGrpSpPr>
          <p:grpSpPr>
            <a:xfrm>
              <a:off x="0" y="381000"/>
              <a:ext cx="8382000" cy="381000"/>
              <a:chOff x="0" y="0"/>
              <a:chExt cx="8382000" cy="381000"/>
            </a:xfrm>
          </p:grpSpPr>
          <p:sp>
            <p:nvSpPr>
              <p:cNvPr id="1133" name="Google Shape;1133;p29"/>
              <p:cNvSpPr/>
              <p:nvPr/>
            </p:nvSpPr>
            <p:spPr>
              <a:xfrm>
                <a:off x="0" y="0"/>
                <a:ext cx="8382000" cy="381000"/>
              </a:xfrm>
              <a:prstGeom prst="roundRect">
                <a:avLst>
                  <a:gd fmla="val 15000" name="adj"/>
                </a:avLst>
              </a:prstGeom>
              <a:solidFill>
                <a:srgbClr val="111827">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4" name="Google Shape;1134;p29"/>
              <p:cNvSpPr txBox="1"/>
              <p:nvPr/>
            </p:nvSpPr>
            <p:spPr>
              <a:xfrm>
                <a:off x="0" y="0"/>
                <a:ext cx="8382000" cy="3810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lang="en" sz="950">
                    <a:solidFill>
                      <a:srgbClr val="F3F6FB"/>
                    </a:solidFill>
                    <a:latin typeface="Inter"/>
                    <a:ea typeface="Inter"/>
                    <a:cs typeface="Inter"/>
                    <a:sym typeface="Inter"/>
                  </a:rPr>
                  <a:t>Offline / High Mask </a:t>
                </a:r>
                <a:r>
                  <a:rPr lang="en" sz="950">
                    <a:solidFill>
                      <a:srgbClr val="F3F6FB"/>
                    </a:solidFill>
                    <a:latin typeface="Inter"/>
                    <a:ea typeface="Inter"/>
                    <a:cs typeface="Inter"/>
                    <a:sym typeface="Inter"/>
                  </a:rPr>
                  <a:t>Quality SAM</a:t>
                </a:r>
                <a:r>
                  <a:rPr b="1" lang="en" sz="950">
                    <a:solidFill>
                      <a:srgbClr val="FF9B5E"/>
                    </a:solidFill>
                    <a:latin typeface="Inter"/>
                    <a:ea typeface="Inter"/>
                    <a:cs typeface="Inter"/>
                    <a:sym typeface="Inter"/>
                  </a:rPr>
                  <a:t> / SAM2 (box </a:t>
                </a:r>
                <a:r>
                  <a:rPr b="1" lang="en" sz="950">
                    <a:solidFill>
                      <a:srgbClr val="FF9B5E"/>
                    </a:solidFill>
                    <a:latin typeface="Inter"/>
                    <a:ea typeface="Inter"/>
                    <a:cs typeface="Inter"/>
                    <a:sym typeface="Inter"/>
                  </a:rPr>
                  <a:t>prompts) </a:t>
                </a:r>
                <a:r>
                  <a:rPr lang="en" sz="950">
                    <a:solidFill>
                      <a:srgbClr val="CBD5E1"/>
                    </a:solidFill>
                    <a:latin typeface="Inter"/>
                    <a:ea typeface="Inter"/>
                    <a:cs typeface="Inter"/>
                    <a:sym typeface="Inter"/>
                  </a:rPr>
                  <a:t>Strongest mask </a:t>
                </a:r>
                <a:r>
                  <a:rPr lang="en" sz="950">
                    <a:solidFill>
                      <a:srgbClr val="CBD5E1"/>
                    </a:solidFill>
                    <a:latin typeface="Inter"/>
                    <a:ea typeface="Inter"/>
                    <a:cs typeface="Inter"/>
                    <a:sym typeface="Inter"/>
                  </a:rPr>
                  <a:t>fidelity </a:t>
                </a:r>
                <a:r>
                  <a:rPr lang="en" sz="950">
                    <a:solidFill>
                      <a:srgbClr val="94A3B8"/>
                    </a:solidFill>
                    <a:latin typeface="Inter"/>
                    <a:ea typeface="Inter"/>
                    <a:cs typeface="Inter"/>
                    <a:sym typeface="Inter"/>
                  </a:rPr>
                  <a:t>Slow,</a:t>
                </a:r>
                <a:r>
                  <a:rPr lang="en" sz="950">
                    <a:solidFill>
                      <a:srgbClr val="94A3B8"/>
                    </a:solidFill>
                    <a:latin typeface="Inter"/>
                    <a:ea typeface="Inter"/>
                    <a:cs typeface="Inter"/>
                    <a:sym typeface="Inter"/>
                  </a:rPr>
                  <a:t> needs reliable cue</a:t>
                </a:r>
                <a:endParaRPr sz="950">
                  <a:solidFill>
                    <a:srgbClr val="F3F6FB"/>
                  </a:solidFill>
                  <a:latin typeface="Inter"/>
                  <a:ea typeface="Inter"/>
                  <a:cs typeface="Inter"/>
                  <a:sym typeface="Inter"/>
                </a:endParaRPr>
              </a:p>
            </p:txBody>
          </p:sp>
        </p:grpSp>
        <p:grpSp>
          <p:nvGrpSpPr>
            <p:cNvPr id="1135" name="Google Shape;1135;p29"/>
            <p:cNvGrpSpPr/>
            <p:nvPr/>
          </p:nvGrpSpPr>
          <p:grpSpPr>
            <a:xfrm>
              <a:off x="0" y="809625"/>
              <a:ext cx="8382000" cy="381000"/>
              <a:chOff x="0" y="0"/>
              <a:chExt cx="8382000" cy="381000"/>
            </a:xfrm>
          </p:grpSpPr>
          <p:sp>
            <p:nvSpPr>
              <p:cNvPr id="1136" name="Google Shape;1136;p29"/>
              <p:cNvSpPr/>
              <p:nvPr/>
            </p:nvSpPr>
            <p:spPr>
              <a:xfrm>
                <a:off x="0" y="0"/>
                <a:ext cx="8382000" cy="381000"/>
              </a:xfrm>
              <a:prstGeom prst="roundRect">
                <a:avLst>
                  <a:gd fmla="val 15000" name="adj"/>
                </a:avLst>
              </a:prstGeom>
              <a:solidFill>
                <a:srgbClr val="111827">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7" name="Google Shape;1137;p29"/>
              <p:cNvSpPr txBox="1"/>
              <p:nvPr/>
            </p:nvSpPr>
            <p:spPr>
              <a:xfrm>
                <a:off x="0" y="0"/>
                <a:ext cx="8382000" cy="3810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lang="en" sz="950">
                    <a:solidFill>
                      <a:srgbClr val="F3F6FB"/>
                    </a:solidFill>
                    <a:latin typeface="Inter"/>
                    <a:ea typeface="Inter"/>
                    <a:cs typeface="Inter"/>
                    <a:sym typeface="Inter"/>
                  </a:rPr>
                  <a:t>Prompt-Guided </a:t>
                </a:r>
                <a:r>
                  <a:rPr lang="en" sz="950">
                    <a:solidFill>
                      <a:srgbClr val="F3F6FB"/>
                    </a:solidFill>
                    <a:latin typeface="Inter"/>
                    <a:ea typeface="Inter"/>
                    <a:cs typeface="Inter"/>
                    <a:sym typeface="Inter"/>
                  </a:rPr>
                  <a:t>Manipulation </a:t>
                </a:r>
                <a:r>
                  <a:rPr b="1" lang="en" sz="950">
                    <a:solidFill>
                      <a:srgbClr val="FF9B5E"/>
                    </a:solidFill>
                    <a:latin typeface="Inter"/>
                    <a:ea typeface="Inter"/>
                    <a:cs typeface="Inter"/>
                    <a:sym typeface="Inter"/>
                  </a:rPr>
                  <a:t>Box-prompted SAM </a:t>
                </a:r>
                <a:r>
                  <a:rPr b="1" lang="en" sz="950">
                    <a:solidFill>
                      <a:srgbClr val="FF9B5E"/>
                    </a:solidFill>
                    <a:latin typeface="Inter"/>
                    <a:ea typeface="Inter"/>
                    <a:cs typeface="Inter"/>
                    <a:sym typeface="Inter"/>
                  </a:rPr>
                  <a:t>models </a:t>
                </a:r>
                <a:r>
                  <a:rPr lang="en" sz="950">
                    <a:solidFill>
                      <a:srgbClr val="CBD5E1"/>
                    </a:solidFill>
                    <a:latin typeface="Inter"/>
                    <a:ea typeface="Inter"/>
                    <a:cs typeface="Inter"/>
                    <a:sym typeface="Inter"/>
                  </a:rPr>
                  <a:t>Strong target masks</a:t>
                </a:r>
                <a:r>
                  <a:rPr lang="en" sz="950">
                    <a:solidFill>
                      <a:srgbClr val="94A3B8"/>
                    </a:solidFill>
                    <a:latin typeface="Inter"/>
                    <a:ea typeface="Inter"/>
                    <a:cs typeface="Inter"/>
                    <a:sym typeface="Inter"/>
                  </a:rPr>
                  <a:t>Upstream detector required</a:t>
                </a:r>
                <a:endParaRPr sz="950">
                  <a:solidFill>
                    <a:srgbClr val="F3F6FB"/>
                  </a:solidFill>
                  <a:latin typeface="Inter"/>
                  <a:ea typeface="Inter"/>
                  <a:cs typeface="Inter"/>
                  <a:sym typeface="Inter"/>
                </a:endParaRPr>
              </a:p>
            </p:txBody>
          </p:sp>
        </p:grpSp>
        <p:grpSp>
          <p:nvGrpSpPr>
            <p:cNvPr id="1138" name="Google Shape;1138;p29"/>
            <p:cNvGrpSpPr/>
            <p:nvPr/>
          </p:nvGrpSpPr>
          <p:grpSpPr>
            <a:xfrm>
              <a:off x="0" y="1238250"/>
              <a:ext cx="8382000" cy="381000"/>
              <a:chOff x="0" y="0"/>
              <a:chExt cx="8382000" cy="381000"/>
            </a:xfrm>
          </p:grpSpPr>
          <p:sp>
            <p:nvSpPr>
              <p:cNvPr id="1139" name="Google Shape;1139;p29"/>
              <p:cNvSpPr/>
              <p:nvPr/>
            </p:nvSpPr>
            <p:spPr>
              <a:xfrm>
                <a:off x="0" y="0"/>
                <a:ext cx="8382000" cy="381000"/>
              </a:xfrm>
              <a:prstGeom prst="roundRect">
                <a:avLst>
                  <a:gd fmla="val 15000" name="adj"/>
                </a:avLst>
              </a:prstGeom>
              <a:solidFill>
                <a:srgbClr val="111827">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0" name="Google Shape;1140;p29"/>
              <p:cNvSpPr txBox="1"/>
              <p:nvPr/>
            </p:nvSpPr>
            <p:spPr>
              <a:xfrm>
                <a:off x="0" y="0"/>
                <a:ext cx="8382000" cy="3810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lang="en" sz="950">
                    <a:solidFill>
                      <a:srgbClr val="F3F6FB"/>
                    </a:solidFill>
                    <a:latin typeface="Inter"/>
                    <a:ea typeface="Inter"/>
                    <a:cs typeface="Inter"/>
                    <a:sym typeface="Inter"/>
                  </a:rPr>
                  <a:t>Real-Time GPU </a:t>
                </a:r>
                <a:r>
                  <a:rPr lang="en" sz="950">
                    <a:solidFill>
                      <a:srgbClr val="F3F6FB"/>
                    </a:solidFill>
                    <a:latin typeface="Inter"/>
                    <a:ea typeface="Inter"/>
                    <a:cs typeface="Inter"/>
                    <a:sym typeface="Inter"/>
                  </a:rPr>
                  <a:t>Perception </a:t>
                </a:r>
                <a:r>
                  <a:rPr b="1" lang="en" sz="950">
                    <a:solidFill>
                      <a:srgbClr val="FF9B5E"/>
                    </a:solidFill>
                    <a:latin typeface="Inter"/>
                    <a:ea typeface="Inter"/>
                    <a:cs typeface="Inter"/>
                    <a:sym typeface="Inter"/>
                  </a:rPr>
                  <a:t>YOLOv8-seg / </a:t>
                </a:r>
                <a:r>
                  <a:rPr b="1" lang="en" sz="950">
                    <a:solidFill>
                      <a:srgbClr val="FF9B5E"/>
                    </a:solidFill>
                    <a:latin typeface="Inter"/>
                    <a:ea typeface="Inter"/>
                    <a:cs typeface="Inter"/>
                    <a:sym typeface="Inter"/>
                  </a:rPr>
                  <a:t>DeepLabV3+ High</a:t>
                </a:r>
                <a:r>
                  <a:rPr lang="en" sz="950">
                    <a:solidFill>
                      <a:srgbClr val="CBD5E1"/>
                    </a:solidFill>
                    <a:latin typeface="Inter"/>
                    <a:ea typeface="Inter"/>
                    <a:cs typeface="Inter"/>
                    <a:sym typeface="Inter"/>
                  </a:rPr>
                  <a:t> FPS (with </a:t>
                </a:r>
                <a:r>
                  <a:rPr lang="en" sz="950">
                    <a:solidFill>
                      <a:srgbClr val="CBD5E1"/>
                    </a:solidFill>
                    <a:latin typeface="Inter"/>
                    <a:ea typeface="Inter"/>
                    <a:cs typeface="Inter"/>
                    <a:sym typeface="Inter"/>
                  </a:rPr>
                  <a:t>data) </a:t>
                </a:r>
                <a:r>
                  <a:rPr lang="en" sz="950">
                    <a:solidFill>
                      <a:srgbClr val="94A3B8"/>
                    </a:solidFill>
                    <a:latin typeface="Inter"/>
                    <a:ea typeface="Inter"/>
                    <a:cs typeface="Inter"/>
                    <a:sym typeface="Inter"/>
                  </a:rPr>
                  <a:t>Weak zero-shot transfer</a:t>
                </a:r>
                <a:endParaRPr sz="950">
                  <a:solidFill>
                    <a:srgbClr val="F3F6FB"/>
                  </a:solidFill>
                  <a:latin typeface="Inter"/>
                  <a:ea typeface="Inter"/>
                  <a:cs typeface="Inter"/>
                  <a:sym typeface="Inter"/>
                </a:endParaRPr>
              </a:p>
            </p:txBody>
          </p:sp>
        </p:grpSp>
        <p:grpSp>
          <p:nvGrpSpPr>
            <p:cNvPr id="1141" name="Google Shape;1141;p29"/>
            <p:cNvGrpSpPr/>
            <p:nvPr/>
          </p:nvGrpSpPr>
          <p:grpSpPr>
            <a:xfrm>
              <a:off x="0" y="1666875"/>
              <a:ext cx="8382000" cy="381000"/>
              <a:chOff x="0" y="0"/>
              <a:chExt cx="8382000" cy="381000"/>
            </a:xfrm>
          </p:grpSpPr>
          <p:sp>
            <p:nvSpPr>
              <p:cNvPr id="1142" name="Google Shape;1142;p29"/>
              <p:cNvSpPr/>
              <p:nvPr/>
            </p:nvSpPr>
            <p:spPr>
              <a:xfrm>
                <a:off x="0" y="0"/>
                <a:ext cx="8382000" cy="381000"/>
              </a:xfrm>
              <a:prstGeom prst="roundRect">
                <a:avLst>
                  <a:gd fmla="val 15000" name="adj"/>
                </a:avLst>
              </a:prstGeom>
              <a:solidFill>
                <a:srgbClr val="111827">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3" name="Google Shape;1143;p29"/>
              <p:cNvSpPr txBox="1"/>
              <p:nvPr/>
            </p:nvSpPr>
            <p:spPr>
              <a:xfrm>
                <a:off x="0" y="0"/>
                <a:ext cx="8382000" cy="3810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lang="en" sz="950">
                    <a:solidFill>
                      <a:srgbClr val="F3F6FB"/>
                    </a:solidFill>
                    <a:latin typeface="Inter"/>
                    <a:ea typeface="Inter"/>
                    <a:cs typeface="Inter"/>
                    <a:sym typeface="Inter"/>
                  </a:rPr>
                  <a:t>Edge </a:t>
                </a:r>
                <a:r>
                  <a:rPr lang="en" sz="950">
                    <a:solidFill>
                      <a:srgbClr val="F3F6FB"/>
                    </a:solidFill>
                    <a:latin typeface="Inter"/>
                    <a:ea typeface="Inter"/>
                    <a:cs typeface="Inter"/>
                    <a:sym typeface="Inter"/>
                  </a:rPr>
                  <a:t>Deployment </a:t>
                </a:r>
                <a:r>
                  <a:rPr b="1" lang="en" sz="950">
                    <a:solidFill>
                      <a:srgbClr val="FF9B5E"/>
                    </a:solidFill>
                    <a:latin typeface="Inter"/>
                    <a:ea typeface="Inter"/>
                    <a:cs typeface="Inter"/>
                    <a:sym typeface="Inter"/>
                  </a:rPr>
                  <a:t>MobileSAM</a:t>
                </a:r>
                <a:r>
                  <a:rPr b="1" lang="en" sz="950">
                    <a:solidFill>
                      <a:srgbClr val="FF9B5E"/>
                    </a:solidFill>
                    <a:latin typeface="Inter"/>
                    <a:ea typeface="Inter"/>
                    <a:cs typeface="Inter"/>
                    <a:sym typeface="Inter"/>
                  </a:rPr>
                  <a:t> / </a:t>
                </a:r>
                <a:r>
                  <a:rPr b="1" lang="en" sz="950">
                    <a:solidFill>
                      <a:srgbClr val="FF9B5E"/>
                    </a:solidFill>
                    <a:latin typeface="Inter"/>
                    <a:ea typeface="Inter"/>
                    <a:cs typeface="Inter"/>
                    <a:sym typeface="Inter"/>
                  </a:rPr>
                  <a:t>EfficientSAM </a:t>
                </a:r>
                <a:r>
                  <a:rPr lang="en" sz="950">
                    <a:solidFill>
                      <a:srgbClr val="CBD5E1"/>
                    </a:solidFill>
                    <a:latin typeface="Inter"/>
                    <a:ea typeface="Inter"/>
                    <a:cs typeface="Inter"/>
                    <a:sym typeface="Inter"/>
                  </a:rPr>
                  <a:t>Quality-speed </a:t>
                </a:r>
                <a:r>
                  <a:rPr lang="en" sz="950">
                    <a:solidFill>
                      <a:srgbClr val="CBD5E1"/>
                    </a:solidFill>
                    <a:latin typeface="Inter"/>
                    <a:ea typeface="Inter"/>
                    <a:cs typeface="Inter"/>
                    <a:sym typeface="Inter"/>
                  </a:rPr>
                  <a:t>balance </a:t>
                </a:r>
                <a:r>
                  <a:rPr lang="en" sz="950">
                    <a:solidFill>
                      <a:srgbClr val="94A3B8"/>
                    </a:solidFill>
                    <a:latin typeface="Inter"/>
                    <a:ea typeface="Inter"/>
                    <a:cs typeface="Inter"/>
                    <a:sym typeface="Inter"/>
                  </a:rPr>
                  <a:t>Drops in clutter / small parts</a:t>
                </a:r>
                <a:endParaRPr sz="950">
                  <a:solidFill>
                    <a:srgbClr val="F3F6FB"/>
                  </a:solidFill>
                  <a:latin typeface="Inter"/>
                  <a:ea typeface="Inter"/>
                  <a:cs typeface="Inter"/>
                  <a:sym typeface="Inter"/>
                </a:endParaRPr>
              </a:p>
            </p:txBody>
          </p:sp>
        </p:grpSp>
      </p:grpSp>
      <p:grpSp>
        <p:nvGrpSpPr>
          <p:cNvPr id="1144" name="Google Shape;1144;p29"/>
          <p:cNvGrpSpPr/>
          <p:nvPr/>
        </p:nvGrpSpPr>
        <p:grpSpPr>
          <a:xfrm>
            <a:off x="381000" y="3381375"/>
            <a:ext cx="8382000" cy="714300"/>
            <a:chOff x="0" y="0"/>
            <a:chExt cx="8382000" cy="714300"/>
          </a:xfrm>
        </p:grpSpPr>
        <p:grpSp>
          <p:nvGrpSpPr>
            <p:cNvPr id="1145" name="Google Shape;1145;p29"/>
            <p:cNvGrpSpPr/>
            <p:nvPr/>
          </p:nvGrpSpPr>
          <p:grpSpPr>
            <a:xfrm>
              <a:off x="0" y="0"/>
              <a:ext cx="2667000" cy="714300"/>
              <a:chOff x="0" y="0"/>
              <a:chExt cx="2667000" cy="714300"/>
            </a:xfrm>
          </p:grpSpPr>
          <p:sp>
            <p:nvSpPr>
              <p:cNvPr id="1146" name="Google Shape;1146;p29"/>
              <p:cNvSpPr/>
              <p:nvPr/>
            </p:nvSpPr>
            <p:spPr>
              <a:xfrm>
                <a:off x="0" y="0"/>
                <a:ext cx="2667000" cy="714300"/>
              </a:xfrm>
              <a:prstGeom prst="roundRect">
                <a:avLst>
                  <a:gd fmla="val 10666" name="adj"/>
                </a:avLst>
              </a:prstGeom>
              <a:solidFill>
                <a:srgbClr val="111827"/>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7" name="Google Shape;1147;p29"/>
              <p:cNvSpPr txBox="1"/>
              <p:nvPr/>
            </p:nvSpPr>
            <p:spPr>
              <a:xfrm>
                <a:off x="0" y="0"/>
                <a:ext cx="2667000" cy="7143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935">
                    <a:solidFill>
                      <a:srgbClr val="4FD1C5"/>
                    </a:solidFill>
                    <a:latin typeface="Inter"/>
                    <a:ea typeface="Inter"/>
                    <a:cs typeface="Inter"/>
                    <a:sym typeface="Inter"/>
                  </a:rPr>
                  <a:t>Prompts are prerequisites</a:t>
                </a:r>
                <a:endParaRPr b="1" sz="935">
                  <a:solidFill>
                    <a:srgbClr val="4FD1C5"/>
                  </a:solidFill>
                  <a:latin typeface="Inter"/>
                  <a:ea typeface="Inter"/>
                  <a:cs typeface="Inter"/>
                  <a:sym typeface="Inter"/>
                </a:endParaRPr>
              </a:p>
              <a:p>
                <a:pPr indent="0" lvl="0" marL="0" rtl="0" algn="l">
                  <a:spcBef>
                    <a:spcPts val="225"/>
                  </a:spcBef>
                  <a:spcAft>
                    <a:spcPts val="0"/>
                  </a:spcAft>
                  <a:buNone/>
                </a:pPr>
                <a:r>
                  <a:rPr b="0" lang="en" sz="808">
                    <a:solidFill>
                      <a:srgbClr val="CBD5E1"/>
                    </a:solidFill>
                    <a:latin typeface="Inter"/>
                    <a:ea typeface="Inter"/>
                    <a:cs typeface="Inter"/>
                    <a:sym typeface="Inter"/>
                  </a:rPr>
                  <a:t>High performance often assumes an upstream cue.</a:t>
                </a:r>
                <a:endParaRPr b="0" sz="808">
                  <a:solidFill>
                    <a:srgbClr val="CBD5E1"/>
                  </a:solidFill>
                  <a:latin typeface="Inter"/>
                  <a:ea typeface="Inter"/>
                  <a:cs typeface="Inter"/>
                  <a:sym typeface="Inter"/>
                </a:endParaRPr>
              </a:p>
            </p:txBody>
          </p:sp>
        </p:grpSp>
        <p:grpSp>
          <p:nvGrpSpPr>
            <p:cNvPr id="1148" name="Google Shape;1148;p29"/>
            <p:cNvGrpSpPr/>
            <p:nvPr/>
          </p:nvGrpSpPr>
          <p:grpSpPr>
            <a:xfrm>
              <a:off x="2857500" y="0"/>
              <a:ext cx="2667000" cy="714300"/>
              <a:chOff x="0" y="0"/>
              <a:chExt cx="2667000" cy="714300"/>
            </a:xfrm>
          </p:grpSpPr>
          <p:sp>
            <p:nvSpPr>
              <p:cNvPr id="1149" name="Google Shape;1149;p29"/>
              <p:cNvSpPr/>
              <p:nvPr/>
            </p:nvSpPr>
            <p:spPr>
              <a:xfrm>
                <a:off x="0" y="0"/>
                <a:ext cx="2667000" cy="714300"/>
              </a:xfrm>
              <a:prstGeom prst="roundRect">
                <a:avLst>
                  <a:gd fmla="val 10666" name="adj"/>
                </a:avLst>
              </a:prstGeom>
              <a:solidFill>
                <a:srgbClr val="111827"/>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0" name="Google Shape;1150;p29"/>
              <p:cNvSpPr txBox="1"/>
              <p:nvPr/>
            </p:nvSpPr>
            <p:spPr>
              <a:xfrm>
                <a:off x="0" y="0"/>
                <a:ext cx="2667000" cy="7143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935">
                    <a:solidFill>
                      <a:srgbClr val="4FD1C5"/>
                    </a:solidFill>
                    <a:latin typeface="Inter"/>
                    <a:ea typeface="Inter"/>
                    <a:cs typeface="Inter"/>
                    <a:sym typeface="Inter"/>
                  </a:rPr>
                  <a:t>Physics defeats averages</a:t>
                </a:r>
                <a:endParaRPr b="1" sz="935">
                  <a:solidFill>
                    <a:srgbClr val="4FD1C5"/>
                  </a:solidFill>
                  <a:latin typeface="Inter"/>
                  <a:ea typeface="Inter"/>
                  <a:cs typeface="Inter"/>
                  <a:sym typeface="Inter"/>
                </a:endParaRPr>
              </a:p>
              <a:p>
                <a:pPr indent="0" lvl="0" marL="0" rtl="0" algn="l">
                  <a:spcBef>
                    <a:spcPts val="225"/>
                  </a:spcBef>
                  <a:spcAft>
                    <a:spcPts val="0"/>
                  </a:spcAft>
                  <a:buNone/>
                </a:pPr>
                <a:r>
                  <a:rPr b="0" lang="en" sz="808">
                    <a:solidFill>
                      <a:srgbClr val="CBD5E1"/>
                    </a:solidFill>
                    <a:latin typeface="Inter"/>
                    <a:ea typeface="Inter"/>
                    <a:cs typeface="Inter"/>
                    <a:sym typeface="Inter"/>
                  </a:rPr>
                  <a:t>Transparent, reflective, and small objects remain difficult.</a:t>
                </a:r>
                <a:endParaRPr b="0" sz="808">
                  <a:solidFill>
                    <a:srgbClr val="CBD5E1"/>
                  </a:solidFill>
                  <a:latin typeface="Inter"/>
                  <a:ea typeface="Inter"/>
                  <a:cs typeface="Inter"/>
                  <a:sym typeface="Inter"/>
                </a:endParaRPr>
              </a:p>
            </p:txBody>
          </p:sp>
        </p:grpSp>
        <p:grpSp>
          <p:nvGrpSpPr>
            <p:cNvPr id="1151" name="Google Shape;1151;p29"/>
            <p:cNvGrpSpPr/>
            <p:nvPr/>
          </p:nvGrpSpPr>
          <p:grpSpPr>
            <a:xfrm>
              <a:off x="5715000" y="0"/>
              <a:ext cx="2667000" cy="714300"/>
              <a:chOff x="0" y="0"/>
              <a:chExt cx="2667000" cy="714300"/>
            </a:xfrm>
          </p:grpSpPr>
          <p:sp>
            <p:nvSpPr>
              <p:cNvPr id="1152" name="Google Shape;1152;p29"/>
              <p:cNvSpPr/>
              <p:nvPr/>
            </p:nvSpPr>
            <p:spPr>
              <a:xfrm>
                <a:off x="0" y="0"/>
                <a:ext cx="2667000" cy="714300"/>
              </a:xfrm>
              <a:prstGeom prst="roundRect">
                <a:avLst>
                  <a:gd fmla="val 10666" name="adj"/>
                </a:avLst>
              </a:prstGeom>
              <a:solidFill>
                <a:srgbClr val="111827"/>
              </a:solidFill>
              <a:ln cap="flat" cmpd="sng" w="14300">
                <a:solidFill>
                  <a:srgbClr val="4FD1C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3" name="Google Shape;1153;p29"/>
              <p:cNvSpPr txBox="1"/>
              <p:nvPr/>
            </p:nvSpPr>
            <p:spPr>
              <a:xfrm>
                <a:off x="0" y="0"/>
                <a:ext cx="2667000" cy="7143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935">
                    <a:solidFill>
                      <a:srgbClr val="4FD1C5"/>
                    </a:solidFill>
                    <a:latin typeface="Inter"/>
                    <a:ea typeface="Inter"/>
                    <a:cs typeface="Inter"/>
                    <a:sym typeface="Inter"/>
                  </a:rPr>
                  <a:t>Speed is a constraint</a:t>
                </a:r>
                <a:endParaRPr b="1" sz="935">
                  <a:solidFill>
                    <a:srgbClr val="4FD1C5"/>
                  </a:solidFill>
                  <a:latin typeface="Inter"/>
                  <a:ea typeface="Inter"/>
                  <a:cs typeface="Inter"/>
                  <a:sym typeface="Inter"/>
                </a:endParaRPr>
              </a:p>
              <a:p>
                <a:pPr indent="0" lvl="0" marL="0" rtl="0" algn="l">
                  <a:spcBef>
                    <a:spcPts val="225"/>
                  </a:spcBef>
                  <a:spcAft>
                    <a:spcPts val="0"/>
                  </a:spcAft>
                  <a:buNone/>
                </a:pPr>
                <a:r>
                  <a:rPr b="0" lang="en" sz="808">
                    <a:solidFill>
                      <a:srgbClr val="CBD5E1"/>
                    </a:solidFill>
                    <a:latin typeface="Inter"/>
                    <a:ea typeface="Inter"/>
                    <a:cs typeface="Inter"/>
                    <a:sym typeface="Inter"/>
                  </a:rPr>
                  <a:t>Latency limits closed-loop perception and action.</a:t>
                </a:r>
                <a:endParaRPr b="0" sz="808">
                  <a:solidFill>
                    <a:srgbClr val="CBD5E1"/>
                  </a:solidFill>
                  <a:latin typeface="Inter"/>
                  <a:ea typeface="Inter"/>
                  <a:cs typeface="Inter"/>
                  <a:sym typeface="Inter"/>
                </a:endParaRPr>
              </a:p>
            </p:txBody>
          </p:sp>
        </p:grpSp>
      </p:grpSp>
      <p:grpSp>
        <p:nvGrpSpPr>
          <p:cNvPr id="1154" name="Google Shape;1154;p29"/>
          <p:cNvGrpSpPr/>
          <p:nvPr/>
        </p:nvGrpSpPr>
        <p:grpSpPr>
          <a:xfrm>
            <a:off x="381000" y="4286250"/>
            <a:ext cx="8382000" cy="571500"/>
            <a:chOff x="0" y="0"/>
            <a:chExt cx="8382000" cy="571500"/>
          </a:xfrm>
        </p:grpSpPr>
        <p:sp>
          <p:nvSpPr>
            <p:cNvPr id="1155" name="Google Shape;1155;p29"/>
            <p:cNvSpPr/>
            <p:nvPr/>
          </p:nvSpPr>
          <p:spPr>
            <a:xfrm>
              <a:off x="0" y="0"/>
              <a:ext cx="8382000" cy="571500"/>
            </a:xfrm>
            <a:prstGeom prst="roundRect">
              <a:avLst>
                <a:gd fmla="val 13333" name="adj"/>
              </a:avLst>
            </a:prstGeom>
            <a:solidFill>
              <a:srgbClr val="1E3A8A">
                <a:alpha val="30000"/>
              </a:srgbClr>
            </a:solidFill>
            <a:ln cap="flat" cmpd="sng" w="14300">
              <a:solidFill>
                <a:srgbClr val="55B6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6" name="Google Shape;1156;p29"/>
            <p:cNvSpPr txBox="1"/>
            <p:nvPr/>
          </p:nvSpPr>
          <p:spPr>
            <a:xfrm>
              <a:off x="0" y="0"/>
              <a:ext cx="8382000" cy="571500"/>
            </a:xfrm>
            <a:prstGeom prst="rect">
              <a:avLst/>
            </a:prstGeom>
            <a:noFill/>
            <a:ln>
              <a:noFill/>
            </a:ln>
          </p:spPr>
          <p:txBody>
            <a:bodyPr anchorCtr="0" anchor="ctr" bIns="0" lIns="381000" spcFirstLastPara="1" rIns="381000" wrap="square" tIns="0">
              <a:noAutofit/>
            </a:bodyPr>
            <a:lstStyle/>
            <a:p>
              <a:pPr indent="0" lvl="0" marL="0" rtl="0" algn="ctr">
                <a:spcBef>
                  <a:spcPts val="0"/>
                </a:spcBef>
                <a:spcAft>
                  <a:spcPts val="0"/>
                </a:spcAft>
                <a:buNone/>
              </a:pPr>
              <a:r>
                <a:rPr b="1" lang="en" sz="1150">
                  <a:solidFill>
                    <a:srgbClr val="F3F6FB"/>
                  </a:solidFill>
                  <a:latin typeface="Inter"/>
                  <a:ea typeface="Inter"/>
                  <a:cs typeface="Inter"/>
                  <a:sym typeface="Inter"/>
                </a:rPr>
                <a:t>Foundation segmentation is useful for robotic perception, but only when prompt source, failure checks, and latency constraints are designed into the perception-action loop.</a:t>
              </a:r>
              <a:endParaRPr b="1" sz="1150">
                <a:solidFill>
                  <a:srgbClr val="F3F6FB"/>
                </a:solidFill>
                <a:latin typeface="Inter"/>
                <a:ea typeface="Inter"/>
                <a:cs typeface="Inter"/>
                <a:sym typeface="Inte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0" name="Shape 1160"/>
        <p:cNvGrpSpPr/>
        <p:nvPr/>
      </p:nvGrpSpPr>
      <p:grpSpPr>
        <a:xfrm>
          <a:off x="0" y="0"/>
          <a:ext cx="0" cy="0"/>
          <a:chOff x="0" y="0"/>
          <a:chExt cx="0" cy="0"/>
        </a:xfrm>
      </p:grpSpPr>
      <p:sp>
        <p:nvSpPr>
          <p:cNvPr id="1161" name="Google Shape;1161;p30"/>
          <p:cNvSpPr/>
          <p:nvPr/>
        </p:nvSpPr>
        <p:spPr>
          <a:xfrm>
            <a:off x="0" y="0"/>
            <a:ext cx="9144000" cy="5143500"/>
          </a:xfrm>
          <a:prstGeom prst="rect">
            <a:avLst/>
          </a:prstGeom>
          <a:solidFill>
            <a:srgbClr val="000000">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62" name="Google Shape;1162;p30"/>
          <p:cNvGrpSpPr/>
          <p:nvPr/>
        </p:nvGrpSpPr>
        <p:grpSpPr>
          <a:xfrm>
            <a:off x="0" y="1714500"/>
            <a:ext cx="9144000" cy="1143000"/>
            <a:chOff x="0" y="0"/>
            <a:chExt cx="9144000" cy="1143000"/>
          </a:xfrm>
        </p:grpSpPr>
        <p:sp>
          <p:nvSpPr>
            <p:cNvPr id="1163" name="Google Shape;1163;p30"/>
            <p:cNvSpPr txBox="1"/>
            <p:nvPr/>
          </p:nvSpPr>
          <p:spPr>
            <a:xfrm>
              <a:off x="0" y="0"/>
              <a:ext cx="9144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4200">
                  <a:solidFill>
                    <a:srgbClr val="F3F6FB"/>
                  </a:solidFill>
                  <a:latin typeface="Inter"/>
                  <a:ea typeface="Inter"/>
                  <a:cs typeface="Inter"/>
                  <a:sym typeface="Inter"/>
                </a:rPr>
                <a:t>Thank You for </a:t>
              </a:r>
              <a:r>
                <a:rPr b="1" lang="en" sz="4200">
                  <a:solidFill>
                    <a:srgbClr val="F3F6FB"/>
                  </a:solidFill>
                  <a:latin typeface="Inter"/>
                  <a:ea typeface="Inter"/>
                  <a:cs typeface="Inter"/>
                  <a:sym typeface="Inter"/>
                </a:rPr>
                <a:t>your attention.</a:t>
              </a:r>
              <a:endParaRPr b="1" sz="4200">
                <a:solidFill>
                  <a:srgbClr val="F3F6FB"/>
                </a:solidFill>
                <a:latin typeface="Inter"/>
                <a:ea typeface="Inter"/>
                <a:cs typeface="Inter"/>
                <a:sym typeface="Inter"/>
              </a:endParaRPr>
            </a:p>
          </p:txBody>
        </p:sp>
        <p:sp>
          <p:nvSpPr>
            <p:cNvPr id="1164" name="Google Shape;1164;p30"/>
            <p:cNvSpPr txBox="1"/>
            <p:nvPr/>
          </p:nvSpPr>
          <p:spPr>
            <a:xfrm>
              <a:off x="0" y="762000"/>
              <a:ext cx="9144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
                  <a:solidFill>
                    <a:srgbClr val="55B6FF"/>
                  </a:solidFill>
                  <a:latin typeface="Inter"/>
                  <a:ea typeface="Inter"/>
                  <a:cs typeface="Inter"/>
                  <a:sym typeface="Inter"/>
                </a:rPr>
                <a:t>COGNITIVE ARCHITECTURES FOR ROBOTICS</a:t>
              </a:r>
              <a:endParaRPr b="0" i="1" sz="1400">
                <a:solidFill>
                  <a:srgbClr val="55B6FF"/>
                </a:solidFill>
                <a:latin typeface="Inter"/>
                <a:ea typeface="Inter"/>
                <a:cs typeface="Inter"/>
                <a:sym typeface="Inter"/>
              </a:endParaRPr>
            </a:p>
          </p:txBody>
        </p:sp>
      </p:grpSp>
      <p:grpSp>
        <p:nvGrpSpPr>
          <p:cNvPr id="1165" name="Google Shape;1165;p30"/>
          <p:cNvGrpSpPr/>
          <p:nvPr/>
        </p:nvGrpSpPr>
        <p:grpSpPr>
          <a:xfrm>
            <a:off x="3143250" y="4000500"/>
            <a:ext cx="2857500" cy="762000"/>
            <a:chOff x="0" y="0"/>
            <a:chExt cx="2857500" cy="762000"/>
          </a:xfrm>
        </p:grpSpPr>
        <p:sp>
          <p:nvSpPr>
            <p:cNvPr id="1166" name="Google Shape;1166;p30"/>
            <p:cNvSpPr/>
            <p:nvPr/>
          </p:nvSpPr>
          <p:spPr>
            <a:xfrm>
              <a:off x="0" y="0"/>
              <a:ext cx="2857500" cy="9600"/>
            </a:xfrm>
            <a:prstGeom prst="rect">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7" name="Google Shape;1167;p30"/>
            <p:cNvSpPr txBox="1"/>
            <p:nvPr/>
          </p:nvSpPr>
          <p:spPr>
            <a:xfrm>
              <a:off x="0" y="190500"/>
              <a:ext cx="2857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100">
                  <a:solidFill>
                    <a:srgbClr val="F3F6FB"/>
                  </a:solidFill>
                  <a:latin typeface="Inter"/>
                  <a:ea typeface="Inter"/>
                  <a:cs typeface="Inter"/>
                  <a:sym typeface="Inter"/>
                </a:rPr>
                <a:t>AmirMahdi Matin</a:t>
              </a:r>
              <a:endParaRPr b="1" sz="1100">
                <a:solidFill>
                  <a:srgbClr val="F3F6FB"/>
                </a:solidFill>
                <a:latin typeface="Inter"/>
                <a:ea typeface="Inter"/>
                <a:cs typeface="Inter"/>
                <a:sym typeface="Inter"/>
              </a:endParaRPr>
            </a:p>
            <a:p>
              <a:pPr indent="0" lvl="0" marL="0" rtl="0" algn="ctr">
                <a:spcBef>
                  <a:spcPts val="300"/>
                </a:spcBef>
                <a:spcAft>
                  <a:spcPts val="0"/>
                </a:spcAft>
                <a:buNone/>
              </a:pPr>
              <a:r>
                <a:rPr lang="en" sz="1000">
                  <a:solidFill>
                    <a:srgbClr val="94A3B8"/>
                  </a:solidFill>
                  <a:latin typeface="Inter"/>
                  <a:ea typeface="Inter"/>
                  <a:cs typeface="Inter"/>
                  <a:sym typeface="Inter"/>
                </a:rPr>
                <a:t>5884715</a:t>
              </a:r>
              <a:endParaRPr b="0" sz="1000">
                <a:solidFill>
                  <a:srgbClr val="94A3B8"/>
                </a:solidFill>
                <a:latin typeface="Inter"/>
                <a:ea typeface="Inter"/>
                <a:cs typeface="Inter"/>
                <a:sym typeface="Inter"/>
              </a:endParaRPr>
            </a:p>
          </p:txBody>
        </p:sp>
      </p:grpSp>
      <p:grpSp>
        <p:nvGrpSpPr>
          <p:cNvPr id="1168" name="Google Shape;1168;p30"/>
          <p:cNvGrpSpPr/>
          <p:nvPr/>
        </p:nvGrpSpPr>
        <p:grpSpPr>
          <a:xfrm>
            <a:off x="0" y="0"/>
            <a:ext cx="9144000" cy="5143500"/>
            <a:chOff x="0" y="0"/>
            <a:chExt cx="9144000" cy="5143500"/>
          </a:xfrm>
        </p:grpSpPr>
        <p:pic>
          <p:nvPicPr>
            <p:cNvPr id="1169" name="Google Shape;1169;p30"/>
            <p:cNvPicPr preferRelativeResize="0"/>
            <p:nvPr/>
          </p:nvPicPr>
          <p:blipFill rotWithShape="1">
            <a:blip r:embed="rId4">
              <a:alphaModFix/>
            </a:blip>
            <a:srcRect b="0" l="0" r="0" t="0"/>
            <a:stretch/>
          </p:blipFill>
          <p:spPr>
            <a:xfrm>
              <a:off x="338138" y="0"/>
              <a:ext cx="9600" cy="5143500"/>
            </a:xfrm>
            <a:prstGeom prst="rect">
              <a:avLst/>
            </a:prstGeom>
            <a:noFill/>
            <a:ln>
              <a:noFill/>
            </a:ln>
          </p:spPr>
        </p:pic>
        <p:pic>
          <p:nvPicPr>
            <p:cNvPr id="1170" name="Google Shape;1170;p30"/>
            <p:cNvPicPr preferRelativeResize="0"/>
            <p:nvPr/>
          </p:nvPicPr>
          <p:blipFill rotWithShape="1">
            <a:blip r:embed="rId4">
              <a:alphaModFix/>
            </a:blip>
            <a:srcRect b="0" l="0" r="0" t="0"/>
            <a:stretch/>
          </p:blipFill>
          <p:spPr>
            <a:xfrm>
              <a:off x="681038" y="0"/>
              <a:ext cx="9600" cy="5143500"/>
            </a:xfrm>
            <a:prstGeom prst="rect">
              <a:avLst/>
            </a:prstGeom>
            <a:noFill/>
            <a:ln>
              <a:noFill/>
            </a:ln>
          </p:spPr>
        </p:pic>
        <p:pic>
          <p:nvPicPr>
            <p:cNvPr id="1171" name="Google Shape;1171;p30"/>
            <p:cNvPicPr preferRelativeResize="0"/>
            <p:nvPr/>
          </p:nvPicPr>
          <p:blipFill rotWithShape="1">
            <a:blip r:embed="rId4">
              <a:alphaModFix/>
            </a:blip>
            <a:srcRect b="0" l="0" r="0" t="0"/>
            <a:stretch/>
          </p:blipFill>
          <p:spPr>
            <a:xfrm>
              <a:off x="8796338" y="0"/>
              <a:ext cx="9600" cy="5143500"/>
            </a:xfrm>
            <a:prstGeom prst="rect">
              <a:avLst/>
            </a:prstGeom>
            <a:noFill/>
            <a:ln>
              <a:noFill/>
            </a:ln>
          </p:spPr>
        </p:pic>
        <p:pic>
          <p:nvPicPr>
            <p:cNvPr id="1172" name="Google Shape;1172;p30"/>
            <p:cNvPicPr preferRelativeResize="0"/>
            <p:nvPr/>
          </p:nvPicPr>
          <p:blipFill rotWithShape="1">
            <a:blip r:embed="rId5">
              <a:alphaModFix/>
            </a:blip>
            <a:srcRect b="0" l="0" r="0" t="0"/>
            <a:stretch/>
          </p:blipFill>
          <p:spPr>
            <a:xfrm>
              <a:off x="0" y="338138"/>
              <a:ext cx="9144000" cy="9600"/>
            </a:xfrm>
            <a:prstGeom prst="rect">
              <a:avLst/>
            </a:prstGeom>
            <a:noFill/>
            <a:ln>
              <a:noFill/>
            </a:ln>
          </p:spPr>
        </p:pic>
        <p:pic>
          <p:nvPicPr>
            <p:cNvPr id="1173" name="Google Shape;1173;p30"/>
            <p:cNvPicPr preferRelativeResize="0"/>
            <p:nvPr/>
          </p:nvPicPr>
          <p:blipFill rotWithShape="1">
            <a:blip r:embed="rId5">
              <a:alphaModFix/>
            </a:blip>
            <a:srcRect b="0" l="0" r="0" t="0"/>
            <a:stretch/>
          </p:blipFill>
          <p:spPr>
            <a:xfrm>
              <a:off x="0" y="4795838"/>
              <a:ext cx="9144000" cy="9600"/>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